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77786" autoAdjust="0"/>
  </p:normalViewPr>
  <p:slideViewPr>
    <p:cSldViewPr snapToGrid="0" showGuides="1">
      <p:cViewPr varScale="1">
        <p:scale>
          <a:sx n="71" d="100"/>
          <a:sy n="71" d="100"/>
        </p:scale>
        <p:origin x="894" y="42"/>
      </p:cViewPr>
      <p:guideLst>
        <p:guide pos="416"/>
        <p:guide pos="7256"/>
        <p:guide orient="horz" pos="648"/>
        <p:guide orient="horz" pos="712"/>
        <p:guide orient="horz" pos="3906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36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15CB0-A70D-433A-8B09-FCE6A7C6EC6C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850EE-2B65-4435-874F-F14E9AA4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2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强调“能量”是标量，使得推导过程比处理大量矢量力更简洁。</a:t>
            </a:r>
          </a:p>
          <a:p>
            <a:r>
              <a:rPr lang="zh-CN" altLang="en-US" dirty="0"/>
              <a:t>这是一个普适的物理方程，只要写出 </a:t>
            </a:r>
            <a:r>
              <a:rPr lang="en-US" altLang="zh-CN" dirty="0"/>
              <a:t>L</a:t>
            </a:r>
            <a:r>
              <a:rPr lang="zh-CN" altLang="en-US" dirty="0"/>
              <a:t>，代入求导即可得到系统的动力学方程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80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强调“能量”是标量，使得推导过程比处理大量矢量力更简洁。</a:t>
            </a:r>
          </a:p>
          <a:p>
            <a:r>
              <a:rPr lang="zh-CN" altLang="en-US" dirty="0"/>
              <a:t>这是一个普适的物理方程，只要写出 </a:t>
            </a:r>
            <a:r>
              <a:rPr lang="en-US" altLang="zh-CN" dirty="0"/>
              <a:t>L</a:t>
            </a:r>
            <a:r>
              <a:rPr lang="zh-CN" altLang="en-US" dirty="0"/>
              <a:t>，代入求导即可得到系统的动力学方程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18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强调“能量”是标量，使得推导过程比处理大量矢量力更简洁。</a:t>
            </a:r>
          </a:p>
          <a:p>
            <a:r>
              <a:rPr lang="zh-CN" altLang="en-US" dirty="0"/>
              <a:t>这是一个普适的物理方程，只要写出 </a:t>
            </a:r>
            <a:r>
              <a:rPr lang="en-US" altLang="zh-CN" dirty="0"/>
              <a:t>L</a:t>
            </a:r>
            <a:r>
              <a:rPr lang="zh-CN" altLang="en-US" dirty="0"/>
              <a:t>，代入求导即可得到系统的动力学方程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72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42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877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758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9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729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00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484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1" dirty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是作用在连杆上的合力矩，</a:t>
            </a:r>
            <a:r>
              <a:rPr lang="en-US" altLang="zh-CN" b="0" dirty="0" err="1">
                <a:solidFill>
                  <a:srgbClr val="0F1115"/>
                </a:solidFill>
                <a:effectLst/>
                <a:latin typeface="KaTeX_Main"/>
              </a:rPr>
              <a:t>Ic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是连杆在质心坐标系下的惯性张量，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KaTeX_Main"/>
              </a:rPr>
              <a:t>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 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KaTeX_Main"/>
              </a:rPr>
              <a:t>ω˙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是角速度和角加速度。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注意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：第二项就是陀螺力矩或回转力矩，体现了三维空间中转动的复杂性。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846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64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138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76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8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338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425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283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64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487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1230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08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460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436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107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19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7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406dbadb-c10c-43d6-b4f3-f07e3a0b5121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32cbba83-7a84-4b06-acc2-987bebcc9253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65ef743a-2468-416b-b3c8-e497430422c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5b1e153-81e7-4c2e-a3be-68016c177f12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57e455fb-9b76-40d2-8d19-81b5d04dc619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79421cf1-4637-4c20-a669-ffb3024eb944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f7e1d6e7-980a-436c-95c7-a6c49de193db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660400" y="1089025"/>
            <a:ext cx="6363398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575051"/>
            <a:ext cx="6363398" cy="12991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d8717cf3-000f-493b-92a9-efb8c05bb68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88e0fcb4-811b-484f-9298-406eec5d264d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24e4010-0ced-435f-bcf8-a79a07d028c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be966adb-5269-4a40-a671-d2649c7db09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7fbdde7d-809c-4e85-b7f5-eca26f026f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e4dad07-c52f-4db1-b6c1-019ff7edd50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3fcb460-8f56-4a79-825f-e38afbefc78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d2c0591-e19c-48fc-a7f8-759cf73a995d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67a0cbf9-586d-417a-8223-5b6925270a29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eac3f240-9f63-4c65-a7a9-df22b90e600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 descr="7bacd0fd-6e26-43c2-af76-42d2ede14a6d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 descr="c7367640-10de-4f33-9642-4048ebdf1cf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直接连接符 9" descr="7358ec63-55ce-4654-ad01-eb1c68f3b25d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 descr="92145be0-e7f2-4b46-b53c-4138553c34c0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" name="组合 23" descr="cfe686fb-c194-41fa-beae-a038dcd6ed27"/>
          <p:cNvGrpSpPr/>
          <p:nvPr/>
        </p:nvGrpSpPr>
        <p:grpSpPr>
          <a:xfrm>
            <a:off x="0" y="0"/>
            <a:ext cx="12191998" cy="1044514"/>
            <a:chOff x="0" y="-399728"/>
            <a:chExt cx="13815102" cy="1183569"/>
          </a:xfrm>
        </p:grpSpPr>
        <p:sp>
          <p:nvSpPr>
            <p:cNvPr id="21" name="任意多边形: 形状 20" descr="45b59fab-cd0f-489b-b405-4bbac6931e5f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 descr="6258e5dc-2562-45fb-a319-531b01930e4f"/>
            <p:cNvSpPr/>
            <p:nvPr/>
          </p:nvSpPr>
          <p:spPr>
            <a:xfrm>
              <a:off x="6734755" y="205070"/>
              <a:ext cx="6811073" cy="532993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6c09d0d0-2163-4ebd-ba10-05052c5b0aa3"/>
          <p:cNvGrpSpPr/>
          <p:nvPr/>
        </p:nvGrpSpPr>
        <p:grpSpPr>
          <a:xfrm flipH="1">
            <a:off x="0" y="0"/>
            <a:ext cx="12192000" cy="6542088"/>
            <a:chOff x="0" y="0"/>
            <a:chExt cx="12192000" cy="6542088"/>
          </a:xfrm>
        </p:grpSpPr>
        <p:sp>
          <p:nvSpPr>
            <p:cNvPr id="3" name="任意多边形: 形状 2" descr="2b1b37cd-1b33-47ba-ac03-02c62328061c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blipFill>
              <a:blip r:embed="rId2"/>
              <a:stretch>
                <a:fillRect t="-3239" b="-323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: 形状 6" descr="3eeab99a-5dcc-43a9-8dd5-dabcea8147b7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73000"/>
                  </a:schemeClr>
                </a:gs>
                <a:gs pos="82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 descr="c9de2f25-f493-464a-9b2f-91115930b340"/>
            <p:cNvSpPr/>
            <p:nvPr/>
          </p:nvSpPr>
          <p:spPr bwMode="auto">
            <a:xfrm>
              <a:off x="6661150" y="5505450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df5feb39-6ced-49ae-a60e-4d0c2ce04999"/>
            <p:cNvSpPr/>
            <p:nvPr/>
          </p:nvSpPr>
          <p:spPr bwMode="auto">
            <a:xfrm>
              <a:off x="5424487" y="4521200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98000">
                  <a:schemeClr val="accent1">
                    <a:alpha val="24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标题 4" descr="10ac89b2-8307-4ad3-ab99-1c0711753f25"/>
          <p:cNvSpPr>
            <a:spLocks noGrp="1"/>
          </p:cNvSpPr>
          <p:nvPr>
            <p:ph type="title" hasCustomPrompt="1"/>
          </p:nvPr>
        </p:nvSpPr>
        <p:spPr>
          <a:xfrm>
            <a:off x="6094234" y="1840730"/>
            <a:ext cx="5424666" cy="146025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e9044926-67dc-4dd8-b97f-4a0dabad36e7"/>
          <p:cNvSpPr>
            <a:spLocks noGrp="1"/>
          </p:cNvSpPr>
          <p:nvPr>
            <p:ph type="body" sz="quarter" idx="1" hasCustomPrompt="1"/>
          </p:nvPr>
        </p:nvSpPr>
        <p:spPr>
          <a:xfrm>
            <a:off x="6094234" y="3312842"/>
            <a:ext cx="5424666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d7400934-27ab-4acf-84b6-6912c959928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2026/3/10</a:t>
            </a:fld>
            <a:endParaRPr lang="en-US" altLang="zh-CN"/>
          </a:p>
        </p:txBody>
      </p:sp>
      <p:sp>
        <p:nvSpPr>
          <p:cNvPr id="6" name="页脚占位符 5" descr="acffe9f6-5a4c-4784-b665-c9ac5e5b66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 descr="3db35e2a-752a-4e23-b12f-875eecbf0d9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4ab1a47-2c89-438e-a724-553c73d82f4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e6a53de5-0c1b-4ef0-b1a2-aa90a1af79d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07879b0e-50d9-4a4f-a933-169074a9086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a3843385-33d2-482e-8e6f-6aefa3d264b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e3dc54c-9795-4a07-9042-09fd6798136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3382e854-e172-4ce5-bafa-88f8f0e436f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b499ede5-fe93-43ed-90e4-43b4fa397aa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02c5aec8-7f90-4eba-bc95-787397110e9c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fdf885fa-1a9f-4fb0-992f-3bceec5a8c01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2f589470-d377-4c74-89f5-8b916c1eb4b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45dbaa4-986c-4cd5-85fa-5969d6d6c86c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3ac059d3-ab00-416c-a5cb-39b595370976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d73a1009-9118-4851-9cdf-9f459cc7cadf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1a6137ab-10a2-413e-8300-7f4848459c0f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ca0e2320-aed7-4242-87d4-3f55a3b17134"/>
          <p:cNvSpPr>
            <a:spLocks noGrp="1"/>
          </p:cNvSpPr>
          <p:nvPr>
            <p:ph type="title" hasCustomPrompt="1"/>
          </p:nvPr>
        </p:nvSpPr>
        <p:spPr>
          <a:xfrm>
            <a:off x="660400" y="1089025"/>
            <a:ext cx="4764087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e4aeb906-f5f2-43d5-af80-4612b04da4b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1a255320-ed8a-45c1-adb7-2901b9ae3763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id="17" name="任意多边形: 形状 16"/>
              <p:cNvSpPr/>
              <p:nvPr/>
            </p:nvSpPr>
            <p:spPr>
              <a:xfrm>
                <a:off x="0" y="531050"/>
                <a:ext cx="3509740" cy="4140065"/>
              </a:xfrm>
              <a:custGeom>
                <a:avLst/>
                <a:gdLst>
                  <a:gd name="connsiteX0" fmla="*/ 1995878 w 5172248"/>
                  <a:gd name="connsiteY0" fmla="*/ 0 h 6101148"/>
                  <a:gd name="connsiteX1" fmla="*/ 5172248 w 5172248"/>
                  <a:gd name="connsiteY1" fmla="*/ 3050574 h 6101148"/>
                  <a:gd name="connsiteX2" fmla="*/ 1995878 w 5172248"/>
                  <a:gd name="connsiteY2" fmla="*/ 6101148 h 6101148"/>
                  <a:gd name="connsiteX3" fmla="*/ 219939 w 5172248"/>
                  <a:gd name="connsiteY3" fmla="*/ 5580158 h 6101148"/>
                  <a:gd name="connsiteX4" fmla="*/ 0 w 5172248"/>
                  <a:gd name="connsiteY4" fmla="*/ 5422204 h 6101148"/>
                  <a:gd name="connsiteX5" fmla="*/ 0 w 5172248"/>
                  <a:gd name="connsiteY5" fmla="*/ 678944 h 6101148"/>
                  <a:gd name="connsiteX6" fmla="*/ 219939 w 5172248"/>
                  <a:gd name="connsiteY6" fmla="*/ 520990 h 6101148"/>
                  <a:gd name="connsiteX7" fmla="*/ 1995878 w 5172248"/>
                  <a:gd name="connsiteY7" fmla="*/ 0 h 6101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72248" h="6101148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0" y="1"/>
                <a:ext cx="2131542" cy="2105841"/>
              </a:xfrm>
              <a:custGeom>
                <a:avLst/>
                <a:gdLst>
                  <a:gd name="connsiteX0" fmla="*/ 1610596 w 1947314"/>
                  <a:gd name="connsiteY0" fmla="*/ 0 h 1923835"/>
                  <a:gd name="connsiteX1" fmla="*/ 1947314 w 1947314"/>
                  <a:gd name="connsiteY1" fmla="*/ 0 h 1923835"/>
                  <a:gd name="connsiteX2" fmla="*/ 1937664 w 1947314"/>
                  <a:gd name="connsiteY2" fmla="*/ 191112 h 1923835"/>
                  <a:gd name="connsiteX3" fmla="*/ 17567 w 1947314"/>
                  <a:gd name="connsiteY3" fmla="*/ 1923835 h 1923835"/>
                  <a:gd name="connsiteX4" fmla="*/ 0 w 1947314"/>
                  <a:gd name="connsiteY4" fmla="*/ 1922948 h 1923835"/>
                  <a:gd name="connsiteX5" fmla="*/ 0 w 1947314"/>
                  <a:gd name="connsiteY5" fmla="*/ 1586230 h 1923835"/>
                  <a:gd name="connsiteX6" fmla="*/ 17567 w 1947314"/>
                  <a:gd name="connsiteY6" fmla="*/ 1587117 h 1923835"/>
                  <a:gd name="connsiteX7" fmla="*/ 1602684 w 1947314"/>
                  <a:gd name="connsiteY7" fmla="*/ 156684 h 192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47313" h="1923835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 flip="none" rotWithShape="1">
                <a:gsLst>
                  <a:gs pos="39000">
                    <a:schemeClr val="accent1"/>
                  </a:gs>
                  <a:gs pos="100000">
                    <a:schemeClr val="accent1">
                      <a:alpha val="15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10858500" y="6266282"/>
                <a:ext cx="1333500" cy="591717"/>
              </a:xfrm>
              <a:custGeom>
                <a:avLst/>
                <a:gdLst>
                  <a:gd name="connsiteX0" fmla="*/ 1722638 w 2395738"/>
                  <a:gd name="connsiteY0" fmla="*/ 0 h 1063066"/>
                  <a:gd name="connsiteX1" fmla="*/ 2296579 w 2395738"/>
                  <a:gd name="connsiteY1" fmla="*/ 86772 h 1063066"/>
                  <a:gd name="connsiteX2" fmla="*/ 2395738 w 2395738"/>
                  <a:gd name="connsiteY2" fmla="*/ 123065 h 1063066"/>
                  <a:gd name="connsiteX3" fmla="*/ 2395738 w 2395738"/>
                  <a:gd name="connsiteY3" fmla="*/ 307866 h 1063066"/>
                  <a:gd name="connsiteX4" fmla="*/ 2244925 w 2395738"/>
                  <a:gd name="connsiteY4" fmla="*/ 252668 h 1063066"/>
                  <a:gd name="connsiteX5" fmla="*/ 1722638 w 2395738"/>
                  <a:gd name="connsiteY5" fmla="*/ 173705 h 1063066"/>
                  <a:gd name="connsiteX6" fmla="*/ 266240 w 2395738"/>
                  <a:gd name="connsiteY6" fmla="*/ 948066 h 1063066"/>
                  <a:gd name="connsiteX7" fmla="*/ 196375 w 2395738"/>
                  <a:gd name="connsiteY7" fmla="*/ 1063066 h 1063066"/>
                  <a:gd name="connsiteX8" fmla="*/ 0 w 2395738"/>
                  <a:gd name="connsiteY8" fmla="*/ 1063066 h 1063066"/>
                  <a:gd name="connsiteX9" fmla="*/ 25525 w 2395738"/>
                  <a:gd name="connsiteY9" fmla="*/ 1010080 h 1063066"/>
                  <a:gd name="connsiteX10" fmla="*/ 1722638 w 2395738"/>
                  <a:gd name="connsiteY10" fmla="*/ 0 h 1063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95738" h="1063066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49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12045916" y="5511800"/>
                <a:ext cx="146083" cy="275322"/>
              </a:xfrm>
              <a:custGeom>
                <a:avLst/>
                <a:gdLst>
                  <a:gd name="connsiteX0" fmla="*/ 207578 w 220278"/>
                  <a:gd name="connsiteY0" fmla="*/ 0 h 415156"/>
                  <a:gd name="connsiteX1" fmla="*/ 220278 w 220278"/>
                  <a:gd name="connsiteY1" fmla="*/ 1281 h 415156"/>
                  <a:gd name="connsiteX2" fmla="*/ 220278 w 220278"/>
                  <a:gd name="connsiteY2" fmla="*/ 413876 h 415156"/>
                  <a:gd name="connsiteX3" fmla="*/ 207578 w 220278"/>
                  <a:gd name="connsiteY3" fmla="*/ 415156 h 415156"/>
                  <a:gd name="connsiteX4" fmla="*/ 0 w 220278"/>
                  <a:gd name="connsiteY4" fmla="*/ 207578 h 415156"/>
                  <a:gd name="connsiteX5" fmla="*/ 207578 w 220278"/>
                  <a:gd name="connsiteY5" fmla="*/ 0 h 415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278" h="415156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377784" y="5938201"/>
                <a:ext cx="534344" cy="534344"/>
              </a:xfrm>
              <a:prstGeom prst="ellipse">
                <a:avLst/>
              </a:prstGeom>
              <a:gradFill flip="none" rotWithShape="1">
                <a:gsLst>
                  <a:gs pos="1000">
                    <a:schemeClr val="accent1">
                      <a:lumMod val="40000"/>
                      <a:lumOff val="60000"/>
                      <a:alpha val="50000"/>
                    </a:schemeClr>
                  </a:gs>
                  <a:gs pos="91000">
                    <a:schemeClr val="accent1"/>
                  </a:gs>
                </a:gsLst>
                <a:lin ang="135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261259" y="1000899"/>
            <a:ext cx="7144814" cy="1072006"/>
          </a:xfrm>
        </p:spPr>
        <p:txBody>
          <a:bodyPr/>
          <a:lstStyle/>
          <a:p>
            <a:r>
              <a:rPr lang="zh-CN" altLang="en-US" dirty="0"/>
              <a:t>机器人建模与控制仿真</a:t>
            </a:r>
            <a:endParaRPr lang="en-US" dirty="0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1622696" y="2414367"/>
            <a:ext cx="4550997" cy="523421"/>
          </a:xfrm>
        </p:spPr>
        <p:txBody>
          <a:bodyPr>
            <a:noAutofit/>
          </a:bodyPr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</a:rPr>
              <a:t>第三章 机器人动力学建模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6371E-AF2B-63EB-E971-B2EE67DCD6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987" y="3713090"/>
            <a:ext cx="4479551" cy="1072006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accent4"/>
                </a:solidFill>
              </a:rPr>
              <a:t>汪首坤 教授</a:t>
            </a:r>
            <a:endParaRPr lang="en-US" altLang="zh-CN" sz="2400" dirty="0">
              <a:solidFill>
                <a:schemeClr val="accent4"/>
              </a:solidFill>
            </a:endParaRPr>
          </a:p>
          <a:p>
            <a:r>
              <a:rPr lang="zh-CN" altLang="en-US" sz="2400" dirty="0">
                <a:solidFill>
                  <a:schemeClr val="accent4"/>
                </a:solidFill>
              </a:rPr>
              <a:t>北京理工大学 自动化学院</a:t>
            </a:r>
            <a:endParaRPr lang="en-US" altLang="zh-CN" sz="2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0823BA0-D5C1-8DDE-C853-A3E7C431C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9796" y="0"/>
            <a:ext cx="2707545" cy="63681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本章目录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C0C48C-6CE4-93E6-0560-D5B598BF2612}"/>
              </a:ext>
            </a:extLst>
          </p:cNvPr>
          <p:cNvSpPr txBox="1"/>
          <p:nvPr/>
        </p:nvSpPr>
        <p:spPr>
          <a:xfrm>
            <a:off x="2033070" y="730597"/>
            <a:ext cx="3820653" cy="441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1 </a:t>
            </a:r>
            <a:r>
              <a:rPr lang="zh-CN" altLang="en-US" sz="2400" b="1" dirty="0">
                <a:latin typeface="+mn-ea"/>
              </a:rPr>
              <a:t>动力学基础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2 </a:t>
            </a:r>
            <a:r>
              <a:rPr lang="zh-CN" altLang="en-US" sz="2400" b="1" dirty="0">
                <a:latin typeface="+mn-ea"/>
              </a:rPr>
              <a:t>拉格朗日法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3 </a:t>
            </a:r>
            <a:r>
              <a:rPr lang="zh-CN" altLang="en-US" sz="2400" b="1" dirty="0">
                <a:latin typeface="+mn-ea"/>
              </a:rPr>
              <a:t>牛顿</a:t>
            </a:r>
            <a:r>
              <a:rPr lang="en-US" altLang="zh-CN" sz="2400" b="1" dirty="0">
                <a:latin typeface="+mn-ea"/>
              </a:rPr>
              <a:t>-</a:t>
            </a:r>
            <a:r>
              <a:rPr lang="zh-CN" altLang="en-US" sz="2400" b="1" dirty="0">
                <a:latin typeface="+mn-ea"/>
              </a:rPr>
              <a:t>欧拉法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4 </a:t>
            </a:r>
            <a:r>
              <a:rPr lang="zh-CN" altLang="en-US" sz="2400" b="1" dirty="0">
                <a:latin typeface="+mn-ea"/>
              </a:rPr>
              <a:t>动力学深入解析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5 </a:t>
            </a:r>
            <a:r>
              <a:rPr lang="zh-CN" altLang="en-US" sz="2400" b="1" dirty="0">
                <a:latin typeface="+mn-ea"/>
              </a:rPr>
              <a:t>扩展与小结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6 </a:t>
            </a:r>
            <a:r>
              <a:rPr lang="zh-CN" altLang="en-US" sz="2400" b="1" dirty="0">
                <a:latin typeface="+mn-ea"/>
              </a:rPr>
              <a:t>课后练习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BD2B0C-8AFA-4328-BB0A-1B11FD44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111" y="803227"/>
            <a:ext cx="3563570" cy="47514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EDAC43-3D74-4FD1-B390-64F96BF2F58D}"/>
              </a:ext>
            </a:extLst>
          </p:cNvPr>
          <p:cNvSpPr txBox="1"/>
          <p:nvPr/>
        </p:nvSpPr>
        <p:spPr>
          <a:xfrm>
            <a:off x="797166" y="5721069"/>
            <a:ext cx="10972803" cy="96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accent3"/>
                </a:solidFill>
                <a:effectLst/>
                <a:latin typeface="quote-cjk-patch"/>
              </a:rPr>
              <a:t>运动学描述了机器人的运动，但无法回答“如何产生这样的运动”。</a:t>
            </a:r>
            <a:endParaRPr lang="en-US" altLang="zh-CN" sz="2000" b="0" i="0" dirty="0">
              <a:solidFill>
                <a:schemeClr val="accent3"/>
              </a:solidFill>
              <a:effectLst/>
              <a:latin typeface="quote-cjk-patch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accent3"/>
                </a:solidFill>
                <a:effectLst/>
                <a:latin typeface="quote-cjk-patch"/>
              </a:rPr>
              <a:t>动力学将揭示驱动力与关节运动之间内在规律，是机器人控制、结构设计、仿真分析的理论基石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454031" y="543028"/>
            <a:ext cx="7166708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+mn-ea"/>
              </a:rPr>
              <a:t>从运动学到动力学</a:t>
            </a:r>
            <a:r>
              <a:rPr lang="en-US" altLang="zh-CN" sz="2400" b="1" i="0" dirty="0">
                <a:effectLst/>
                <a:latin typeface="+mn-ea"/>
              </a:rPr>
              <a:t>——</a:t>
            </a:r>
            <a:r>
              <a:rPr lang="zh-CN" altLang="en-US" sz="2400" b="1" i="0" dirty="0">
                <a:effectLst/>
                <a:latin typeface="+mn-ea"/>
              </a:rPr>
              <a:t>为什么要学习动力学？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BBA077-3F68-4B4B-95FE-5F7838E6A9C7}"/>
              </a:ext>
            </a:extLst>
          </p:cNvPr>
          <p:cNvSpPr txBox="1"/>
          <p:nvPr/>
        </p:nvSpPr>
        <p:spPr>
          <a:xfrm>
            <a:off x="1048788" y="1453920"/>
            <a:ext cx="9977194" cy="2466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回顾运动学</a:t>
            </a:r>
            <a:r>
              <a:rPr lang="zh-CN" altLang="en-US" sz="2000" b="0" i="0" dirty="0">
                <a:effectLst/>
                <a:latin typeface="quote-cjk-patch"/>
              </a:rPr>
              <a:t>：运动学建立了关节空间与操作空间之间的几何关系。它回答了“当关节角度是</a:t>
            </a:r>
            <a:r>
              <a:rPr lang="en-US" altLang="zh-CN" sz="2000" b="0" i="0" dirty="0">
                <a:effectLst/>
                <a:latin typeface="quote-cjk-patch"/>
              </a:rPr>
              <a:t>q</a:t>
            </a:r>
            <a:r>
              <a:rPr lang="zh-CN" altLang="en-US" sz="2000" b="0" i="0" dirty="0">
                <a:effectLst/>
                <a:latin typeface="quote-cjk-patch"/>
              </a:rPr>
              <a:t>时，末端执行器在哪里？速度是多少？”但它是在</a:t>
            </a:r>
            <a:r>
              <a:rPr lang="zh-CN" altLang="en-US" sz="2000" b="1" i="0" dirty="0">
                <a:effectLst/>
                <a:latin typeface="quote-cjk-patch"/>
              </a:rPr>
              <a:t>假设运动已知</a:t>
            </a:r>
            <a:r>
              <a:rPr lang="zh-CN" altLang="en-US" sz="2000" b="0" i="0" dirty="0">
                <a:effectLst/>
                <a:latin typeface="quote-cjk-patch"/>
              </a:rPr>
              <a:t>的前提下</a:t>
            </a:r>
            <a:r>
              <a:rPr lang="zh-CN" altLang="en-US" sz="2000" dirty="0">
                <a:latin typeface="quote-cjk-patch"/>
              </a:rPr>
              <a:t>。</a:t>
            </a:r>
            <a:endParaRPr lang="zh-CN" altLang="en-US" sz="2000" b="0" i="0" dirty="0">
              <a:effectLst/>
              <a:latin typeface="quote-cjk-patch"/>
            </a:endParaRPr>
          </a:p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引入动力学</a:t>
            </a:r>
            <a:r>
              <a:rPr lang="zh-CN" altLang="en-US" sz="2000" b="0" i="0" dirty="0">
                <a:effectLst/>
                <a:latin typeface="quote-cjk-patch"/>
              </a:rPr>
              <a:t>：机器人本质上是一个复杂的机械系统，其运动是由关节输出的力矩</a:t>
            </a:r>
            <a:r>
              <a:rPr lang="en-US" altLang="zh-CN" sz="2000" b="0" i="0" dirty="0">
                <a:effectLst/>
                <a:latin typeface="quote-cjk-patch"/>
              </a:rPr>
              <a:t>/</a:t>
            </a:r>
            <a:r>
              <a:rPr lang="zh-CN" altLang="en-US" sz="2000" b="0" i="0" dirty="0">
                <a:effectLst/>
                <a:latin typeface="quote-cjk-patch"/>
              </a:rPr>
              <a:t>力驱动的。动力学正是研究</a:t>
            </a:r>
            <a:r>
              <a:rPr lang="zh-CN" altLang="en-US" sz="2000" b="1" i="0" dirty="0">
                <a:effectLst/>
                <a:latin typeface="quote-cjk-patch"/>
              </a:rPr>
              <a:t>力矩</a:t>
            </a:r>
            <a:r>
              <a:rPr lang="en-US" altLang="zh-CN" sz="2000" b="1" i="0" dirty="0">
                <a:effectLst/>
                <a:latin typeface="quote-cjk-patch"/>
              </a:rPr>
              <a:t>(τ)</a:t>
            </a:r>
            <a:r>
              <a:rPr lang="zh-CN" altLang="en-US" sz="2000" b="1" i="0" dirty="0">
                <a:effectLst/>
                <a:latin typeface="quote-cjk-patch"/>
              </a:rPr>
              <a:t>与运动</a:t>
            </a:r>
            <a:r>
              <a:rPr lang="en-US" altLang="zh-CN" sz="2000" b="1" i="0" dirty="0">
                <a:effectLst/>
                <a:latin typeface="quote-cjk-patch"/>
              </a:rPr>
              <a:t>(q, q·, q··) </a:t>
            </a:r>
            <a:r>
              <a:rPr lang="zh-CN" altLang="en-US" sz="2000" b="1" i="0" dirty="0">
                <a:effectLst/>
                <a:latin typeface="quote-cjk-patch"/>
              </a:rPr>
              <a:t>之间关系</a:t>
            </a:r>
            <a:r>
              <a:rPr lang="zh-CN" altLang="en-US" sz="2000" b="0" i="0" dirty="0">
                <a:effectLst/>
                <a:latin typeface="quote-cjk-patch"/>
              </a:rPr>
              <a:t>的科学。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81CF95-AB92-4B83-B175-EFA4D0EAE1B8}"/>
              </a:ext>
            </a:extLst>
          </p:cNvPr>
          <p:cNvSpPr txBox="1"/>
          <p:nvPr/>
        </p:nvSpPr>
        <p:spPr>
          <a:xfrm>
            <a:off x="2602523" y="4262865"/>
            <a:ext cx="6986954" cy="22294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b="1" i="0" dirty="0">
                <a:effectLst/>
                <a:latin typeface="quote-cjk-patch"/>
              </a:rPr>
              <a:t>汽车加速过程的简单类比</a:t>
            </a:r>
            <a:endParaRPr lang="zh-CN" altLang="en-US" b="0" i="0" dirty="0">
              <a:effectLst/>
              <a:latin typeface="quote-cjk-patch"/>
            </a:endParaRPr>
          </a:p>
          <a:p>
            <a:pPr lvl="1" algn="l">
              <a:lnSpc>
                <a:spcPct val="200000"/>
              </a:lnSpc>
            </a:pPr>
            <a:r>
              <a:rPr lang="zh-CN" altLang="en-US" b="1" i="0" dirty="0">
                <a:effectLst/>
                <a:latin typeface="quote-cjk-patch"/>
              </a:rPr>
              <a:t>运动学</a:t>
            </a:r>
            <a:r>
              <a:rPr lang="zh-CN" altLang="en-US" b="0" i="0" dirty="0">
                <a:effectLst/>
                <a:latin typeface="quote-cjk-patch"/>
              </a:rPr>
              <a:t>：描述一辆汽车在</a:t>
            </a:r>
            <a:r>
              <a:rPr lang="en-US" altLang="zh-CN" b="0" i="0" dirty="0">
                <a:effectLst/>
                <a:latin typeface="quote-cjk-patch"/>
              </a:rPr>
              <a:t>10</a:t>
            </a:r>
            <a:r>
              <a:rPr lang="zh-CN" altLang="en-US" b="0" i="0" dirty="0">
                <a:effectLst/>
                <a:latin typeface="quote-cjk-patch"/>
              </a:rPr>
              <a:t>秒内从</a:t>
            </a:r>
            <a:r>
              <a:rPr lang="en-US" altLang="zh-CN" b="0" i="0" dirty="0">
                <a:effectLst/>
                <a:latin typeface="quote-cjk-patch"/>
              </a:rPr>
              <a:t>0</a:t>
            </a:r>
            <a:r>
              <a:rPr lang="zh-CN" altLang="en-US" b="0" i="0" dirty="0">
                <a:effectLst/>
                <a:latin typeface="quote-cjk-patch"/>
              </a:rPr>
              <a:t>加速到</a:t>
            </a:r>
            <a:r>
              <a:rPr lang="en-US" altLang="zh-CN" b="0" i="0" dirty="0">
                <a:effectLst/>
                <a:latin typeface="quote-cjk-patch"/>
              </a:rPr>
              <a:t>100km/h</a:t>
            </a:r>
            <a:r>
              <a:rPr lang="zh-CN" altLang="en-US" b="0" i="0" dirty="0">
                <a:effectLst/>
                <a:latin typeface="quote-cjk-patch"/>
              </a:rPr>
              <a:t>。</a:t>
            </a:r>
          </a:p>
          <a:p>
            <a:pPr lvl="1" algn="l">
              <a:lnSpc>
                <a:spcPct val="200000"/>
              </a:lnSpc>
            </a:pPr>
            <a:r>
              <a:rPr lang="zh-CN" altLang="en-US" b="1" i="0" dirty="0">
                <a:effectLst/>
                <a:latin typeface="quote-cjk-patch"/>
              </a:rPr>
              <a:t>动力学</a:t>
            </a:r>
            <a:r>
              <a:rPr lang="zh-CN" altLang="en-US" b="0" i="0" dirty="0">
                <a:effectLst/>
                <a:latin typeface="quote-cjk-patch"/>
              </a:rPr>
              <a:t>：解释发动机需要输出多大的扭矩，克服多大的地面摩擦力和空气阻力，才能实现这个加速过程。</a:t>
            </a:r>
          </a:p>
        </p:txBody>
      </p:sp>
    </p:spTree>
    <p:extLst>
      <p:ext uri="{BB962C8B-B14F-4D97-AF65-F5344CB8AC3E}">
        <p14:creationId xmlns:p14="http://schemas.microsoft.com/office/powerpoint/2010/main" val="153305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454031" y="543028"/>
            <a:ext cx="7166708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+mn-ea"/>
              </a:rPr>
              <a:t>动力学在工程应用上的必要性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81CF95-AB92-4B83-B175-EFA4D0EAE1B8}"/>
              </a:ext>
            </a:extLst>
          </p:cNvPr>
          <p:cNvSpPr txBox="1"/>
          <p:nvPr/>
        </p:nvSpPr>
        <p:spPr>
          <a:xfrm>
            <a:off x="1469292" y="4669265"/>
            <a:ext cx="9425354" cy="123585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i="1" dirty="0">
                <a:solidFill>
                  <a:schemeClr val="tx1"/>
                </a:solidFill>
                <a:effectLst/>
                <a:latin typeface="quote-cjk-patch"/>
              </a:rPr>
              <a:t>思考：一个空的机械臂和一个抓着重物的机械臂，要走出完全相同的轨迹（位置、速度、加速度都一样），关节电机输出的力矩会一样吗？为什么？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9AC294-4124-4BA7-A74A-F3E756918C8C}"/>
              </a:ext>
            </a:extLst>
          </p:cNvPr>
          <p:cNvSpPr txBox="1"/>
          <p:nvPr/>
        </p:nvSpPr>
        <p:spPr>
          <a:xfrm>
            <a:off x="863599" y="1657120"/>
            <a:ext cx="10636740" cy="2466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电机选型</a:t>
            </a:r>
            <a:r>
              <a:rPr lang="zh-CN" altLang="en-US" sz="2000" b="0" i="0" dirty="0">
                <a:effectLst/>
                <a:latin typeface="quote-cjk-patch"/>
              </a:rPr>
              <a:t>：每个关节需要多大的力矩和功率，避免选小了“拉不动”，选大了“浪费钱”。</a:t>
            </a:r>
          </a:p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结构设计</a:t>
            </a:r>
            <a:r>
              <a:rPr lang="zh-CN" altLang="en-US" sz="2000" b="0" i="0" dirty="0">
                <a:effectLst/>
                <a:latin typeface="quote-cjk-patch"/>
              </a:rPr>
              <a:t>：给出各连杆在运动过程中承受的最大力</a:t>
            </a:r>
            <a:r>
              <a:rPr lang="en-US" altLang="zh-CN" sz="2000" b="0" i="0" dirty="0">
                <a:effectLst/>
                <a:latin typeface="quote-cjk-patch"/>
              </a:rPr>
              <a:t>/</a:t>
            </a:r>
            <a:r>
              <a:rPr lang="zh-CN" altLang="en-US" sz="2000" b="0" i="0" dirty="0">
                <a:effectLst/>
                <a:latin typeface="quote-cjk-patch"/>
              </a:rPr>
              <a:t>力矩，为连杆的强度、刚度设计提供依据。</a:t>
            </a:r>
          </a:p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控制算法</a:t>
            </a:r>
            <a:r>
              <a:rPr lang="zh-CN" altLang="en-US" sz="2000" b="0" i="0" dirty="0">
                <a:effectLst/>
                <a:latin typeface="quote-cjk-patch"/>
              </a:rPr>
              <a:t>：高精度高速度的控制必须依赖于被控对象的动力学模型，没有模型就没有精准控制。</a:t>
            </a:r>
          </a:p>
          <a:p>
            <a:pPr algn="l">
              <a:lnSpc>
                <a:spcPct val="20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仿真分析</a:t>
            </a:r>
            <a:r>
              <a:rPr lang="zh-CN" altLang="en-US" sz="2000" b="0" i="0" dirty="0">
                <a:effectLst/>
                <a:latin typeface="quote-cjk-patch"/>
              </a:rPr>
              <a:t>：动力学仿真可以测试控制算法、规划轨迹、预测能耗，大大降低开发成本和风险。</a:t>
            </a:r>
          </a:p>
        </p:txBody>
      </p:sp>
    </p:spTree>
    <p:extLst>
      <p:ext uri="{BB962C8B-B14F-4D97-AF65-F5344CB8AC3E}">
        <p14:creationId xmlns:p14="http://schemas.microsoft.com/office/powerpoint/2010/main" val="46508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454031" y="698121"/>
            <a:ext cx="7166708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+mn-ea"/>
              </a:rPr>
              <a:t>正运动学</a:t>
            </a:r>
            <a:r>
              <a:rPr lang="en-US" altLang="zh-CN" sz="2400" b="1" i="0" dirty="0">
                <a:effectLst/>
                <a:latin typeface="+mn-ea"/>
              </a:rPr>
              <a:t>(Forward Dynamics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zh-CN" altLang="en-US" sz="2400" b="1" i="0" dirty="0">
              <a:effectLst/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81CF95-AB92-4B83-B175-EFA4D0EAE1B8}"/>
              </a:ext>
            </a:extLst>
          </p:cNvPr>
          <p:cNvSpPr txBox="1"/>
          <p:nvPr/>
        </p:nvSpPr>
        <p:spPr>
          <a:xfrm>
            <a:off x="1487977" y="3887049"/>
            <a:ext cx="9425354" cy="188987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quote-cjk-patch"/>
              </a:rPr>
              <a:t>主要用途</a:t>
            </a:r>
            <a:endParaRPr lang="en-US" altLang="zh-CN" sz="2000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i="0" dirty="0">
                <a:solidFill>
                  <a:schemeClr val="tx1"/>
                </a:solidFill>
                <a:effectLst/>
                <a:latin typeface="quote-cjk-patch"/>
              </a:rPr>
              <a:t>运动仿真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：进行“如果</a:t>
            </a:r>
            <a:r>
              <a:rPr lang="en-US" altLang="zh-CN" sz="2000" b="0" i="0" dirty="0">
                <a:solidFill>
                  <a:schemeClr val="tx1"/>
                </a:solidFill>
                <a:effectLst/>
                <a:latin typeface="quote-cjk-patch"/>
              </a:rPr>
              <a:t>...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会怎样”仿真实验基础。例如，给一个力矩，看看机器人会如何运动。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i="0" dirty="0">
                <a:solidFill>
                  <a:schemeClr val="tx1"/>
                </a:solidFill>
                <a:effectLst/>
                <a:latin typeface="quote-cjk-patch"/>
              </a:rPr>
              <a:t>理解系统行为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：分析机器人在外力作用下的动态响应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FCA9E-56BC-4C6F-8CBE-01374E0FF50B}"/>
              </a:ext>
            </a:extLst>
          </p:cNvPr>
          <p:cNvSpPr txBox="1"/>
          <p:nvPr/>
        </p:nvSpPr>
        <p:spPr>
          <a:xfrm>
            <a:off x="1527052" y="1764767"/>
            <a:ext cx="8890855" cy="184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2000" b="1" i="0" dirty="0">
                <a:effectLst/>
                <a:latin typeface="+mn-ea"/>
              </a:rPr>
              <a:t>1 </a:t>
            </a:r>
            <a:r>
              <a:rPr lang="zh-CN" altLang="en-US" sz="2000" b="1" i="0" dirty="0">
                <a:effectLst/>
                <a:latin typeface="+mn-ea"/>
              </a:rPr>
              <a:t>定义</a:t>
            </a:r>
            <a:r>
              <a:rPr lang="zh-CN" altLang="en-US" sz="2000" b="0" i="0" dirty="0">
                <a:effectLst/>
                <a:latin typeface="+mn-ea"/>
              </a:rPr>
              <a:t>：给定作用在关节上的驱动力</a:t>
            </a:r>
            <a:r>
              <a:rPr lang="en-US" altLang="zh-CN" sz="2000" b="0" i="0" dirty="0">
                <a:effectLst/>
                <a:latin typeface="+mn-ea"/>
              </a:rPr>
              <a:t>/</a:t>
            </a:r>
            <a:r>
              <a:rPr lang="zh-CN" altLang="en-US" sz="2000" b="0" i="0" dirty="0">
                <a:effectLst/>
                <a:latin typeface="+mn-ea"/>
              </a:rPr>
              <a:t>力矩，求解机器人的运动响应，即关节位移、速度和加速度。</a:t>
            </a:r>
            <a:endParaRPr lang="en-US" altLang="zh-CN" sz="2000" b="0" i="0" dirty="0">
              <a:effectLst/>
              <a:latin typeface="+mn-ea"/>
            </a:endParaRPr>
          </a:p>
          <a:p>
            <a:pPr algn="l">
              <a:lnSpc>
                <a:spcPct val="200000"/>
              </a:lnSpc>
            </a:pPr>
            <a:r>
              <a:rPr lang="en-US" altLang="zh-CN" sz="2000" dirty="0">
                <a:latin typeface="+mn-ea"/>
              </a:rPr>
              <a:t>2 </a:t>
            </a:r>
            <a:r>
              <a:rPr lang="zh-CN" altLang="en-US" sz="2000" b="1" i="0" dirty="0">
                <a:effectLst/>
                <a:latin typeface="+mn-ea"/>
              </a:rPr>
              <a:t>数学表达</a:t>
            </a:r>
            <a:r>
              <a:rPr lang="en-US" altLang="zh-CN" sz="2000" b="1" i="0" dirty="0">
                <a:effectLst/>
                <a:latin typeface="+mn-ea"/>
              </a:rPr>
              <a:t>:</a:t>
            </a:r>
            <a:endParaRPr lang="zh-CN" altLang="en-US" sz="2000" b="0" i="0" dirty="0"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9CB7F4-198A-403F-A24C-886AF888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501" y="3207567"/>
            <a:ext cx="4786345" cy="4428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06046BA-2E62-4F49-BCCE-DF1DBF78C5C6}"/>
              </a:ext>
            </a:extLst>
          </p:cNvPr>
          <p:cNvSpPr txBox="1"/>
          <p:nvPr/>
        </p:nvSpPr>
        <p:spPr>
          <a:xfrm>
            <a:off x="3717740" y="6053061"/>
            <a:ext cx="4509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正动力学是“原因→结果”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21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454031" y="698121"/>
            <a:ext cx="7166708" cy="7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逆动力学 </a:t>
            </a:r>
            <a:r>
              <a:rPr lang="en-US" altLang="zh-CN" sz="2400" b="1" i="0" dirty="0">
                <a:effectLst/>
                <a:latin typeface="quote-cjk-patch"/>
              </a:rPr>
              <a:t>(Inverse Dynamics)</a:t>
            </a:r>
            <a:endParaRPr lang="zh-CN" altLang="en-US" sz="2400" b="1" i="0" dirty="0">
              <a:effectLst/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81CF95-AB92-4B83-B175-EFA4D0EAE1B8}"/>
              </a:ext>
            </a:extLst>
          </p:cNvPr>
          <p:cNvSpPr txBox="1"/>
          <p:nvPr/>
        </p:nvSpPr>
        <p:spPr>
          <a:xfrm>
            <a:off x="1378560" y="3746992"/>
            <a:ext cx="9625502" cy="188987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quote-cjk-patch"/>
              </a:rPr>
              <a:t>主要用途</a:t>
            </a:r>
            <a:endParaRPr lang="en-US" altLang="zh-CN" sz="2000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quote-cjk-patch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zh-CN" altLang="en-US" sz="2000" b="1" i="0" dirty="0">
                <a:solidFill>
                  <a:schemeClr val="tx1"/>
                </a:solidFill>
                <a:effectLst/>
                <a:latin typeface="quote-cjk-patch"/>
              </a:rPr>
              <a:t>前馈控制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：将计算力矩作为前馈项叠加到控制器输出上，可以显著提高跟踪精度。</a:t>
            </a:r>
          </a:p>
          <a:p>
            <a:pPr algn="l"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tx1"/>
                </a:solidFill>
                <a:effectLst/>
                <a:latin typeface="quote-cjk-patch"/>
              </a:rPr>
              <a:t>2 </a:t>
            </a:r>
            <a:r>
              <a:rPr lang="zh-CN" altLang="en-US" sz="2000" b="1" i="0" dirty="0">
                <a:solidFill>
                  <a:schemeClr val="tx1"/>
                </a:solidFill>
                <a:effectLst/>
                <a:latin typeface="quote-cjk-patch"/>
              </a:rPr>
              <a:t>力矩控制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：是绝大多数先进机器人控制算法（如计算力矩法、阻抗控制）的核心。</a:t>
            </a:r>
            <a:endParaRPr lang="en-US" altLang="zh-CN" sz="20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quote-cjk-patch"/>
              </a:rPr>
              <a:t>3 </a:t>
            </a:r>
            <a:r>
              <a:rPr lang="zh-CN" altLang="en-US" sz="2000" b="1" i="0" dirty="0">
                <a:solidFill>
                  <a:schemeClr val="tx1"/>
                </a:solidFill>
                <a:effectLst/>
                <a:latin typeface="quote-cjk-patch"/>
              </a:rPr>
              <a:t>关节力矩估算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quote-cjk-patch"/>
              </a:rPr>
              <a:t>：在没有力矩传感器的情况下，可以通过逆动力学估算关节受力。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FCA9E-56BC-4C6F-8CBE-01374E0FF50B}"/>
              </a:ext>
            </a:extLst>
          </p:cNvPr>
          <p:cNvSpPr txBox="1"/>
          <p:nvPr/>
        </p:nvSpPr>
        <p:spPr>
          <a:xfrm>
            <a:off x="1527052" y="1553756"/>
            <a:ext cx="8890855" cy="184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2000" b="1" i="0" dirty="0">
                <a:effectLst/>
                <a:latin typeface="+mn-ea"/>
              </a:rPr>
              <a:t>1 </a:t>
            </a:r>
            <a:r>
              <a:rPr lang="zh-CN" altLang="en-US" sz="2000" b="1" i="0" dirty="0">
                <a:effectLst/>
                <a:latin typeface="+mn-ea"/>
              </a:rPr>
              <a:t>定义</a:t>
            </a:r>
            <a:r>
              <a:rPr lang="zh-CN" altLang="en-US" sz="2000" b="0" i="0" dirty="0">
                <a:effectLst/>
                <a:latin typeface="+mn-ea"/>
              </a:rPr>
              <a:t>：</a:t>
            </a:r>
            <a:r>
              <a:rPr lang="zh-CN" altLang="en-US" sz="2000" b="0" i="0" dirty="0">
                <a:effectLst/>
                <a:latin typeface="quote-cjk-patch"/>
              </a:rPr>
              <a:t>给定机器人的期望运动轨迹 </a:t>
            </a:r>
            <a:r>
              <a:rPr lang="en-US" altLang="zh-CN" sz="2000" b="0" i="0" dirty="0">
                <a:effectLst/>
                <a:latin typeface="quote-cjk-patch"/>
              </a:rPr>
              <a:t>(</a:t>
            </a:r>
            <a:r>
              <a:rPr lang="zh-CN" altLang="en-US" sz="2000" b="0" i="0" dirty="0">
                <a:effectLst/>
                <a:latin typeface="quote-cjk-patch"/>
              </a:rPr>
              <a:t>位移、速度和加速度</a:t>
            </a:r>
            <a:r>
              <a:rPr lang="en-US" altLang="zh-CN" sz="2000" b="0" i="0" dirty="0">
                <a:effectLst/>
                <a:latin typeface="quote-cjk-patch"/>
              </a:rPr>
              <a:t>)</a:t>
            </a:r>
            <a:r>
              <a:rPr lang="zh-CN" altLang="en-US" sz="2000" b="0" i="0" dirty="0">
                <a:effectLst/>
                <a:latin typeface="quote-cjk-patch"/>
              </a:rPr>
              <a:t>，求解实现该运动所需的关节驱动力</a:t>
            </a:r>
            <a:r>
              <a:rPr lang="en-US" altLang="zh-CN" sz="2000" b="0" i="0" dirty="0">
                <a:effectLst/>
                <a:latin typeface="quote-cjk-patch"/>
              </a:rPr>
              <a:t>/</a:t>
            </a:r>
            <a:r>
              <a:rPr lang="zh-CN" altLang="en-US" sz="2000" b="0" i="0" dirty="0">
                <a:effectLst/>
                <a:latin typeface="quote-cjk-patch"/>
              </a:rPr>
              <a:t>力矩</a:t>
            </a:r>
            <a:r>
              <a:rPr lang="zh-CN" altLang="en-US" sz="2000" dirty="0">
                <a:latin typeface="quote-cjk-patch"/>
              </a:rPr>
              <a:t>，</a:t>
            </a:r>
            <a:r>
              <a:rPr lang="zh-CN" altLang="en-US" sz="2000" b="0" i="0" dirty="0">
                <a:effectLst/>
                <a:latin typeface="quote-cjk-patch"/>
              </a:rPr>
              <a:t>这是机器人控制中最常见的问题。</a:t>
            </a:r>
            <a:endParaRPr lang="en-US" altLang="zh-CN" sz="2000" b="0" i="0" dirty="0">
              <a:effectLst/>
              <a:latin typeface="quote-cjk-patch"/>
            </a:endParaRPr>
          </a:p>
          <a:p>
            <a:pPr algn="l">
              <a:lnSpc>
                <a:spcPct val="200000"/>
              </a:lnSpc>
            </a:pPr>
            <a:r>
              <a:rPr lang="en-US" altLang="zh-CN" sz="2000" dirty="0">
                <a:latin typeface="+mn-ea"/>
              </a:rPr>
              <a:t>2 </a:t>
            </a:r>
            <a:r>
              <a:rPr lang="zh-CN" altLang="en-US" sz="2000" b="1" i="0" dirty="0">
                <a:effectLst/>
                <a:latin typeface="+mn-ea"/>
              </a:rPr>
              <a:t>数学表达</a:t>
            </a:r>
            <a:r>
              <a:rPr lang="en-US" altLang="zh-CN" sz="2000" b="1" i="0" dirty="0">
                <a:effectLst/>
                <a:latin typeface="+mn-ea"/>
              </a:rPr>
              <a:t>:</a:t>
            </a:r>
            <a:endParaRPr lang="zh-CN" altLang="en-US" sz="2000" b="0" i="0" dirty="0">
              <a:effectLst/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16DA72-6CCD-41D5-9F04-630238DE2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95" y="2947766"/>
            <a:ext cx="4323567" cy="54044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8D04487-883A-4E30-8F36-DF9CBB9FAB3B}"/>
              </a:ext>
            </a:extLst>
          </p:cNvPr>
          <p:cNvSpPr txBox="1"/>
          <p:nvPr/>
        </p:nvSpPr>
        <p:spPr>
          <a:xfrm>
            <a:off x="3063965" y="5988234"/>
            <a:ext cx="6254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正动力学是“期望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quote-cjk-patch"/>
              </a:rPr>
              <a:t>的</a:t>
            </a:r>
            <a:r>
              <a:rPr lang="zh-CN" altLang="en-US" sz="2400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结果→需要的原因”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9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12646" y="466898"/>
            <a:ext cx="7166708" cy="7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动力学建模的主流方法</a:t>
            </a:r>
            <a:endParaRPr lang="zh-CN" altLang="en-US" sz="2400" b="1" i="0" dirty="0">
              <a:effectLst/>
              <a:latin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582DF90-833E-4000-ABAB-DB82BF912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23350"/>
              </p:ext>
            </p:extLst>
          </p:nvPr>
        </p:nvGraphicFramePr>
        <p:xfrm>
          <a:off x="1109785" y="1349130"/>
          <a:ext cx="10167815" cy="4751212"/>
        </p:xfrm>
        <a:graphic>
          <a:graphicData uri="http://schemas.openxmlformats.org/drawingml/2006/table">
            <a:tbl>
              <a:tblPr/>
              <a:tblGrid>
                <a:gridCol w="1172578">
                  <a:extLst>
                    <a:ext uri="{9D8B030D-6E8A-4147-A177-3AD203B41FA5}">
                      <a16:colId xmlns:a16="http://schemas.microsoft.com/office/drawing/2014/main" val="2866664254"/>
                    </a:ext>
                  </a:extLst>
                </a:gridCol>
                <a:gridCol w="4427919">
                  <a:extLst>
                    <a:ext uri="{9D8B030D-6E8A-4147-A177-3AD203B41FA5}">
                      <a16:colId xmlns:a16="http://schemas.microsoft.com/office/drawing/2014/main" val="1250346518"/>
                    </a:ext>
                  </a:extLst>
                </a:gridCol>
                <a:gridCol w="4567318">
                  <a:extLst>
                    <a:ext uri="{9D8B030D-6E8A-4147-A177-3AD203B41FA5}">
                      <a16:colId xmlns:a16="http://schemas.microsoft.com/office/drawing/2014/main" val="261452139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特性</a:t>
                      </a: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拉格朗日法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Lagrange Method)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牛顿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欧拉法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Newton-Euler Method)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34085"/>
                  </a:ext>
                </a:extLst>
              </a:tr>
              <a:tr h="801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基本原理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基于系统总动能和总势能的标量函数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基于每个连杆的牛顿第二定律 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effectLst/>
                        </a:rPr>
                        <a:t>(F=ma)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和欧拉方程 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effectLst/>
                        </a:rPr>
                        <a:t>(N=Iα+ω×Iω)</a:t>
                      </a:r>
                    </a:p>
                  </a:txBody>
                  <a:tcPr marL="26184" marR="31421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426141"/>
                  </a:ext>
                </a:extLst>
              </a:tr>
              <a:tr h="13915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推导过程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1.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计算总动能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K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和总势能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b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2.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构造拉格朗日函数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L = K - P</a:t>
                      </a:r>
                      <a:b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3.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代入拉格朗日方程 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1. 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向外递推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：从基座到末端，计算每个连杆的速度、加速度</a:t>
                      </a:r>
                      <a:b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2. 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向内递推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：从末端到基座，计算每个连杆受到的力和力矩</a:t>
                      </a:r>
                    </a:p>
                  </a:txBody>
                  <a:tcPr marL="26184" marR="31421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60157"/>
                  </a:ext>
                </a:extLst>
              </a:tr>
              <a:tr h="5136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最终形式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得到一个封闭的、结构清晰的矩阵方程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得到一组高效的递推计算公式</a:t>
                      </a:r>
                    </a:p>
                  </a:txBody>
                  <a:tcPr marL="26184" marR="31421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44157"/>
                  </a:ext>
                </a:extLst>
              </a:tr>
              <a:tr h="7765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优点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物理意义清晰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：方程中的每一项都有明确的能量来源。适合理论分析和控制器设计。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effectLst/>
                        </a:rPr>
                        <a:t>计算效率高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：递推形式特别适合计算机编程实现，常用于实时控制。</a:t>
                      </a:r>
                    </a:p>
                  </a:txBody>
                  <a:tcPr marL="26184" marR="31421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827796"/>
                  </a:ext>
                </a:extLst>
              </a:tr>
              <a:tr h="7538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</a:rPr>
                        <a:t>缺点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421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对于多自由度系统，手动求导繁琐、容易出错。</a:t>
                      </a:r>
                    </a:p>
                  </a:txBody>
                  <a:tcPr marL="26184" marR="26184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物理意义不如拉格朗日法直观，各耦合项隐含在递推过程中。</a:t>
                      </a:r>
                    </a:p>
                  </a:txBody>
                  <a:tcPr marL="26184" marR="31421" marT="16365" marB="16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96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4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719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动力学建模的主流方法</a:t>
            </a:r>
            <a:endParaRPr lang="zh-CN" altLang="en-US" sz="2400" b="1" i="0" dirty="0">
              <a:effectLst/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09FE7D-0F51-4B03-9BC8-4A1D2967C58A}"/>
              </a:ext>
            </a:extLst>
          </p:cNvPr>
          <p:cNvSpPr txBox="1"/>
          <p:nvPr/>
        </p:nvSpPr>
        <p:spPr>
          <a:xfrm>
            <a:off x="1527053" y="1832976"/>
            <a:ext cx="9689552" cy="3628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0" i="0" dirty="0">
                <a:effectLst/>
                <a:latin typeface="+mj-ea"/>
                <a:ea typeface="+mj-ea"/>
              </a:rPr>
              <a:t>两种方法是等价的，只是看待问题角度和出发点不同</a:t>
            </a:r>
            <a:r>
              <a:rPr lang="zh-CN" altLang="en-US" sz="2400" dirty="0">
                <a:latin typeface="+mj-ea"/>
                <a:ea typeface="+mj-ea"/>
              </a:rPr>
              <a:t>。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250000"/>
              </a:lnSpc>
            </a:pPr>
            <a:r>
              <a:rPr lang="en-US" altLang="zh-CN" sz="2400" dirty="0">
                <a:latin typeface="+mj-ea"/>
                <a:ea typeface="+mj-ea"/>
              </a:rPr>
              <a:t>1 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一个从“全局能量”出发，一个从“局部力</a:t>
            </a:r>
            <a:r>
              <a:rPr lang="en-US" altLang="zh-CN" sz="2400" b="0" i="0" dirty="0">
                <a:effectLst/>
                <a:latin typeface="+mj-ea"/>
                <a:ea typeface="+mj-ea"/>
              </a:rPr>
              <a:t>/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力矩平衡”出发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250000"/>
              </a:lnSpc>
            </a:pPr>
            <a:r>
              <a:rPr lang="en-US" altLang="zh-CN" sz="2400" dirty="0">
                <a:latin typeface="+mj-ea"/>
                <a:ea typeface="+mj-ea"/>
              </a:rPr>
              <a:t>2</a:t>
            </a:r>
            <a:r>
              <a:rPr lang="en-US" altLang="zh-CN" sz="2400" b="0" i="0" dirty="0">
                <a:effectLst/>
                <a:latin typeface="+mj-ea"/>
                <a:ea typeface="+mj-ea"/>
              </a:rPr>
              <a:t> 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拉格朗日法给我们“洞察”，牛顿</a:t>
            </a:r>
            <a:r>
              <a:rPr lang="en-US" altLang="zh-CN" sz="2400" b="0" i="0" dirty="0">
                <a:effectLst/>
                <a:latin typeface="+mj-ea"/>
                <a:ea typeface="+mj-ea"/>
              </a:rPr>
              <a:t>-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欧拉法给我们“效率”。</a:t>
            </a:r>
            <a:endParaRPr lang="en-US" altLang="zh-CN" sz="2400" b="0" i="0" dirty="0">
              <a:effectLst/>
              <a:latin typeface="+mj-ea"/>
              <a:ea typeface="+mj-ea"/>
            </a:endParaRPr>
          </a:p>
          <a:p>
            <a:pPr>
              <a:lnSpc>
                <a:spcPct val="250000"/>
              </a:lnSpc>
            </a:pPr>
            <a:r>
              <a:rPr lang="en-US" altLang="zh-CN" sz="2400" dirty="0">
                <a:latin typeface="+mj-ea"/>
                <a:ea typeface="+mj-ea"/>
              </a:rPr>
              <a:t>3 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常用拉格朗日法推导方程结构，再用牛顿</a:t>
            </a:r>
            <a:r>
              <a:rPr lang="en-US" altLang="zh-CN" sz="2400" b="0" i="0" dirty="0">
                <a:effectLst/>
                <a:latin typeface="+mj-ea"/>
                <a:ea typeface="+mj-ea"/>
              </a:rPr>
              <a:t>-</a:t>
            </a:r>
            <a:r>
              <a:rPr lang="zh-CN" altLang="en-US" sz="2400" b="0" i="0" dirty="0">
                <a:effectLst/>
                <a:latin typeface="+mj-ea"/>
                <a:ea typeface="+mj-ea"/>
              </a:rPr>
              <a:t>欧拉法编写高效计算代码。</a:t>
            </a:r>
            <a:endParaRPr lang="en-US" altLang="zh-CN" sz="2400" b="0" i="0" dirty="0"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410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基础概念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动力学方程的一般形式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92F75D-BF1B-4573-99BA-D417973D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095" y="1705255"/>
            <a:ext cx="4723809" cy="5714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121BC04-EF22-4D8B-9BED-B499D18AA0F4}"/>
              </a:ext>
            </a:extLst>
          </p:cNvPr>
          <p:cNvSpPr txBox="1"/>
          <p:nvPr/>
        </p:nvSpPr>
        <p:spPr>
          <a:xfrm>
            <a:off x="1302788" y="2383343"/>
            <a:ext cx="9742732" cy="308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i="0" dirty="0">
                <a:effectLst/>
                <a:latin typeface="quote-cjk-patch"/>
              </a:rPr>
              <a:t>1 </a:t>
            </a:r>
            <a:r>
              <a:rPr lang="zh-CN" altLang="en-US" sz="2000" b="1" i="0" dirty="0">
                <a:effectLst/>
                <a:latin typeface="quote-cjk-patch"/>
              </a:rPr>
              <a:t>惯性力：为了产生关节加速度所需要克服的自身惯性力矩；惯性矩阵是</a:t>
            </a:r>
            <a:r>
              <a:rPr lang="zh-CN" altLang="en-US" sz="2000" b="0" i="0" dirty="0">
                <a:effectLst/>
                <a:latin typeface="quote-cjk-patch"/>
              </a:rPr>
              <a:t>关节位置的函数，机器人构型变化会导致其整体的等效转动惯量发生变化；</a:t>
            </a:r>
            <a:endParaRPr lang="en-US" altLang="zh-CN" sz="2000" b="0" i="0" dirty="0">
              <a:effectLst/>
              <a:latin typeface="quote-cjk-patch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i="0" dirty="0">
                <a:effectLst/>
                <a:latin typeface="quote-cjk-patch"/>
              </a:rPr>
              <a:t>2 </a:t>
            </a:r>
            <a:r>
              <a:rPr lang="zh-CN" altLang="en-US" sz="2000" b="1" i="0" dirty="0">
                <a:effectLst/>
                <a:latin typeface="quote-cjk-patch"/>
              </a:rPr>
              <a:t>速度相关项</a:t>
            </a:r>
            <a:r>
              <a:rPr lang="zh-CN" altLang="en-US" sz="2000" dirty="0">
                <a:latin typeface="quote-cjk-patch"/>
              </a:rPr>
              <a:t>：</a:t>
            </a:r>
            <a:r>
              <a:rPr lang="zh-CN" altLang="en-US" sz="2000" b="0" i="0" dirty="0">
                <a:effectLst/>
                <a:latin typeface="quote-cjk-patch"/>
              </a:rPr>
              <a:t>机器人关节速度会产生一种虚拟力，包含</a:t>
            </a:r>
            <a:r>
              <a:rPr lang="zh-CN" altLang="en-US" sz="2000" b="1" i="0" dirty="0">
                <a:effectLst/>
                <a:latin typeface="quote-cjk-patch"/>
              </a:rPr>
              <a:t>离心力</a:t>
            </a:r>
            <a:r>
              <a:rPr lang="zh-CN" altLang="en-US" sz="2000" b="0" i="0" dirty="0">
                <a:effectLst/>
                <a:latin typeface="quote-cjk-patch"/>
              </a:rPr>
              <a:t>（与单个关节速度平方相关）和</a:t>
            </a:r>
            <a:r>
              <a:rPr lang="zh-CN" altLang="en-US" sz="2000" b="1" i="0" dirty="0">
                <a:effectLst/>
                <a:latin typeface="quote-cjk-patch"/>
              </a:rPr>
              <a:t>科里奥利力</a:t>
            </a:r>
            <a:r>
              <a:rPr lang="zh-CN" altLang="en-US" sz="2000" b="0" i="0" dirty="0">
                <a:effectLst/>
                <a:latin typeface="quote-cjk-patch"/>
              </a:rPr>
              <a:t>（与不同关节速度的乘积相关）；</a:t>
            </a:r>
            <a:endParaRPr lang="en-US" altLang="zh-CN" sz="2000" b="0" i="0" dirty="0">
              <a:effectLst/>
              <a:latin typeface="quote-cjk-patch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i="0" dirty="0">
                <a:effectLst/>
                <a:latin typeface="quote-cjk-patch"/>
              </a:rPr>
              <a:t>3 </a:t>
            </a:r>
            <a:r>
              <a:rPr lang="zh-CN" altLang="en-US" sz="2000" b="1" i="0" dirty="0">
                <a:effectLst/>
                <a:latin typeface="quote-cjk-patch"/>
              </a:rPr>
              <a:t>重力项</a:t>
            </a:r>
            <a:r>
              <a:rPr lang="zh-CN" altLang="en-US" sz="2000" dirty="0">
                <a:latin typeface="quote-cjk-patch"/>
              </a:rPr>
              <a:t>：</a:t>
            </a:r>
            <a:r>
              <a:rPr lang="zh-CN" altLang="en-US" sz="2000" b="1" i="0" dirty="0">
                <a:effectLst/>
                <a:latin typeface="quote-cjk-patch"/>
              </a:rPr>
              <a:t>克服重力影响的关节力矩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1B2380-CE44-429A-BE25-F51E646D225B}"/>
              </a:ext>
            </a:extLst>
          </p:cNvPr>
          <p:cNvSpPr txBox="1"/>
          <p:nvPr/>
        </p:nvSpPr>
        <p:spPr>
          <a:xfrm>
            <a:off x="2055446" y="5908638"/>
            <a:ext cx="869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0" i="1" dirty="0">
                <a:effectLst/>
                <a:latin typeface="quote-cjk-patch"/>
              </a:rPr>
              <a:t>思考：为什么说惯性矩阵是位姿的函数？可以举一个生活中的例子吗？</a:t>
            </a:r>
            <a:endParaRPr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1058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拉格朗日法的基本原理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594750-ABCB-4E1E-8C5E-3F395E75D376}"/>
              </a:ext>
            </a:extLst>
          </p:cNvPr>
          <p:cNvSpPr txBox="1"/>
          <p:nvPr/>
        </p:nvSpPr>
        <p:spPr>
          <a:xfrm>
            <a:off x="1742830" y="1642447"/>
            <a:ext cx="9315939" cy="96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 b="0" i="0" dirty="0">
                <a:effectLst/>
                <a:latin typeface="quote-cjk-patch"/>
              </a:rPr>
              <a:t>1 </a:t>
            </a:r>
            <a:r>
              <a:rPr lang="zh-CN" altLang="en-US" sz="2000" b="0" i="0" dirty="0">
                <a:effectLst/>
                <a:latin typeface="quote-cjk-patch"/>
              </a:rPr>
              <a:t>将复杂的矢量力学问题（受力分析）转化为简单的标量力学问题（能量分析）</a:t>
            </a:r>
            <a:endParaRPr lang="en-US" altLang="zh-CN" sz="2000" b="0" i="0" dirty="0">
              <a:effectLst/>
              <a:latin typeface="quote-cjk-patch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0" i="0" dirty="0">
                <a:effectLst/>
                <a:latin typeface="quote-cjk-patch"/>
              </a:rPr>
              <a:t>2 </a:t>
            </a:r>
            <a:r>
              <a:rPr lang="zh-CN" altLang="en-US" sz="2000" b="0" i="0" dirty="0">
                <a:effectLst/>
                <a:latin typeface="quote-cjk-patch"/>
              </a:rPr>
              <a:t>不再需要关注系统内部复杂的约束力，只需关注系统的总动能和总势能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A5AB63-00A7-401A-932A-8FF1F877F60B}"/>
              </a:ext>
            </a:extLst>
          </p:cNvPr>
          <p:cNvSpPr txBox="1"/>
          <p:nvPr/>
        </p:nvSpPr>
        <p:spPr>
          <a:xfrm>
            <a:off x="543169" y="3326921"/>
            <a:ext cx="7334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i="0" dirty="0">
                <a:effectLst/>
                <a:latin typeface="+mj-ea"/>
                <a:ea typeface="+mj-ea"/>
              </a:rPr>
              <a:t>拉格朗日函数 </a:t>
            </a:r>
            <a:r>
              <a:rPr lang="en-US" altLang="zh-CN" sz="2000" b="1" i="0" dirty="0">
                <a:effectLst/>
                <a:latin typeface="+mj-ea"/>
                <a:ea typeface="+mj-ea"/>
              </a:rPr>
              <a:t>L</a:t>
            </a:r>
            <a:r>
              <a:rPr lang="zh-CN" altLang="en-US" sz="2000" b="0" i="0" dirty="0">
                <a:effectLst/>
                <a:latin typeface="+mj-ea"/>
                <a:ea typeface="+mj-ea"/>
              </a:rPr>
              <a:t>：定义为系统的</a:t>
            </a:r>
            <a:r>
              <a:rPr lang="zh-CN" altLang="en-US" sz="2000" b="1" i="0" dirty="0">
                <a:effectLst/>
                <a:latin typeface="+mj-ea"/>
                <a:ea typeface="+mj-ea"/>
              </a:rPr>
              <a:t>总动能</a:t>
            </a:r>
            <a:r>
              <a:rPr lang="en-US" altLang="zh-CN" sz="2000" b="1" i="0" dirty="0">
                <a:effectLst/>
                <a:latin typeface="+mj-ea"/>
                <a:ea typeface="+mj-ea"/>
              </a:rPr>
              <a:t>K</a:t>
            </a:r>
            <a:r>
              <a:rPr lang="zh-CN" altLang="en-US" sz="2000" b="0" i="0" dirty="0">
                <a:effectLst/>
                <a:latin typeface="+mj-ea"/>
                <a:ea typeface="+mj-ea"/>
              </a:rPr>
              <a:t>减去</a:t>
            </a:r>
            <a:r>
              <a:rPr lang="zh-CN" altLang="en-US" sz="2000" b="1" i="0" dirty="0">
                <a:effectLst/>
                <a:latin typeface="+mj-ea"/>
                <a:ea typeface="+mj-ea"/>
              </a:rPr>
              <a:t>总势能 </a:t>
            </a:r>
            <a:r>
              <a:rPr lang="en-US" altLang="zh-CN" sz="2000" b="1" i="0" dirty="0">
                <a:effectLst/>
                <a:latin typeface="+mj-ea"/>
                <a:ea typeface="+mj-ea"/>
              </a:rPr>
              <a:t>P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AD18A7-58D1-48C2-9645-8EABC6DA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26" y="3260309"/>
            <a:ext cx="1904762" cy="53333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C08D93E-24A3-49CE-B615-22ABF54CC72A}"/>
              </a:ext>
            </a:extLst>
          </p:cNvPr>
          <p:cNvSpPr txBox="1"/>
          <p:nvPr/>
        </p:nvSpPr>
        <p:spPr>
          <a:xfrm>
            <a:off x="855786" y="4549344"/>
            <a:ext cx="24032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b="1" i="0"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拉格朗日方程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9F8E37C-7A0D-4AAA-B6C9-B2DBCD7B6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137" y="3952643"/>
            <a:ext cx="4644355" cy="201133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226EA9E-9663-4EAB-8893-08DFE3540275}"/>
              </a:ext>
            </a:extLst>
          </p:cNvPr>
          <p:cNvSpPr txBox="1"/>
          <p:nvPr/>
        </p:nvSpPr>
        <p:spPr>
          <a:xfrm>
            <a:off x="1352061" y="6127073"/>
            <a:ext cx="9722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i="0" dirty="0">
                <a:effectLst/>
                <a:latin typeface="quote-cjk-patch"/>
              </a:rPr>
              <a:t>系统广义动量的变化率，减去由位置变化引起的广义力，等于外部施加的驱动力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5057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latin typeface="quote-cjk-patch"/>
              </a:rPr>
              <a:t>系统总动能计算</a:t>
            </a:r>
            <a:endParaRPr lang="zh-CN" altLang="en-US" sz="2400" b="1" i="0" dirty="0">
              <a:effectLst/>
              <a:latin typeface="quote-cjk-patch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834D94-0528-48BD-AA14-257BB011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59290"/>
            <a:ext cx="10699261" cy="357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25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如何计算平动速度和转动速度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92CEBD-9702-4B60-8D23-3E6DF4BC1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74" y="1716857"/>
            <a:ext cx="8003560" cy="28160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7589DF-00BE-4B31-8FDD-AD7A9C836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75" y="4905595"/>
            <a:ext cx="11448049" cy="55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49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单连杆的动能计算实例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620A0A-97BB-4E00-B891-E416B441702C}"/>
              </a:ext>
            </a:extLst>
          </p:cNvPr>
          <p:cNvSpPr txBox="1"/>
          <p:nvPr/>
        </p:nvSpPr>
        <p:spPr>
          <a:xfrm>
            <a:off x="2781086" y="1588761"/>
            <a:ext cx="6629827" cy="143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一个单连杆，质量为</a:t>
            </a:r>
            <a:r>
              <a:rPr lang="en-US" altLang="zh-CN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，质心距离转轴距离为</a:t>
            </a:r>
            <a:r>
              <a:rPr lang="en-US" altLang="zh-CN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转动惯量为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，其角度为</a:t>
            </a:r>
            <a:r>
              <a:rPr lang="en-US" altLang="zh-CN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θ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2CDC7B-F7FB-49F6-8ED6-74FA0C24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53" y="3429000"/>
            <a:ext cx="9676190" cy="19047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8305A4B-B98A-4DD0-B722-4E73D03051DD}"/>
              </a:ext>
            </a:extLst>
          </p:cNvPr>
          <p:cNvSpPr txBox="1"/>
          <p:nvPr/>
        </p:nvSpPr>
        <p:spPr>
          <a:xfrm>
            <a:off x="2590800" y="5810531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动手编程：单连杆动能计算</a:t>
            </a:r>
            <a:r>
              <a:rPr lang="en-US" altLang="zh-CN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.</a:t>
            </a:r>
            <a:r>
              <a:rPr lang="en-US" altLang="zh-CN" sz="2400" b="1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py</a:t>
            </a:r>
            <a:endParaRPr lang="zh-CN" altLang="en-US" sz="2400" b="1" i="0" dirty="0"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DA985D-39FD-4B21-BE9C-655C7887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941" y="585804"/>
            <a:ext cx="176930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0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系统总势能计算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A4D2BB-1F8D-4B18-A19A-2F132713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08" y="1713664"/>
            <a:ext cx="11382263" cy="18970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5DBAFE-6B38-4303-AB7C-AD8615FAD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878" y="4039574"/>
            <a:ext cx="4780952" cy="11047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902CA04-2EF8-4B20-84BE-4DB06FE7D868}"/>
              </a:ext>
            </a:extLst>
          </p:cNvPr>
          <p:cNvSpPr txBox="1"/>
          <p:nvPr/>
        </p:nvSpPr>
        <p:spPr>
          <a:xfrm>
            <a:off x="1819031" y="4361122"/>
            <a:ext cx="17545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总势能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CCB761-723F-46BA-86E0-D938AADA1D15}"/>
              </a:ext>
            </a:extLst>
          </p:cNvPr>
          <p:cNvSpPr txBox="1"/>
          <p:nvPr/>
        </p:nvSpPr>
        <p:spPr>
          <a:xfrm>
            <a:off x="3407509" y="5803868"/>
            <a:ext cx="5759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accent3"/>
                </a:solidFill>
                <a:effectLst/>
                <a:latin typeface="quote-cjk-patch"/>
              </a:rPr>
              <a:t>势能只与位置有关，与速度无关</a:t>
            </a:r>
            <a:endParaRPr lang="zh-CN" altLang="en-US" sz="2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616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590800" y="94936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单连杆的</a:t>
            </a:r>
            <a:r>
              <a:rPr lang="zh-CN" altLang="en-US" sz="2400" b="1" dirty="0">
                <a:latin typeface="quote-cjk-patch"/>
              </a:rPr>
              <a:t>势能</a:t>
            </a:r>
            <a:r>
              <a:rPr lang="zh-CN" altLang="en-US" sz="2400" b="1" i="0" dirty="0">
                <a:effectLst/>
                <a:latin typeface="quote-cjk-patch"/>
              </a:rPr>
              <a:t>计算实例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305A4B-B98A-4DD0-B722-4E73D03051DD}"/>
              </a:ext>
            </a:extLst>
          </p:cNvPr>
          <p:cNvSpPr txBox="1"/>
          <p:nvPr/>
        </p:nvSpPr>
        <p:spPr>
          <a:xfrm>
            <a:off x="253999" y="4353308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动手编程：单连杆</a:t>
            </a:r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quote-cjk-patch"/>
              </a:rPr>
              <a:t>势能</a:t>
            </a:r>
            <a:r>
              <a:rPr lang="zh-CN" altLang="en-US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计算</a:t>
            </a:r>
            <a:r>
              <a:rPr lang="en-US" altLang="zh-CN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.</a:t>
            </a:r>
            <a:r>
              <a:rPr lang="en-US" altLang="zh-CN" sz="2400" b="1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py</a:t>
            </a:r>
            <a:endParaRPr lang="zh-CN" altLang="en-US" sz="2400" b="1" i="0" dirty="0"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6CEA3E-DAC7-47CB-ACEE-048004E1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33" y="1854766"/>
            <a:ext cx="11333333" cy="12571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16F80F-7268-498F-8732-BD11BFAB8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064" y="3172696"/>
            <a:ext cx="176930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9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652154" y="785305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单连杆的</a:t>
            </a:r>
            <a:r>
              <a:rPr lang="zh-CN" altLang="en-US" sz="2400" b="1" dirty="0">
                <a:latin typeface="quote-cjk-patch"/>
              </a:rPr>
              <a:t>拉格朗日方程</a:t>
            </a:r>
            <a:endParaRPr lang="zh-CN" altLang="en-US" sz="2400" b="1" i="0" dirty="0">
              <a:effectLst/>
              <a:latin typeface="quote-cjk-patch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FDFEEE-3202-4CD4-8CD2-E7C97B9CF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955" y="1332807"/>
            <a:ext cx="7505105" cy="444302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28E4429-C667-4753-82F4-3979B4263AF8}"/>
              </a:ext>
            </a:extLst>
          </p:cNvPr>
          <p:cNvSpPr txBox="1"/>
          <p:nvPr/>
        </p:nvSpPr>
        <p:spPr>
          <a:xfrm>
            <a:off x="2512646" y="6072695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动手编程：</a:t>
            </a:r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quote-cjk-patch"/>
              </a:rPr>
              <a:t>单摆的拉格朗日方程</a:t>
            </a:r>
            <a:r>
              <a:rPr lang="en-US" altLang="zh-CN" sz="2400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.</a:t>
            </a:r>
            <a:r>
              <a:rPr lang="en-US" altLang="zh-CN" sz="2400" b="1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py</a:t>
            </a:r>
            <a:endParaRPr lang="zh-CN" altLang="en-US" sz="2400" b="1" i="0" dirty="0"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74305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652154" y="785305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二连杆机构的拉格朗日推导步骤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E44FC2-6755-42EF-BE28-4B1663E1E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05" y="1874014"/>
            <a:ext cx="6594763" cy="27683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E32E1E-151A-4C30-8A86-EA90D64B8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479" y="1874014"/>
            <a:ext cx="4222721" cy="283774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009E42-DD36-47F0-A0AE-015689254C69}"/>
              </a:ext>
            </a:extLst>
          </p:cNvPr>
          <p:cNvSpPr txBox="1"/>
          <p:nvPr/>
        </p:nvSpPr>
        <p:spPr>
          <a:xfrm>
            <a:off x="2022831" y="5703363"/>
            <a:ext cx="8395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effectLst/>
                <a:latin typeface="quote-cjk-patch"/>
              </a:rPr>
              <a:t>不进行繁琐的纯数学推导，应理解推导的逻辑和难点来源。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1881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2620893" y="72278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拉格朗日法小结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461EAA-559E-412C-A73F-18F78FC082D1}"/>
              </a:ext>
            </a:extLst>
          </p:cNvPr>
          <p:cNvSpPr txBox="1"/>
          <p:nvPr/>
        </p:nvSpPr>
        <p:spPr>
          <a:xfrm>
            <a:off x="1652956" y="1184447"/>
            <a:ext cx="9554307" cy="544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i="0" dirty="0">
                <a:solidFill>
                  <a:schemeClr val="accent3"/>
                </a:solidFill>
                <a:effectLst/>
                <a:latin typeface="quote-cjk-patch"/>
              </a:rPr>
              <a:t>1 </a:t>
            </a:r>
            <a:r>
              <a:rPr lang="zh-CN" altLang="en-US" b="1" i="0" dirty="0">
                <a:solidFill>
                  <a:schemeClr val="accent3"/>
                </a:solidFill>
                <a:effectLst/>
                <a:latin typeface="quote-cjk-patch"/>
              </a:rPr>
              <a:t>优点</a:t>
            </a:r>
            <a:r>
              <a:rPr lang="zh-CN" altLang="en-US" b="0" i="0" dirty="0">
                <a:solidFill>
                  <a:schemeClr val="accent3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quote-cjk-patch"/>
              </a:rPr>
              <a:t>系统性强</a:t>
            </a:r>
            <a:r>
              <a:rPr lang="zh-CN" altLang="en-US" b="0" i="0" dirty="0">
                <a:effectLst/>
                <a:latin typeface="quote-cjk-patch"/>
              </a:rPr>
              <a:t>：提供了一个程式化的建模步骤（写能量→求导→得方程）。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quote-cjk-patch"/>
              </a:rPr>
              <a:t>物理意义明确</a:t>
            </a:r>
            <a:r>
              <a:rPr lang="zh-CN" altLang="en-US" b="0" i="0" dirty="0">
                <a:effectLst/>
                <a:latin typeface="quote-cjk-patch"/>
              </a:rPr>
              <a:t>：方程中每一项（</a:t>
            </a:r>
            <a:r>
              <a:rPr lang="en-US" altLang="zh-CN" b="0" i="0" dirty="0">
                <a:effectLst/>
                <a:latin typeface="quote-cjk-patch"/>
              </a:rPr>
              <a:t>M, C, G</a:t>
            </a:r>
            <a:r>
              <a:rPr lang="zh-CN" altLang="en-US" b="0" i="0" dirty="0">
                <a:effectLst/>
                <a:latin typeface="quote-cjk-patch"/>
              </a:rPr>
              <a:t>）都与特定的能量形式相关联，便于进行系统分析和控制设计（如基于能量的李雅普诺夫控制）。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quote-cjk-patch"/>
              </a:rPr>
              <a:t>避免内力分析</a:t>
            </a:r>
            <a:r>
              <a:rPr lang="zh-CN" altLang="en-US" b="0" i="0" dirty="0">
                <a:effectLst/>
                <a:latin typeface="quote-cjk-patch"/>
              </a:rPr>
              <a:t>：不需要考虑连杆之间的约束反力，大大简化了推导过程。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3"/>
                </a:solidFill>
                <a:latin typeface="quote-cjk-patch"/>
              </a:rPr>
              <a:t>2 </a:t>
            </a:r>
            <a:r>
              <a:rPr lang="zh-CN" altLang="en-US" b="1" dirty="0">
                <a:solidFill>
                  <a:schemeClr val="accent3"/>
                </a:solidFill>
                <a:latin typeface="quote-cjk-patch"/>
              </a:rPr>
              <a:t>缺点：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quote-cjk-patch"/>
              </a:rPr>
              <a:t>计算量大：多自由度系统手动推导动能和势能，特别是求雅可比矩阵和进行符号求导，会变得极其繁琐和容易出错。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quote-cjk-patch"/>
              </a:rPr>
              <a:t>效率问题：直接按最终矩阵形式编程计算，效率不如递推算法。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3"/>
                </a:solidFill>
                <a:latin typeface="quote-cjk-patch"/>
              </a:rPr>
              <a:t>3 </a:t>
            </a:r>
            <a:r>
              <a:rPr lang="zh-CN" altLang="en-US" b="1" dirty="0">
                <a:solidFill>
                  <a:schemeClr val="accent3"/>
                </a:solidFill>
                <a:latin typeface="quote-cjk-patch"/>
              </a:rPr>
              <a:t>应用场景：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quote-cjk-patch"/>
              </a:rPr>
              <a:t>学习、理解和推导机器人动力学的基本结构和性质。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quote-cjk-patch"/>
              </a:rPr>
              <a:t>设计基于模型的控制算法，如计算力矩控制、自适应控制。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quote-cjk-patch"/>
              </a:rPr>
              <a:t>使用符号计算软件（如</a:t>
            </a:r>
            <a:r>
              <a:rPr lang="en-US" altLang="zh-CN" b="1" dirty="0">
                <a:latin typeface="quote-cjk-patch"/>
              </a:rPr>
              <a:t>MATLAB Symbolic Toolbox</a:t>
            </a:r>
            <a:r>
              <a:rPr lang="zh-CN" altLang="en-US" b="1" dirty="0">
                <a:latin typeface="quote-cjk-patch"/>
              </a:rPr>
              <a:t>）进行辅助建模。</a:t>
            </a:r>
          </a:p>
        </p:txBody>
      </p:sp>
    </p:spTree>
    <p:extLst>
      <p:ext uri="{BB962C8B-B14F-4D97-AF65-F5344CB8AC3E}">
        <p14:creationId xmlns:p14="http://schemas.microsoft.com/office/powerpoint/2010/main" val="1887446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7" y="148492"/>
            <a:ext cx="2338512" cy="636813"/>
          </a:xfrm>
        </p:spPr>
        <p:txBody>
          <a:bodyPr/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拉格朗日法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6A272C-3487-4481-8CC3-4E18E7B01CBF}"/>
              </a:ext>
            </a:extLst>
          </p:cNvPr>
          <p:cNvSpPr txBox="1"/>
          <p:nvPr/>
        </p:nvSpPr>
        <p:spPr>
          <a:xfrm>
            <a:off x="698309" y="6061072"/>
            <a:ext cx="107199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请编程实现，先运动学分析，后动力学分析，可参考</a:t>
            </a:r>
            <a:r>
              <a:rPr lang="en-US" altLang="zh-CN" sz="2400" b="1" i="0">
                <a:effectLst/>
                <a:latin typeface="quote-cjk-patch"/>
              </a:rPr>
              <a:t>: </a:t>
            </a:r>
            <a:r>
              <a:rPr lang="zh-CN" altLang="en-US" sz="2000" i="1">
                <a:solidFill>
                  <a:schemeClr val="accent3"/>
                </a:solidFill>
                <a:effectLst/>
                <a:latin typeface="quote-cjk-patch"/>
              </a:rPr>
              <a:t>二</a:t>
            </a:r>
            <a:r>
              <a:rPr lang="zh-CN" altLang="en-US" sz="2000" i="1" dirty="0">
                <a:solidFill>
                  <a:schemeClr val="accent3"/>
                </a:solidFill>
                <a:effectLst/>
                <a:latin typeface="quote-cjk-patch"/>
              </a:rPr>
              <a:t>连杆的拉格朗日分析</a:t>
            </a:r>
            <a:r>
              <a:rPr lang="en-US" altLang="zh-CN" sz="2000" i="1" dirty="0">
                <a:solidFill>
                  <a:schemeClr val="accent3"/>
                </a:solidFill>
                <a:effectLst/>
                <a:latin typeface="quote-cjk-patch"/>
              </a:rPr>
              <a:t>.</a:t>
            </a:r>
            <a:r>
              <a:rPr lang="en-US" altLang="zh-CN" sz="2000" i="1" dirty="0" err="1">
                <a:solidFill>
                  <a:schemeClr val="accent3"/>
                </a:solidFill>
                <a:effectLst/>
                <a:latin typeface="quote-cjk-patch"/>
              </a:rPr>
              <a:t>py</a:t>
            </a:r>
            <a:endParaRPr lang="zh-CN" altLang="en-US" sz="2000" i="1" dirty="0">
              <a:solidFill>
                <a:schemeClr val="accent3"/>
              </a:solidFill>
              <a:effectLst/>
              <a:latin typeface="quote-cjk-patch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F140C9-B4FA-4F56-BCC4-97A71F24B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02" y="1553497"/>
            <a:ext cx="3138075" cy="3970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242C60-F91B-4C42-9DB5-5BC400B21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069" y="1905190"/>
            <a:ext cx="5371429" cy="304761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448955" y="872622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平面二连杆的拉格朗日法动力学分析</a:t>
            </a:r>
          </a:p>
        </p:txBody>
      </p:sp>
    </p:spTree>
    <p:extLst>
      <p:ext uri="{BB962C8B-B14F-4D97-AF65-F5344CB8AC3E}">
        <p14:creationId xmlns:p14="http://schemas.microsoft.com/office/powerpoint/2010/main" val="2556078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牛顿</a:t>
            </a:r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欧拉法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41263" y="758409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牛顿</a:t>
            </a:r>
            <a:r>
              <a:rPr lang="en-US" altLang="zh-CN" sz="2400" b="1" i="0" dirty="0">
                <a:effectLst/>
                <a:latin typeface="quote-cjk-patch"/>
              </a:rPr>
              <a:t>-</a:t>
            </a:r>
            <a:r>
              <a:rPr lang="zh-CN" altLang="en-US" sz="2400" b="1" i="0" dirty="0">
                <a:effectLst/>
                <a:latin typeface="quote-cjk-patch"/>
              </a:rPr>
              <a:t>欧拉法的基本思想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DAE015-43AC-411C-A9A6-A11B628CDC24}"/>
              </a:ext>
            </a:extLst>
          </p:cNvPr>
          <p:cNvSpPr txBox="1"/>
          <p:nvPr/>
        </p:nvSpPr>
        <p:spPr>
          <a:xfrm>
            <a:off x="904719" y="1307391"/>
            <a:ext cx="10443042" cy="14282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核心思想</a:t>
            </a:r>
            <a:r>
              <a:rPr lang="zh-CN" altLang="en-US" sz="2000" b="0" i="0" dirty="0">
                <a:effectLst/>
                <a:latin typeface="quote-cjk-patch"/>
              </a:rPr>
              <a:t>：回到力学的本源，对每一个连杆应用</a:t>
            </a:r>
            <a:r>
              <a:rPr lang="zh-CN" altLang="en-US" sz="2000" b="1" i="0" dirty="0">
                <a:effectLst/>
                <a:latin typeface="quote-cjk-patch"/>
              </a:rPr>
              <a:t>牛顿方程</a:t>
            </a:r>
            <a:r>
              <a:rPr lang="zh-CN" altLang="en-US" sz="2000" b="0" i="0" dirty="0">
                <a:effectLst/>
                <a:latin typeface="quote-cjk-patch"/>
              </a:rPr>
              <a:t>和</a:t>
            </a:r>
            <a:r>
              <a:rPr lang="zh-CN" altLang="en-US" sz="2000" b="1" i="0" dirty="0">
                <a:effectLst/>
                <a:latin typeface="quote-cjk-patch"/>
              </a:rPr>
              <a:t>欧拉方程</a:t>
            </a:r>
            <a:r>
              <a:rPr lang="zh-CN" altLang="en-US" sz="2000" b="0" i="0" dirty="0">
                <a:effectLst/>
                <a:latin typeface="quote-cjk-patch"/>
              </a:rPr>
              <a:t>，并考虑连杆之间的相互作用力。通过从基座到末端的“运动学递推”和从末端到基座的“动力学递推”，高效地求解所有力和运动。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6D2C36-74C9-402D-AFCF-F2886426E1F8}"/>
              </a:ext>
            </a:extLst>
          </p:cNvPr>
          <p:cNvSpPr txBox="1"/>
          <p:nvPr/>
        </p:nvSpPr>
        <p:spPr>
          <a:xfrm>
            <a:off x="904719" y="2900416"/>
            <a:ext cx="10457825" cy="142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000" b="1" i="0">
                <a:solidFill>
                  <a:schemeClr val="lt1"/>
                </a:solidFill>
                <a:effectLst/>
                <a:latin typeface="quote-cjk-patch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 err="1"/>
              <a:t>两大基石</a:t>
            </a:r>
            <a:r>
              <a:rPr lang="en-US" altLang="zh-CN" dirty="0"/>
              <a:t>：</a:t>
            </a:r>
          </a:p>
          <a:p>
            <a:r>
              <a:rPr lang="en-US" altLang="zh-CN" dirty="0"/>
              <a:t>    1 </a:t>
            </a:r>
            <a:r>
              <a:rPr lang="en-US" altLang="zh-CN" dirty="0" err="1"/>
              <a:t>牛顿方程：描述刚体质心的平动</a:t>
            </a:r>
            <a:r>
              <a:rPr lang="en-US" altLang="zh-CN" dirty="0"/>
              <a:t>。</a:t>
            </a:r>
          </a:p>
          <a:p>
            <a:r>
              <a:rPr lang="en-US" altLang="zh-CN" dirty="0"/>
              <a:t>    2 </a:t>
            </a:r>
            <a:r>
              <a:rPr lang="zh-CN" altLang="en-US" dirty="0"/>
              <a:t>欧拉方程：</a:t>
            </a:r>
            <a:r>
              <a:rPr lang="en-US" altLang="zh-CN" dirty="0" err="1"/>
              <a:t>描述刚体绕质心的转动</a:t>
            </a:r>
            <a:r>
              <a:rPr lang="en-US" altLang="zh-CN" dirty="0"/>
              <a:t>。</a:t>
            </a:r>
            <a:endParaRPr lang="zh-CN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F760A6-D4CF-40C5-8717-B7C81028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383" y="3426264"/>
            <a:ext cx="1293587" cy="3992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73ABD6-09D2-4345-A1B2-99BD3FDDF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383" y="3902814"/>
            <a:ext cx="2805450" cy="44632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CA99393-9F1D-46E8-9123-6EA60B3B6107}"/>
              </a:ext>
            </a:extLst>
          </p:cNvPr>
          <p:cNvSpPr txBox="1"/>
          <p:nvPr/>
        </p:nvSpPr>
        <p:spPr>
          <a:xfrm>
            <a:off x="919501" y="4515080"/>
            <a:ext cx="10428260" cy="21255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000" b="1" i="0">
                <a:solidFill>
                  <a:schemeClr val="lt1"/>
                </a:solidFill>
                <a:effectLst/>
                <a:latin typeface="quote-cjk-patch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zh-CN" sz="1800" dirty="0"/>
              <a:t>算法结构（递推的两步）：</a:t>
            </a:r>
            <a:endParaRPr lang="en-US" altLang="zh-CN" sz="1800" dirty="0"/>
          </a:p>
          <a:p>
            <a:r>
              <a:rPr lang="en-US" altLang="zh-CN" sz="1800" dirty="0"/>
              <a:t>1: </a:t>
            </a:r>
            <a:r>
              <a:rPr lang="en-US" altLang="zh-CN" sz="1800" dirty="0" err="1"/>
              <a:t>向外递推：从基座开始，依次向末端递推</a:t>
            </a:r>
            <a:r>
              <a:rPr lang="en-US" altLang="zh-CN" sz="1800" dirty="0"/>
              <a:t>。</a:t>
            </a:r>
            <a:r>
              <a:rPr lang="zh-CN" altLang="zh-CN" sz="1800" dirty="0"/>
              <a:t>计算每个连杆的角速度 、角加速度和其质心的线加速度 。这些运动量完全由关节运动决定。</a:t>
            </a:r>
          </a:p>
          <a:p>
            <a:r>
              <a:rPr lang="en-US" altLang="zh-CN" sz="1800" dirty="0"/>
              <a:t>2: </a:t>
            </a:r>
            <a:r>
              <a:rPr lang="en-US" altLang="zh-CN" sz="1800" dirty="0" err="1"/>
              <a:t>向内递推：从末端开始，依次向基座递推</a:t>
            </a:r>
            <a:r>
              <a:rPr lang="en-US" altLang="zh-CN" sz="1800" dirty="0"/>
              <a:t>。</a:t>
            </a:r>
            <a:r>
              <a:rPr lang="zh-CN" altLang="zh-CN" sz="1800" dirty="0"/>
              <a:t>考虑每个连杆的惯性力和惯性力矩，结合牛顿</a:t>
            </a:r>
            <a:r>
              <a:rPr lang="en-US" altLang="zh-CN" sz="1800" dirty="0"/>
              <a:t>-</a:t>
            </a:r>
            <a:r>
              <a:rPr lang="zh-CN" altLang="zh-CN" sz="1800" dirty="0"/>
              <a:t>欧拉方程，计算出作用在关节关节驱动力</a:t>
            </a:r>
            <a:r>
              <a:rPr lang="en-US" altLang="zh-CN" sz="1800" dirty="0"/>
              <a:t>/</a:t>
            </a:r>
            <a:r>
              <a:rPr lang="zh-CN" altLang="zh-CN" sz="1800" dirty="0"/>
              <a:t>力矩</a:t>
            </a:r>
            <a:r>
              <a:rPr lang="en-US" altLang="zh-CN" sz="1800" dirty="0"/>
              <a:t>​</a:t>
            </a:r>
            <a:r>
              <a:rPr lang="zh-CN" altLang="zh-CN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10958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牛顿</a:t>
            </a:r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欧拉法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41263" y="758409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向外递推（运动学传递）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140385-3905-447C-A166-A779B95476F1}"/>
              </a:ext>
            </a:extLst>
          </p:cNvPr>
          <p:cNvSpPr txBox="1"/>
          <p:nvPr/>
        </p:nvSpPr>
        <p:spPr>
          <a:xfrm>
            <a:off x="1776692" y="1445119"/>
            <a:ext cx="891371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sz="2000" b="1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角速度传递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：连杆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i+1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的角速度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连杆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的角速度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关节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 i+1 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的旋转速度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endParaRPr lang="en-US" altLang="zh-CN" sz="200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角加速度传递：</a:t>
            </a:r>
            <a:r>
              <a:rPr lang="zh-CN" altLang="en-US" sz="20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对角速度方程求导。</a:t>
            </a:r>
            <a:r>
              <a:rPr lang="en-US" altLang="zh-CN" sz="20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endParaRPr lang="en-US" altLang="zh-CN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i="0" dirty="0">
                <a:effectLst/>
                <a:latin typeface="quote-cjk-patch"/>
              </a:rPr>
              <a:t>线加速度传递：</a:t>
            </a:r>
            <a:r>
              <a:rPr lang="zh-CN" altLang="en-US" sz="20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连杆 </a:t>
            </a:r>
            <a:r>
              <a:rPr lang="en-US" altLang="zh-CN" sz="20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i+1 </a:t>
            </a:r>
            <a:r>
              <a:rPr lang="zh-CN" altLang="en-US" sz="20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上某点的加速度，特别是其质心线加速度</a:t>
            </a:r>
            <a:endParaRPr lang="en-US" altLang="zh-CN" sz="200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6D6C25-98AC-453E-8585-1EA656F8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940" y="1958817"/>
            <a:ext cx="3257143" cy="5333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631455-8ED8-4220-8140-82E85227F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899" y="3502428"/>
            <a:ext cx="6057143" cy="5523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9C55A5D-50D8-451F-B3A4-C8FF4AC55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32" y="5065087"/>
            <a:ext cx="6590476" cy="57142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8F5781D-C51F-4D8F-94FE-B7266AABDF85}"/>
              </a:ext>
            </a:extLst>
          </p:cNvPr>
          <p:cNvSpPr txBox="1"/>
          <p:nvPr/>
        </p:nvSpPr>
        <p:spPr>
          <a:xfrm>
            <a:off x="1350028" y="5843810"/>
            <a:ext cx="9760883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quote-cjk-patch"/>
              </a:rPr>
              <a:t>向外递推的目的是计算出每个连杆的角速度、角角速度和线加速度，它们完全由关节变量决定。这些量将作为已知项用于下一步的向内递推。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897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牛顿</a:t>
            </a:r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欧拉法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41263" y="758409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向内递推（力</a:t>
            </a:r>
            <a:r>
              <a:rPr lang="en-US" altLang="zh-CN" sz="2400" b="1" i="0" dirty="0">
                <a:effectLst/>
                <a:latin typeface="quote-cjk-patch"/>
              </a:rPr>
              <a:t>/</a:t>
            </a:r>
            <a:r>
              <a:rPr lang="zh-CN" altLang="en-US" sz="2400" b="1" i="0" dirty="0">
                <a:effectLst/>
                <a:latin typeface="quote-cjk-patch"/>
              </a:rPr>
              <a:t>力矩平衡）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01122C-D735-4F6D-B18E-ECF1470AF745}"/>
              </a:ext>
            </a:extLst>
          </p:cNvPr>
          <p:cNvSpPr txBox="1"/>
          <p:nvPr/>
        </p:nvSpPr>
        <p:spPr>
          <a:xfrm>
            <a:off x="1299318" y="1317379"/>
            <a:ext cx="984156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quote-cjk-patch"/>
              </a:rPr>
              <a:t>1 </a:t>
            </a:r>
            <a:r>
              <a:rPr lang="zh-CN" altLang="en-US" sz="2000" b="1" i="0" dirty="0">
                <a:effectLst/>
                <a:latin typeface="quote-cjk-patch"/>
              </a:rPr>
              <a:t>牛顿方程</a:t>
            </a:r>
            <a:r>
              <a:rPr lang="zh-CN" altLang="en-US" sz="2000" b="0" i="0" dirty="0">
                <a:effectLst/>
                <a:latin typeface="quote-cjk-patch"/>
              </a:rPr>
              <a:t>：作用在连杆 </a:t>
            </a:r>
            <a:r>
              <a:rPr lang="en-US" altLang="zh-CN" sz="2000" b="0" i="0" dirty="0" err="1">
                <a:effectLst/>
                <a:latin typeface="quote-cjk-patch"/>
              </a:rPr>
              <a:t>i</a:t>
            </a:r>
            <a:r>
              <a:rPr lang="en-US" altLang="zh-CN" sz="2000" b="0" i="0" dirty="0">
                <a:effectLst/>
                <a:latin typeface="quote-cjk-patch"/>
              </a:rPr>
              <a:t> </a:t>
            </a:r>
            <a:r>
              <a:rPr lang="zh-CN" altLang="en-US" sz="2000" b="0" i="0" dirty="0">
                <a:effectLst/>
                <a:latin typeface="quote-cjk-patch"/>
              </a:rPr>
              <a:t>质心上的合力等于其质量乘以质心加速度。</a:t>
            </a:r>
            <a:endParaRPr lang="en-US" altLang="zh-CN" sz="2000" b="0" i="0" dirty="0">
              <a:effectLst/>
              <a:latin typeface="quote-cjk-patch"/>
            </a:endParaRPr>
          </a:p>
          <a:p>
            <a:endParaRPr lang="en-US" altLang="zh-CN" sz="2000" dirty="0">
              <a:latin typeface="quote-cjk-patch"/>
            </a:endParaRPr>
          </a:p>
          <a:p>
            <a:endParaRPr lang="en-US" altLang="zh-CN" sz="2000" dirty="0">
              <a:latin typeface="quote-cjk-patch"/>
            </a:endParaRPr>
          </a:p>
          <a:p>
            <a:endParaRPr lang="en-US" altLang="zh-CN" sz="2000" dirty="0">
              <a:latin typeface="quote-cjk-patch"/>
            </a:endParaRPr>
          </a:p>
          <a:p>
            <a:endParaRPr lang="en-US" altLang="zh-CN" sz="2000" dirty="0">
              <a:latin typeface="quote-cjk-patch"/>
            </a:endParaRPr>
          </a:p>
          <a:p>
            <a:r>
              <a:rPr lang="en-US" altLang="zh-CN" sz="2000" b="1" i="0" dirty="0">
                <a:effectLst/>
                <a:latin typeface="quote-cjk-patch"/>
              </a:rPr>
              <a:t>2 </a:t>
            </a:r>
            <a:r>
              <a:rPr lang="zh-CN" altLang="en-US" sz="2000" b="1" i="0" dirty="0">
                <a:effectLst/>
                <a:latin typeface="quote-cjk-patch"/>
              </a:rPr>
              <a:t>欧拉方程</a:t>
            </a:r>
            <a:r>
              <a:rPr lang="zh-CN" altLang="en-US" sz="2000" b="0" i="0" dirty="0">
                <a:effectLst/>
                <a:latin typeface="quote-cjk-patch"/>
              </a:rPr>
              <a:t>：作用在连杆 </a:t>
            </a:r>
            <a:r>
              <a:rPr lang="en-US" altLang="zh-CN" sz="2000" b="0" i="0" dirty="0" err="1">
                <a:effectLst/>
                <a:latin typeface="quote-cjk-patch"/>
              </a:rPr>
              <a:t>i</a:t>
            </a:r>
            <a:r>
              <a:rPr lang="en-US" altLang="zh-CN" sz="2000" b="0" i="0" dirty="0">
                <a:effectLst/>
                <a:latin typeface="quote-cjk-patch"/>
              </a:rPr>
              <a:t> </a:t>
            </a:r>
            <a:r>
              <a:rPr lang="zh-CN" altLang="en-US" sz="2000" b="0" i="0" dirty="0">
                <a:effectLst/>
                <a:latin typeface="quote-cjk-patch"/>
              </a:rPr>
              <a:t>质心合力矩等于其转动惯量效应。</a:t>
            </a:r>
            <a:r>
              <a:rPr lang="zh-CN" altLang="en-US" sz="2000" b="0" i="1" dirty="0">
                <a:effectLst/>
                <a:latin typeface="quote-cjk-patch"/>
              </a:rPr>
              <a:t>注意力平移产生的力矩项</a:t>
            </a:r>
            <a:endParaRPr lang="en-US" altLang="zh-CN" sz="2000" b="0" i="1" dirty="0">
              <a:effectLst/>
              <a:latin typeface="quote-cjk-patch"/>
            </a:endParaRPr>
          </a:p>
          <a:p>
            <a:endParaRPr lang="en-US" altLang="zh-CN" sz="2000" i="1" dirty="0">
              <a:latin typeface="quote-cjk-patch"/>
            </a:endParaRPr>
          </a:p>
          <a:p>
            <a:endParaRPr lang="en-US" altLang="zh-CN" sz="2000" i="1" dirty="0">
              <a:latin typeface="quote-cjk-patch"/>
            </a:endParaRPr>
          </a:p>
          <a:p>
            <a:endParaRPr lang="en-US" altLang="zh-CN" sz="2000" i="1" dirty="0">
              <a:latin typeface="quote-cjk-patch"/>
            </a:endParaRPr>
          </a:p>
          <a:p>
            <a:endParaRPr lang="en-US" altLang="zh-CN" sz="2000" i="1" dirty="0">
              <a:latin typeface="quote-cjk-patch"/>
            </a:endParaRPr>
          </a:p>
          <a:p>
            <a:r>
              <a:rPr lang="en-US" altLang="zh-CN" sz="2000" b="1" dirty="0">
                <a:latin typeface="quote-cjk-patch"/>
              </a:rPr>
              <a:t>3 </a:t>
            </a:r>
            <a:r>
              <a:rPr lang="zh-CN" altLang="en-US" sz="2000" b="1" dirty="0">
                <a:latin typeface="quote-cjk-patch"/>
              </a:rPr>
              <a:t>关节驱动力矩：作用在连杆 </a:t>
            </a:r>
            <a:r>
              <a:rPr lang="en-US" altLang="zh-CN" sz="2000" b="1" dirty="0" err="1">
                <a:latin typeface="quote-cjk-patch"/>
              </a:rPr>
              <a:t>i</a:t>
            </a:r>
            <a:r>
              <a:rPr lang="en-US" altLang="zh-CN" sz="2000" b="1" dirty="0">
                <a:latin typeface="quote-cjk-patch"/>
              </a:rPr>
              <a:t> </a:t>
            </a:r>
            <a:r>
              <a:rPr lang="zh-CN" altLang="en-US" sz="2000" b="1" dirty="0">
                <a:latin typeface="quote-cjk-patch"/>
              </a:rPr>
              <a:t>上的力矩在关节轴</a:t>
            </a:r>
            <a:r>
              <a:rPr lang="en-US" altLang="zh-CN" sz="2000" b="1" dirty="0">
                <a:latin typeface="quote-cjk-patch"/>
              </a:rPr>
              <a:t>z</a:t>
            </a:r>
            <a:r>
              <a:rPr lang="zh-CN" altLang="en-US" sz="2000" b="1" dirty="0">
                <a:latin typeface="quote-cjk-patch"/>
              </a:rPr>
              <a:t>方向上的投影。</a:t>
            </a:r>
            <a:endParaRPr lang="en-US" altLang="zh-CN" sz="2000" b="1" dirty="0">
              <a:latin typeface="quote-cjk-patch"/>
            </a:endParaRPr>
          </a:p>
          <a:p>
            <a:endParaRPr lang="en-US" altLang="zh-CN" sz="2000" dirty="0">
              <a:latin typeface="quote-cjk-patch"/>
            </a:endParaRPr>
          </a:p>
          <a:p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7640D6-DEDB-45A9-BF33-8E90CD2F6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28" y="1866526"/>
            <a:ext cx="3866667" cy="4761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BFC509B-7F6A-4D15-AB36-8C0C007A0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14" y="3421840"/>
            <a:ext cx="10407873" cy="47070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6F02CF8-303B-4EB2-9F38-68558AEAF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574" y="4898847"/>
            <a:ext cx="2845513" cy="47171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BBBC1D7-8FD3-4449-8B4C-CD3116C6B0C4}"/>
              </a:ext>
            </a:extLst>
          </p:cNvPr>
          <p:cNvSpPr txBox="1"/>
          <p:nvPr/>
        </p:nvSpPr>
        <p:spPr>
          <a:xfrm>
            <a:off x="951377" y="5581264"/>
            <a:ext cx="10407873" cy="96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0" i="0" dirty="0">
                <a:effectLst/>
                <a:latin typeface="quote-cjk-patch"/>
              </a:rPr>
              <a:t>向内递推是“力的平衡”：从已知的末端负载 开始，结合向外递推得到的运动学信息，依次求解每个关节的受力和驱动力矩</a:t>
            </a:r>
            <a:r>
              <a:rPr lang="zh-CN" altLang="en-US" sz="2000" b="0" i="0" dirty="0">
                <a:effectLst/>
                <a:latin typeface="KaTeX_Main"/>
              </a:rPr>
              <a:t>​</a:t>
            </a:r>
            <a:r>
              <a:rPr lang="zh-CN" altLang="en-US" sz="2000" b="0" i="0" dirty="0">
                <a:effectLst/>
                <a:latin typeface="quote-cjk-patch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27464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牛顿</a:t>
            </a:r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欧拉法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586619" y="657554"/>
            <a:ext cx="71667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牛顿</a:t>
            </a:r>
            <a:r>
              <a:rPr lang="en-US" altLang="zh-CN" sz="2400" b="1" i="0" dirty="0">
                <a:effectLst/>
                <a:latin typeface="quote-cjk-patch"/>
              </a:rPr>
              <a:t>-</a:t>
            </a:r>
            <a:r>
              <a:rPr lang="zh-CN" altLang="en-US" sz="2400" b="1" i="0" dirty="0">
                <a:effectLst/>
                <a:latin typeface="quote-cjk-patch"/>
              </a:rPr>
              <a:t>欧拉法示例（二连杆简单推演）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A96E9F-0B82-4D0C-8F3E-5AC86A94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2" y="1294367"/>
            <a:ext cx="8336916" cy="462906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F24FC8D-3E22-4492-92F2-2FE58D5F5040}"/>
              </a:ext>
            </a:extLst>
          </p:cNvPr>
          <p:cNvSpPr txBox="1"/>
          <p:nvPr/>
        </p:nvSpPr>
        <p:spPr>
          <a:xfrm>
            <a:off x="2954418" y="6142175"/>
            <a:ext cx="6094878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/>
              <a:t>动手编程：二连杆的牛顿欧拉法分析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6F742FF-E721-4E71-9346-1A44DCB06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267" y="953390"/>
            <a:ext cx="2788883" cy="509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16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3069441" y="657553"/>
            <a:ext cx="605311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拉格朗日法 </a:t>
            </a:r>
            <a:r>
              <a:rPr lang="en-US" altLang="zh-CN" sz="2400" b="1" i="0" dirty="0">
                <a:effectLst/>
                <a:latin typeface="quote-cjk-patch"/>
              </a:rPr>
              <a:t>VS </a:t>
            </a:r>
            <a:r>
              <a:rPr lang="zh-CN" altLang="en-US" sz="2400" b="1" i="0" dirty="0">
                <a:effectLst/>
                <a:latin typeface="quote-cjk-patch"/>
              </a:rPr>
              <a:t>牛顿</a:t>
            </a:r>
            <a:r>
              <a:rPr lang="en-US" altLang="zh-CN" sz="2400" b="1" i="0" dirty="0">
                <a:effectLst/>
                <a:latin typeface="quote-cjk-patch"/>
              </a:rPr>
              <a:t>-</a:t>
            </a:r>
            <a:r>
              <a:rPr lang="zh-CN" altLang="en-US" sz="2400" b="1" i="0" dirty="0">
                <a:effectLst/>
                <a:latin typeface="quote-cjk-patch"/>
              </a:rPr>
              <a:t>欧拉法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B39E70-A1BB-45D3-8CE1-76CC73F0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052" y="1184221"/>
            <a:ext cx="8606119" cy="423290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79D74EB-3EF0-46DE-89A0-86B49C3E578E}"/>
              </a:ext>
            </a:extLst>
          </p:cNvPr>
          <p:cNvSpPr txBox="1"/>
          <p:nvPr/>
        </p:nvSpPr>
        <p:spPr>
          <a:xfrm>
            <a:off x="1701052" y="5417122"/>
            <a:ext cx="8510309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0" i="0" dirty="0">
                <a:effectLst/>
                <a:latin typeface="quote-cjk-patch"/>
              </a:rPr>
              <a:t>1 </a:t>
            </a:r>
            <a:r>
              <a:rPr lang="zh-CN" altLang="en-US" b="0" i="0" dirty="0">
                <a:effectLst/>
                <a:latin typeface="quote-cjk-patch"/>
              </a:rPr>
              <a:t>两种方法描述同一个物理系统，因此是</a:t>
            </a:r>
            <a:r>
              <a:rPr lang="zh-CN" altLang="en-US" b="1" i="0" dirty="0">
                <a:effectLst/>
                <a:latin typeface="quote-cjk-patch"/>
              </a:rPr>
              <a:t>数学等价的</a:t>
            </a:r>
            <a:r>
              <a:rPr lang="zh-CN" altLang="en-US" b="0" i="0" dirty="0">
                <a:effectLst/>
                <a:latin typeface="quote-cjk-patch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en-US" altLang="zh-CN" b="1" i="0" dirty="0">
                <a:effectLst/>
                <a:latin typeface="quote-cjk-patch"/>
              </a:rPr>
              <a:t>2 </a:t>
            </a:r>
            <a:r>
              <a:rPr lang="zh-CN" altLang="en-US" b="1" i="0" dirty="0">
                <a:effectLst/>
                <a:latin typeface="quote-cjk-patch"/>
              </a:rPr>
              <a:t>拉格朗日法</a:t>
            </a:r>
            <a:r>
              <a:rPr lang="zh-CN" altLang="en-US" b="0" i="0" dirty="0">
                <a:effectLst/>
                <a:latin typeface="quote-cjk-patch"/>
              </a:rPr>
              <a:t>是“思考者”，帮助我们</a:t>
            </a:r>
            <a:r>
              <a:rPr lang="zh-CN" altLang="en-US" b="1" i="0" dirty="0">
                <a:effectLst/>
                <a:latin typeface="quote-cjk-patch"/>
              </a:rPr>
              <a:t>理解</a:t>
            </a:r>
            <a:r>
              <a:rPr lang="zh-CN" altLang="en-US" b="0" i="0" dirty="0">
                <a:effectLst/>
                <a:latin typeface="quote-cjk-patch"/>
              </a:rPr>
              <a:t>和</a:t>
            </a:r>
            <a:r>
              <a:rPr lang="zh-CN" altLang="en-US" b="1" i="0" dirty="0">
                <a:effectLst/>
                <a:latin typeface="quote-cjk-patch"/>
              </a:rPr>
              <a:t>分析</a:t>
            </a:r>
            <a:r>
              <a:rPr lang="zh-CN" altLang="en-US" b="0" i="0" dirty="0">
                <a:effectLst/>
                <a:latin typeface="quote-cjk-patch"/>
              </a:rPr>
              <a:t>系统的本质属性。</a:t>
            </a:r>
          </a:p>
          <a:p>
            <a:pPr algn="l">
              <a:lnSpc>
                <a:spcPct val="150000"/>
              </a:lnSpc>
            </a:pPr>
            <a:r>
              <a:rPr lang="en-US" altLang="zh-CN" b="1" i="0" dirty="0">
                <a:effectLst/>
                <a:latin typeface="quote-cjk-patch"/>
              </a:rPr>
              <a:t>3 </a:t>
            </a:r>
            <a:r>
              <a:rPr lang="zh-CN" altLang="en-US" b="1" i="0" dirty="0">
                <a:effectLst/>
                <a:latin typeface="quote-cjk-patch"/>
              </a:rPr>
              <a:t>牛顿</a:t>
            </a:r>
            <a:r>
              <a:rPr lang="en-US" altLang="zh-CN" b="1" i="0" dirty="0">
                <a:effectLst/>
                <a:latin typeface="quote-cjk-patch"/>
              </a:rPr>
              <a:t>-</a:t>
            </a:r>
            <a:r>
              <a:rPr lang="zh-CN" altLang="en-US" b="1" i="0" dirty="0">
                <a:effectLst/>
                <a:latin typeface="quote-cjk-patch"/>
              </a:rPr>
              <a:t>欧拉法</a:t>
            </a:r>
            <a:r>
              <a:rPr lang="zh-CN" altLang="en-US" b="0" i="0" dirty="0">
                <a:effectLst/>
                <a:latin typeface="quote-cjk-patch"/>
              </a:rPr>
              <a:t>是“实干家”，帮助</a:t>
            </a:r>
            <a:r>
              <a:rPr lang="zh-CN" altLang="en-US" b="1" i="0" dirty="0">
                <a:effectLst/>
                <a:latin typeface="quote-cjk-patch"/>
              </a:rPr>
              <a:t>高效计算</a:t>
            </a:r>
            <a:r>
              <a:rPr lang="zh-CN" altLang="en-US" b="0" i="0" dirty="0">
                <a:effectLst/>
                <a:latin typeface="quote-cjk-patch"/>
              </a:rPr>
              <a:t>，是大多数机器人实时控制算法核心。</a:t>
            </a:r>
          </a:p>
        </p:txBody>
      </p:sp>
    </p:spTree>
    <p:extLst>
      <p:ext uri="{BB962C8B-B14F-4D97-AF65-F5344CB8AC3E}">
        <p14:creationId xmlns:p14="http://schemas.microsoft.com/office/powerpoint/2010/main" val="3867672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3069441" y="650830"/>
            <a:ext cx="605311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如何进行方法选择</a:t>
            </a:r>
            <a:r>
              <a:rPr lang="en-US" altLang="zh-CN" sz="2400" b="1" i="0" dirty="0">
                <a:effectLst/>
                <a:latin typeface="quote-cjk-patch"/>
              </a:rPr>
              <a:t>?</a:t>
            </a:r>
            <a:endParaRPr lang="zh-CN" altLang="en-US" sz="2400" b="1" i="0" dirty="0">
              <a:effectLst/>
              <a:latin typeface="quote-cjk-patch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B9E19C-EAFE-4357-A129-97B5DBFD0599}"/>
              </a:ext>
            </a:extLst>
          </p:cNvPr>
          <p:cNvSpPr txBox="1"/>
          <p:nvPr/>
        </p:nvSpPr>
        <p:spPr>
          <a:xfrm>
            <a:off x="905435" y="1162106"/>
            <a:ext cx="10246657" cy="4308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505">
              <a:lnSpc>
                <a:spcPct val="200000"/>
              </a:lnSpc>
            </a:pPr>
            <a:r>
              <a:rPr lang="en-US" altLang="zh-CN" sz="2000" b="1" dirty="0">
                <a:effectLst/>
                <a:latin typeface="+mn-ea"/>
                <a:cs typeface="Segoe UI" panose="020B0502040204020203" pitchFamily="34" charset="0"/>
              </a:rPr>
              <a:t>1 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理论研究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：例如设计一个新的控制算法，分析系统的稳定性、能控性，或者推导参数辨识的线性形式，那么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拉格朗日法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是你的首选，因为它能给你一个结构清晰的方程。</a:t>
            </a:r>
            <a:endParaRPr lang="zh-CN" altLang="zh-CN" sz="2000" dirty="0">
              <a:effectLst/>
              <a:latin typeface="+mn-ea"/>
              <a:cs typeface="宋体" panose="02010600030101010101" pitchFamily="2" charset="-122"/>
            </a:endParaRPr>
          </a:p>
          <a:p>
            <a:pPr marL="230505">
              <a:lnSpc>
                <a:spcPct val="200000"/>
              </a:lnSpc>
            </a:pPr>
            <a:r>
              <a:rPr lang="en-US" altLang="zh-CN" sz="2000" b="1" dirty="0">
                <a:effectLst/>
                <a:latin typeface="+mn-ea"/>
                <a:cs typeface="Segoe UI" panose="020B0502040204020203" pitchFamily="34" charset="0"/>
              </a:rPr>
              <a:t>2 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机器人控制：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比如以</a:t>
            </a:r>
            <a:r>
              <a:rPr lang="en-US" altLang="zh-CN" sz="2000" dirty="0">
                <a:effectLst/>
                <a:latin typeface="+mn-ea"/>
                <a:cs typeface="宋体" panose="02010600030101010101" pitchFamily="2" charset="-122"/>
              </a:rPr>
              <a:t>1kHz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的频率计算机器人关节的力矩指令，那么你必须使用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牛顿</a:t>
            </a:r>
            <a:r>
              <a:rPr lang="en-US" altLang="zh-CN" sz="2000" b="1" dirty="0">
                <a:effectLst/>
                <a:latin typeface="+mn-ea"/>
                <a:cs typeface="宋体" panose="02010600030101010101" pitchFamily="2" charset="-122"/>
              </a:rPr>
              <a:t>-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欧拉法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或其变种，因为它的计算效率最高。</a:t>
            </a:r>
            <a:endParaRPr lang="zh-CN" altLang="zh-CN" sz="2000" dirty="0">
              <a:effectLst/>
              <a:latin typeface="+mn-ea"/>
              <a:cs typeface="宋体" panose="02010600030101010101" pitchFamily="2" charset="-122"/>
            </a:endParaRPr>
          </a:p>
          <a:p>
            <a:pPr marL="230505">
              <a:lnSpc>
                <a:spcPct val="200000"/>
              </a:lnSpc>
            </a:pPr>
            <a:r>
              <a:rPr lang="en-US" altLang="zh-CN" sz="2000" b="1" dirty="0">
                <a:effectLst/>
                <a:latin typeface="+mn-ea"/>
                <a:cs typeface="Segoe UI" panose="020B0502040204020203" pitchFamily="34" charset="0"/>
              </a:rPr>
              <a:t>3 </a:t>
            </a:r>
            <a:r>
              <a:rPr lang="zh-CN" altLang="zh-CN" sz="2000" b="1" dirty="0">
                <a:effectLst/>
                <a:latin typeface="+mn-ea"/>
                <a:cs typeface="Segoe UI" panose="020B0502040204020203" pitchFamily="34" charset="0"/>
              </a:rPr>
              <a:t>现代工程实践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：</a:t>
            </a:r>
            <a:endParaRPr lang="zh-CN" altLang="zh-CN" sz="2000" dirty="0">
              <a:effectLst/>
              <a:latin typeface="+mn-ea"/>
              <a:cs typeface="宋体" panose="02010600030101010101" pitchFamily="2" charset="-122"/>
            </a:endParaRPr>
          </a:p>
          <a:p>
            <a:pPr marL="687705">
              <a:lnSpc>
                <a:spcPct val="200000"/>
              </a:lnSpc>
            </a:pPr>
            <a:r>
              <a:rPr lang="en-US" altLang="zh-CN" sz="2000" dirty="0">
                <a:latin typeface="+mn-ea"/>
                <a:cs typeface="Segoe UI" panose="020B0502040204020203" pitchFamily="34" charset="0"/>
              </a:rPr>
              <a:t>(1) 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用拉格朗日法（或符号计算软件）推导出机器人的动力学结构，理解其特性。</a:t>
            </a:r>
            <a:endParaRPr lang="en-US" altLang="zh-CN" sz="2000" dirty="0">
              <a:effectLst/>
              <a:latin typeface="+mn-ea"/>
              <a:cs typeface="Segoe UI" panose="020B0502040204020203" pitchFamily="34" charset="0"/>
            </a:endParaRPr>
          </a:p>
          <a:p>
            <a:pPr marL="687705">
              <a:lnSpc>
                <a:spcPct val="200000"/>
              </a:lnSpc>
            </a:pPr>
            <a:r>
              <a:rPr lang="en-US" altLang="zh-CN" sz="2000" dirty="0">
                <a:effectLst/>
                <a:latin typeface="+mn-ea"/>
                <a:cs typeface="Segoe UI" panose="020B0502040204020203" pitchFamily="34" charset="0"/>
              </a:rPr>
              <a:t>(2) 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编写一个基于牛顿</a:t>
            </a:r>
            <a:r>
              <a:rPr lang="en-US" altLang="zh-CN" sz="2000" dirty="0">
                <a:effectLst/>
                <a:latin typeface="+mn-ea"/>
                <a:cs typeface="宋体" panose="02010600030101010101" pitchFamily="2" charset="-122"/>
              </a:rPr>
              <a:t>-</a:t>
            </a:r>
            <a:r>
              <a:rPr lang="zh-CN" altLang="zh-CN" sz="2000" dirty="0">
                <a:effectLst/>
                <a:latin typeface="+mn-ea"/>
                <a:cs typeface="Segoe UI" panose="020B0502040204020203" pitchFamily="34" charset="0"/>
              </a:rPr>
              <a:t>欧拉递推算法的函数，用于高效的数值计算。</a:t>
            </a:r>
            <a:endParaRPr lang="zh-CN" altLang="zh-CN" sz="2000" dirty="0">
              <a:effectLst/>
              <a:latin typeface="+mn-ea"/>
              <a:cs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CCFE1-B409-4691-A655-574D575DB668}"/>
              </a:ext>
            </a:extLst>
          </p:cNvPr>
          <p:cNvSpPr txBox="1"/>
          <p:nvPr/>
        </p:nvSpPr>
        <p:spPr>
          <a:xfrm>
            <a:off x="2025873" y="5847266"/>
            <a:ext cx="8341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FFC000"/>
                </a:solidFill>
                <a:effectLst/>
                <a:latin typeface="quote-cjk-patch"/>
              </a:rPr>
              <a:t>作为机器人专业的学生</a:t>
            </a:r>
            <a:r>
              <a:rPr lang="en-US" altLang="zh-CN" sz="2400" b="1" i="0" dirty="0">
                <a:solidFill>
                  <a:srgbClr val="FFC000"/>
                </a:solidFill>
                <a:effectLst/>
                <a:latin typeface="quote-cjk-patch"/>
              </a:rPr>
              <a:t>/</a:t>
            </a:r>
            <a:r>
              <a:rPr lang="zh-CN" altLang="en-US" sz="2400" b="1" i="0" dirty="0">
                <a:solidFill>
                  <a:srgbClr val="FFC000"/>
                </a:solidFill>
                <a:effectLst/>
                <a:latin typeface="quote-cjk-patch"/>
              </a:rPr>
              <a:t>工程师，需要掌握两种方法</a:t>
            </a:r>
            <a:r>
              <a:rPr lang="zh-CN" altLang="en-US" sz="2400" b="1" dirty="0">
                <a:solidFill>
                  <a:srgbClr val="FFC000"/>
                </a:solidFill>
                <a:latin typeface="quote-cjk-patch"/>
              </a:rPr>
              <a:t>基本概念</a:t>
            </a:r>
            <a:endParaRPr lang="zh-CN" altLang="en-US" sz="2400" b="0" i="0" dirty="0">
              <a:solidFill>
                <a:srgbClr val="FFC0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392095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3069439" y="711342"/>
            <a:ext cx="605311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动力学方程各项的物理意义（深化）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21D11F-F1D1-4C8B-A225-FDEA6928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10" y="2141531"/>
            <a:ext cx="9784977" cy="45029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3619D0-5F73-4055-B150-763882DC8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949" y="1409650"/>
            <a:ext cx="4838095" cy="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01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3069441" y="993730"/>
            <a:ext cx="605311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quote-cjk-patch"/>
              </a:rPr>
              <a:t>动力学方程各项的物理意义（深化）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00D2CD-5830-4F1E-AD02-098655E9E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25" y="2786712"/>
            <a:ext cx="11157274" cy="2430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37B6E1-1063-41D9-8A5C-AA5FD0ADA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872" y="1808103"/>
            <a:ext cx="4247619" cy="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49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86194" y="993730"/>
            <a:ext cx="6928447" cy="1464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动力学重要性质</a:t>
            </a:r>
            <a:r>
              <a:rPr lang="en-US" altLang="zh-CN" sz="2400" b="1" i="0" dirty="0">
                <a:effectLst/>
                <a:latin typeface="quote-cjk-patch"/>
              </a:rPr>
              <a:t>1</a:t>
            </a:r>
            <a:r>
              <a:rPr lang="zh-CN" altLang="en-US" sz="2400" b="1" i="0" dirty="0">
                <a:effectLst/>
                <a:latin typeface="quote-cjk-patch"/>
              </a:rPr>
              <a:t>：</a:t>
            </a:r>
            <a:endParaRPr lang="en-US" altLang="zh-CN" sz="2400" b="1" i="0" dirty="0">
              <a:effectLst/>
              <a:latin typeface="quote-cjk-patch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solidFill>
                  <a:schemeClr val="accent3"/>
                </a:solidFill>
                <a:effectLst/>
                <a:latin typeface="quote-cjk-patch"/>
              </a:rPr>
              <a:t>惯性矩阵的对称正定性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463454-AC1A-4197-B45F-BE6A88A2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96" y="3045742"/>
            <a:ext cx="11448489" cy="155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71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86194" y="993730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动力学重要性质</a:t>
            </a:r>
            <a:r>
              <a:rPr lang="en-US" altLang="zh-CN" sz="2400" b="1" dirty="0">
                <a:latin typeface="quote-cjk-patch"/>
              </a:rPr>
              <a:t>2</a:t>
            </a:r>
            <a:r>
              <a:rPr lang="zh-CN" altLang="en-US" sz="2400" b="1" i="0" dirty="0">
                <a:effectLst/>
                <a:latin typeface="quote-cjk-patch"/>
              </a:rPr>
              <a:t>：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66EC86-C5F1-431C-B97B-8FE11B08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31" y="1995239"/>
            <a:ext cx="4266667" cy="514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D5F736-5866-45ED-BE6B-08563874F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93" y="2785194"/>
            <a:ext cx="11096993" cy="280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79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动力学深入解析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86194" y="993730"/>
            <a:ext cx="6928447" cy="1466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动力学重要性质</a:t>
            </a:r>
            <a:r>
              <a:rPr lang="en-US" altLang="zh-CN" sz="2400" b="1" i="0" dirty="0">
                <a:effectLst/>
                <a:latin typeface="quote-cjk-patch"/>
              </a:rPr>
              <a:t>3</a:t>
            </a:r>
            <a:r>
              <a:rPr lang="zh-CN" altLang="en-US" sz="2400" b="1" i="0" dirty="0">
                <a:effectLst/>
                <a:latin typeface="quote-cjk-patch"/>
              </a:rPr>
              <a:t>：</a:t>
            </a:r>
            <a:endParaRPr lang="en-US" altLang="zh-CN" sz="2400" b="1" i="0" dirty="0">
              <a:effectLst/>
              <a:latin typeface="quote-cjk-patch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solidFill>
                  <a:schemeClr val="accent3"/>
                </a:solidFill>
                <a:effectLst/>
                <a:latin typeface="quote-cjk-patch"/>
              </a:rPr>
              <a:t>关于参数的线性特性</a:t>
            </a:r>
            <a:endParaRPr lang="en-US" altLang="zh-CN" sz="2400" b="1" i="0" dirty="0">
              <a:solidFill>
                <a:schemeClr val="accent3"/>
              </a:solidFill>
              <a:effectLst/>
              <a:latin typeface="quote-cjk-patch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4FCC90-D5A0-46AF-8C14-4AD66D85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05" y="2668390"/>
            <a:ext cx="10836465" cy="349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5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扩展与小结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31776" y="466898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动力学与控制的关系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A57DCA-67CF-46A0-86C3-D380D221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984" y="1319760"/>
            <a:ext cx="8438030" cy="51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57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扩展与小结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31776" y="466898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工程中建模的难点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C8B9F1-29C6-4BFA-B4A4-C38C3B6BD71B}"/>
                  </a:ext>
                </a:extLst>
              </p:cNvPr>
              <p:cNvSpPr txBox="1"/>
              <p:nvPr/>
            </p:nvSpPr>
            <p:spPr>
              <a:xfrm>
                <a:off x="1016372" y="987621"/>
                <a:ext cx="10159253" cy="5721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CN" altLang="zh-CN" dirty="0">
                  <a:effectLst/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b="1" kern="100" dirty="0">
                    <a:solidFill>
                      <a:srgbClr val="FFC000"/>
                    </a:solidFill>
                    <a:effectLst/>
                    <a:latin typeface="+mj-ea"/>
                    <a:ea typeface="+mj-ea"/>
                    <a:cs typeface="Cambria Math" panose="02040503050406030204" pitchFamily="18" charset="0"/>
                  </a:rPr>
                  <a:t>问题</a:t>
                </a:r>
                <a:r>
                  <a:rPr lang="en-US" altLang="zh-CN" b="1" kern="100" dirty="0">
                    <a:solidFill>
                      <a:srgbClr val="FFC000"/>
                    </a:solidFill>
                    <a:effectLst/>
                    <a:latin typeface="+mj-ea"/>
                    <a:ea typeface="+mj-ea"/>
                    <a:cs typeface="Cambria Math" panose="02040503050406030204" pitchFamily="18" charset="0"/>
                  </a:rPr>
                  <a:t>1</a:t>
                </a:r>
                <a:r>
                  <a:rPr lang="zh-CN" altLang="zh-CN" b="1" kern="100" dirty="0">
                    <a:solidFill>
                      <a:srgbClr val="FFC000"/>
                    </a:solidFill>
                    <a:effectLst/>
                    <a:latin typeface="+mj-ea"/>
                    <a:ea typeface="+mj-ea"/>
                    <a:cs typeface="Cambria Math" panose="02040503050406030204" pitchFamily="18" charset="0"/>
                  </a:rPr>
                  <a:t>：参数不确定性</a:t>
                </a:r>
                <a:r>
                  <a:rPr lang="en-US" altLang="zh-CN" b="1" kern="100" dirty="0">
                    <a:solidFill>
                      <a:srgbClr val="FFC000"/>
                    </a:solidFill>
                    <a:effectLst/>
                    <a:latin typeface="+mj-ea"/>
                    <a:ea typeface="+mj-ea"/>
                    <a:cs typeface="Cambria Math" panose="02040503050406030204" pitchFamily="18" charset="0"/>
                  </a:rPr>
                  <a:t> (Parameter Uncertainty)</a:t>
                </a:r>
                <a:r>
                  <a:rPr lang="zh-CN" altLang="zh-CN" kern="100" dirty="0">
                    <a:solidFill>
                      <a:srgbClr val="FFC000"/>
                    </a:solidFill>
                    <a:effectLst/>
                    <a:latin typeface="+mj-ea"/>
                    <a:ea typeface="+mj-ea"/>
                    <a:cs typeface="Cambria Math" panose="02040503050406030204" pitchFamily="18" charset="0"/>
                  </a:rPr>
                  <a:t>：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描述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：我们建立的模型中的参数（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kern="100">
                        <a:effectLst/>
                        <a:latin typeface="+mj-ea"/>
                        <a:ea typeface="+mj-ea"/>
                        <a:cs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zh-CN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kern="100">
                        <a:effectLst/>
                        <a:latin typeface="+mj-ea"/>
                        <a:ea typeface="+mj-ea"/>
                        <a:cs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zh-CN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+mj-ea"/>
                            <a:ea typeface="+mj-ea"/>
                            <a:cs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）与实际物理系统存在偏差。连杆的</a:t>
                </a:r>
                <a:r>
                  <a:rPr lang="en-US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CAD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模型质量可能与实际加工件不同，抓取的负载更是未知和变化的。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后果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：基于名义模型的控制器性能会下降，甚至不稳定。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问题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：摩擦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 (Friction)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：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描述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：关节中的摩擦是一个非常复杂的非线性现象，包括粘性摩擦、库仑摩擦、</a:t>
                </a:r>
                <a:r>
                  <a:rPr lang="en-US" altLang="zh-CN" kern="100" dirty="0" err="1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Stribeck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效应等。这些摩擦模型很难精确参数化，且会随着温度、润滑条件、磨损程度而变化。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后果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：低速时造成“爬行”现象，稳态时存在静差，是影响精密定位的主要障碍。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问题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：柔性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 (Flexibility)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：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描述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：我们假设机器人为</a:t>
                </a: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理想刚体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。实际上，关节减速器（如谐波减速器）存在柔性（关节柔性），长臂机器人连杆本身也会发生弹性变形（连杆柔性）。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后果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：会引起机械谐振，限制控制器的增益，影响高速高精度性能。这时候需要更复杂的</a:t>
                </a:r>
                <a:r>
                  <a:rPr lang="zh-CN" altLang="zh-CN" b="1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柔性机器人动力学模型</a:t>
                </a:r>
                <a:r>
                  <a:rPr lang="zh-CN" altLang="zh-CN" kern="100" dirty="0">
                    <a:effectLst/>
                    <a:latin typeface="+mj-ea"/>
                    <a:ea typeface="+mj-ea"/>
                    <a:cs typeface="Wingdings" panose="05000000000000000000" pitchFamily="2" charset="2"/>
                  </a:rPr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C8B9F1-29C6-4BFA-B4A4-C38C3B6BD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72" y="987621"/>
                <a:ext cx="10159253" cy="5721887"/>
              </a:xfrm>
              <a:prstGeom prst="rect">
                <a:avLst/>
              </a:prstGeom>
              <a:blipFill>
                <a:blip r:embed="rId3"/>
                <a:stretch>
                  <a:fillRect l="-540" b="-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650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扩展与小结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699012" y="785305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工程中建模的难点</a:t>
            </a:r>
            <a:r>
              <a:rPr lang="en-US" altLang="zh-CN" sz="2400" b="1" i="0" dirty="0">
                <a:effectLst/>
                <a:latin typeface="quote-cjk-patch"/>
              </a:rPr>
              <a:t>——</a:t>
            </a:r>
            <a:r>
              <a:rPr lang="zh-CN" altLang="en-US" sz="2400" b="1" i="0" dirty="0">
                <a:effectLst/>
                <a:latin typeface="quote-cjk-patch"/>
              </a:rPr>
              <a:t>解决思路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0AC2CB-6C1A-4E77-B0B6-87756F3D85C3}"/>
              </a:ext>
            </a:extLst>
          </p:cNvPr>
          <p:cNvSpPr txBox="1"/>
          <p:nvPr/>
        </p:nvSpPr>
        <p:spPr>
          <a:xfrm>
            <a:off x="1908080" y="1598532"/>
            <a:ext cx="8634414" cy="441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1 </a:t>
            </a:r>
            <a:r>
              <a:rPr lang="zh-CN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参数辨识</a:t>
            </a:r>
            <a:r>
              <a:rPr lang="zh-CN" altLang="zh-CN" sz="2400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：</a:t>
            </a:r>
            <a:r>
              <a:rPr lang="zh-CN" altLang="zh-CN" sz="2400" kern="100" dirty="0">
                <a:effectLst/>
                <a:latin typeface="+mj-ea"/>
                <a:ea typeface="+mj-ea"/>
                <a:cs typeface="Wingdings" panose="05000000000000000000" pitchFamily="2" charset="2"/>
              </a:rPr>
              <a:t>通过专门设计的实验运动，采集力矩和运动数据，利用“线性特性”估计出系统的真实惯性参数。</a:t>
            </a:r>
          </a:p>
          <a:p>
            <a:pPr>
              <a:lnSpc>
                <a:spcPct val="200000"/>
              </a:lnSpc>
            </a:pPr>
            <a:r>
              <a:rPr lang="en-US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2 </a:t>
            </a:r>
            <a:r>
              <a:rPr lang="zh-CN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自适应控制</a:t>
            </a:r>
            <a:r>
              <a:rPr lang="zh-CN" altLang="zh-CN" sz="2400" kern="100" dirty="0">
                <a:effectLst/>
                <a:latin typeface="+mj-ea"/>
                <a:ea typeface="+mj-ea"/>
                <a:cs typeface="Wingdings" panose="05000000000000000000" pitchFamily="2" charset="2"/>
              </a:rPr>
              <a:t>：设计控制器，使其能够在运行过程中在线调整模型参数，以适应参数的变化。</a:t>
            </a:r>
          </a:p>
          <a:p>
            <a:pPr>
              <a:lnSpc>
                <a:spcPct val="200000"/>
              </a:lnSpc>
            </a:pPr>
            <a:r>
              <a:rPr lang="en-US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3 </a:t>
            </a:r>
            <a:r>
              <a:rPr lang="zh-CN" altLang="zh-CN" sz="2400" b="1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鲁棒控制</a:t>
            </a:r>
            <a:r>
              <a:rPr lang="zh-CN" altLang="zh-CN" sz="2400" kern="100" dirty="0">
                <a:solidFill>
                  <a:srgbClr val="FFC000"/>
                </a:solidFill>
                <a:effectLst/>
                <a:latin typeface="+mj-ea"/>
                <a:ea typeface="+mj-ea"/>
                <a:cs typeface="Wingdings" panose="05000000000000000000" pitchFamily="2" charset="2"/>
              </a:rPr>
              <a:t>：</a:t>
            </a:r>
            <a:r>
              <a:rPr lang="zh-CN" altLang="zh-CN" sz="2400" kern="100" dirty="0">
                <a:effectLst/>
                <a:latin typeface="+mj-ea"/>
                <a:ea typeface="+mj-ea"/>
                <a:cs typeface="Wingdings" panose="05000000000000000000" pitchFamily="2" charset="2"/>
              </a:rPr>
              <a:t>设计控制器，使其在一定的模型误差范围内仍能保持稳定和一定的性能。</a:t>
            </a:r>
          </a:p>
        </p:txBody>
      </p:sp>
    </p:spTree>
    <p:extLst>
      <p:ext uri="{BB962C8B-B14F-4D97-AF65-F5344CB8AC3E}">
        <p14:creationId xmlns:p14="http://schemas.microsoft.com/office/powerpoint/2010/main" val="2536023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扩展与小结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39353" y="492477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本章核心内容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EFD1E3-F387-4C64-ADF8-FAFF11138D1D}"/>
                  </a:ext>
                </a:extLst>
              </p:cNvPr>
              <p:cNvSpPr txBox="1"/>
              <p:nvPr/>
            </p:nvSpPr>
            <p:spPr>
              <a:xfrm>
                <a:off x="1406898" y="1422118"/>
                <a:ext cx="9754161" cy="494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effectLst/>
                    <a:latin typeface="+mn-ea"/>
                    <a:cs typeface="Cambria Math" panose="02040503050406030204" pitchFamily="18" charset="0"/>
                  </a:rPr>
                  <a:t>1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effectLst/>
                    <a:latin typeface="+mn-ea"/>
                    <a:cs typeface="Cambria Math" panose="02040503050406030204" pitchFamily="18" charset="0"/>
                  </a:rPr>
                  <a:t>动力学的研究对象</a:t>
                </a:r>
                <a:r>
                  <a:rPr lang="zh-CN" altLang="zh-CN" sz="2000" kern="100" dirty="0">
                    <a:solidFill>
                      <a:srgbClr val="FFC000"/>
                    </a:solidFill>
                    <a:effectLst/>
                    <a:latin typeface="+mn-ea"/>
                    <a:cs typeface="Cambria Math" panose="02040503050406030204" pitchFamily="18" charset="0"/>
                  </a:rPr>
                  <a:t>：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关节力矩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与关节运动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𝑞</m:t>
                    </m:r>
                    <m:r>
                      <a:rPr lang="en-US" altLang="zh-CN" sz="2000" kern="100">
                        <a:effectLst/>
                        <a:latin typeface="+mn-ea"/>
                        <a:cs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 kern="100">
                        <a:effectLst/>
                        <a:latin typeface="+mn-ea"/>
                        <a:cs typeface="Cambria Math" panose="02040503050406030204" pitchFamily="18" charset="0"/>
                      </a:rPr>
                      <m:t>,</m:t>
                    </m:r>
                    <m:acc>
                      <m:accPr>
                        <m:chr m:val="̈"/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之间的关系。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latin typeface="+mn-ea"/>
                  </a:rPr>
                  <a:t>2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latin typeface="+mn-ea"/>
                  </a:rPr>
                  <a:t>两大基本问题：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正动力学（力矩→运动，仿真）和逆动力学（运动→力矩，控制）。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latin typeface="+mn-ea"/>
                  </a:rPr>
                  <a:t>3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latin typeface="+mn-ea"/>
                  </a:rPr>
                  <a:t>两大建模方法：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zh-CN" altLang="zh-CN" sz="2000" b="1" kern="100" dirty="0">
                    <a:effectLst/>
                    <a:latin typeface="+mn-ea"/>
                    <a:cs typeface="Symbol" panose="05050102010706020507" pitchFamily="18" charset="2"/>
                  </a:rPr>
                  <a:t>拉格朗日法</a:t>
                </a:r>
                <a:r>
                  <a:rPr lang="zh-CN" altLang="zh-CN" sz="2000" kern="100" dirty="0">
                    <a:effectLst/>
                    <a:latin typeface="+mn-ea"/>
                    <a:cs typeface="Symbol" panose="05050102010706020507" pitchFamily="18" charset="2"/>
                  </a:rPr>
                  <a:t>：基于能量，物理意义清晰，适合理论分析。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zh-CN" altLang="zh-CN" sz="2000" b="1" kern="100" dirty="0">
                    <a:effectLst/>
                    <a:latin typeface="+mn-ea"/>
                    <a:cs typeface="Symbol" panose="05050102010706020507" pitchFamily="18" charset="2"/>
                  </a:rPr>
                  <a:t>牛顿</a:t>
                </a:r>
                <a:r>
                  <a:rPr lang="en-US" altLang="zh-CN" sz="2000" b="1" kern="100" dirty="0">
                    <a:effectLst/>
                    <a:latin typeface="+mn-ea"/>
                    <a:cs typeface="Symbol" panose="05050102010706020507" pitchFamily="18" charset="2"/>
                  </a:rPr>
                  <a:t>-</a:t>
                </a:r>
                <a:r>
                  <a:rPr lang="zh-CN" altLang="zh-CN" sz="2000" b="1" kern="100" dirty="0">
                    <a:effectLst/>
                    <a:latin typeface="+mn-ea"/>
                    <a:cs typeface="Symbol" panose="05050102010706020507" pitchFamily="18" charset="2"/>
                  </a:rPr>
                  <a:t>欧拉法</a:t>
                </a:r>
                <a:r>
                  <a:rPr lang="zh-CN" altLang="zh-CN" sz="2000" kern="100" dirty="0">
                    <a:effectLst/>
                    <a:latin typeface="+mn-ea"/>
                    <a:cs typeface="Symbol" panose="05050102010706020507" pitchFamily="18" charset="2"/>
                  </a:rPr>
                  <a:t>：基于力平衡，计算高效，适合编程实现。两者等价。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latin typeface="+mn-ea"/>
                    <a:cs typeface="Cambria Math" panose="02040503050406030204" pitchFamily="18" charset="0"/>
                  </a:rPr>
                  <a:t>4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latin typeface="+mn-ea"/>
                    <a:cs typeface="Cambria Math" panose="02040503050406030204" pitchFamily="18" charset="0"/>
                  </a:rPr>
                  <a:t>标准方程：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d>
                    <m:acc>
                      <m:accPr>
                        <m:chr m:val="̈"/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 kern="100">
                        <a:effectLst/>
                        <a:latin typeface="+mn-ea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000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zh-CN" altLang="zh-CN" sz="2000" i="1" kern="100">
                                <a:effectLst/>
                                <a:latin typeface="+mn-ea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 kern="100">
                                <a:effectLst/>
                                <a:latin typeface="+mn-ea"/>
                                <a:cs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acc>
                      <m:accPr>
                        <m:chr m:val="̇"/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 kern="100">
                        <a:effectLst/>
                        <a:latin typeface="+mn-ea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000" kern="100">
                        <a:effectLst/>
                        <a:latin typeface="+mn-ea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，以及各项的物理含义。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latin typeface="+mn-ea"/>
                    <a:cs typeface="Cambria Math" panose="02040503050406030204" pitchFamily="18" charset="0"/>
                  </a:rPr>
                  <a:t>5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latin typeface="+mn-ea"/>
                    <a:cs typeface="Cambria Math" panose="02040503050406030204" pitchFamily="18" charset="0"/>
                  </a:rPr>
                  <a:t>重要性质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对称正定，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effectLst/>
                            <a:latin typeface="+mn-ea"/>
                            <a:cs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−2</m:t>
                    </m:r>
                    <m:r>
                      <a:rPr lang="en-US" altLang="zh-CN" sz="2000" i="1" kern="100">
                        <a:effectLst/>
                        <a:latin typeface="+mn-ea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反对称，参数线性特性，</a:t>
                </a:r>
                <a:r>
                  <a:rPr lang="zh-CN" altLang="en-US" sz="2000" kern="100" dirty="0">
                    <a:effectLst/>
                    <a:latin typeface="+mn-ea"/>
                    <a:cs typeface="Cambria Math" panose="02040503050406030204" pitchFamily="18" charset="0"/>
                  </a:rPr>
                  <a:t>这是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控制设计的基础。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2000" b="1" kern="100" dirty="0">
                    <a:solidFill>
                      <a:srgbClr val="FFC000"/>
                    </a:solidFill>
                    <a:latin typeface="+mn-ea"/>
                  </a:rPr>
                  <a:t>6 </a:t>
                </a:r>
                <a:r>
                  <a:rPr lang="zh-CN" altLang="zh-CN" sz="2000" b="1" kern="100" dirty="0">
                    <a:solidFill>
                      <a:srgbClr val="FFC000"/>
                    </a:solidFill>
                    <a:latin typeface="+mn-ea"/>
                  </a:rPr>
                  <a:t>工程意义：</a:t>
                </a:r>
                <a:r>
                  <a:rPr lang="zh-CN" altLang="zh-CN" sz="2000" kern="100" dirty="0">
                    <a:effectLst/>
                    <a:latin typeface="+mn-ea"/>
                    <a:cs typeface="Cambria Math" panose="02040503050406030204" pitchFamily="18" charset="0"/>
                  </a:rPr>
                  <a:t>动力学是机器人运动控制、力控制、结构设计和仿真的基石。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EFD1E3-F387-4C64-ADF8-FAFF1113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898" y="1422118"/>
                <a:ext cx="9754161" cy="4943405"/>
              </a:xfrm>
              <a:prstGeom prst="rect">
                <a:avLst/>
              </a:prstGeom>
              <a:blipFill>
                <a:blip r:embed="rId3"/>
                <a:stretch>
                  <a:fillRect l="-688" r="-1250" b="-1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621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课后练习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39353" y="492477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i="0" dirty="0">
                <a:effectLst/>
                <a:latin typeface="quote-cjk-patch"/>
              </a:rPr>
              <a:t>随堂练习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C52C1D-1A5F-4859-8234-326F388F6335}"/>
              </a:ext>
            </a:extLst>
          </p:cNvPr>
          <p:cNvSpPr txBox="1"/>
          <p:nvPr/>
        </p:nvSpPr>
        <p:spPr>
          <a:xfrm>
            <a:off x="1834122" y="2026796"/>
            <a:ext cx="8738907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对于一个质量</a:t>
            </a:r>
            <a:r>
              <a:rPr lang="en-US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m</a:t>
            </a:r>
            <a:r>
              <a:rPr lang="zh-CN" altLang="en-US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和长度</a:t>
            </a:r>
            <a:r>
              <a:rPr lang="en-US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L</a:t>
            </a:r>
            <a:r>
              <a:rPr lang="zh-CN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的单摆（单连杆），请分别用拉格朗日法和牛顿</a:t>
            </a:r>
            <a:r>
              <a:rPr lang="en-US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-</a:t>
            </a:r>
            <a:r>
              <a:rPr lang="zh-CN" altLang="zh-CN" sz="24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欧拉法推导其动力学方程，并对比两种方法的推导过程和最终结果。</a:t>
            </a:r>
          </a:p>
        </p:txBody>
      </p:sp>
    </p:spTree>
    <p:extLst>
      <p:ext uri="{BB962C8B-B14F-4D97-AF65-F5344CB8AC3E}">
        <p14:creationId xmlns:p14="http://schemas.microsoft.com/office/powerpoint/2010/main" val="3004143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 descr="54ab1a47-2c89-438e-a724-553c73d82f47">
            <a:extLst>
              <a:ext uri="{FF2B5EF4-FFF2-40B4-BE49-F238E27FC236}">
                <a16:creationId xmlns:a16="http://schemas.microsoft.com/office/drawing/2014/main" id="{1D2860AB-B015-403C-AA26-657907D79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796" y="148492"/>
            <a:ext cx="4881265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课后练习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90BDB-AC71-4EC5-8982-B222B3D7E07B}"/>
              </a:ext>
            </a:extLst>
          </p:cNvPr>
          <p:cNvSpPr txBox="1"/>
          <p:nvPr/>
        </p:nvSpPr>
        <p:spPr>
          <a:xfrm>
            <a:off x="2739353" y="492477"/>
            <a:ext cx="6928447" cy="72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dirty="0">
                <a:latin typeface="quote-cjk-patch"/>
              </a:rPr>
              <a:t>课后作业</a:t>
            </a:r>
            <a:endParaRPr lang="en-US" altLang="zh-CN" sz="2400" b="1" i="0" dirty="0"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C52C1D-1A5F-4859-8234-326F388F6335}"/>
              </a:ext>
            </a:extLst>
          </p:cNvPr>
          <p:cNvSpPr txBox="1"/>
          <p:nvPr/>
        </p:nvSpPr>
        <p:spPr>
          <a:xfrm>
            <a:off x="774887" y="1274820"/>
            <a:ext cx="10642226" cy="4308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1 </a:t>
            </a:r>
            <a:r>
              <a:rPr lang="zh-CN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建立模型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：建立一个平面</a:t>
            </a:r>
            <a:r>
              <a:rPr lang="en-US" altLang="zh-CN" sz="2000" kern="100" dirty="0">
                <a:latin typeface="+mj-ea"/>
                <a:ea typeface="+mj-ea"/>
                <a:cs typeface="Cambria Math" panose="02040503050406030204" pitchFamily="18" charset="0"/>
              </a:rPr>
              <a:t>2</a:t>
            </a:r>
            <a:r>
              <a:rPr lang="zh-CN" altLang="en-US" sz="2000" kern="100" dirty="0">
                <a:latin typeface="+mj-ea"/>
                <a:ea typeface="+mj-ea"/>
                <a:cs typeface="Cambria Math" panose="02040503050406030204" pitchFamily="18" charset="0"/>
              </a:rPr>
              <a:t>连杆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机器人</a:t>
            </a:r>
            <a:r>
              <a:rPr lang="zh-CN" altLang="en-US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，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设置合理的动力学参数（质量、惯量、质心等）。</a:t>
            </a:r>
          </a:p>
          <a:p>
            <a:pPr>
              <a:lnSpc>
                <a:spcPct val="200000"/>
              </a:lnSpc>
            </a:pPr>
            <a:r>
              <a:rPr lang="en-US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2 </a:t>
            </a:r>
            <a:r>
              <a:rPr lang="zh-CN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逆动力学分析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：设计一个平滑的运动轨迹</a:t>
            </a:r>
            <a:r>
              <a:rPr lang="zh-CN" altLang="en-US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，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让关节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1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从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0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°到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90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°，关节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2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从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0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°到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-90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°的正弦轨迹，绘制出实现该轨迹所需的关节力矩曲线。观察并解释力矩曲线的变化趋势。</a:t>
            </a:r>
          </a:p>
          <a:p>
            <a:pPr>
              <a:lnSpc>
                <a:spcPct val="200000"/>
              </a:lnSpc>
            </a:pPr>
            <a:r>
              <a:rPr lang="en-US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3 </a:t>
            </a:r>
            <a:r>
              <a:rPr lang="zh-CN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正动力学仿真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：在上述计算基础上，对机器人模型进行正动力学仿真（即施加力矩，看它如何运动）。对比仿真得到的实际运动轨迹与最初设计的期望轨迹，验证模型的正确性。</a:t>
            </a:r>
          </a:p>
          <a:p>
            <a:pPr>
              <a:lnSpc>
                <a:spcPct val="200000"/>
              </a:lnSpc>
            </a:pPr>
            <a:r>
              <a:rPr lang="en-US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4 </a:t>
            </a:r>
            <a:r>
              <a:rPr lang="zh-CN" altLang="en-US" sz="2000" b="1" kern="100" dirty="0">
                <a:latin typeface="+mj-ea"/>
                <a:ea typeface="+mj-ea"/>
                <a:cs typeface="Cambria Math" panose="02040503050406030204" pitchFamily="18" charset="0"/>
              </a:rPr>
              <a:t>扩展</a:t>
            </a:r>
            <a:r>
              <a:rPr lang="zh-CN" altLang="zh-CN" sz="2000" b="1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任务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：修改机器人的负载（将连杆</a:t>
            </a:r>
            <a:r>
              <a:rPr lang="en-US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2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的质量增加一倍），重复上述逆动力学分析。观察力矩曲线发生了怎样的变化，并</a:t>
            </a:r>
            <a:r>
              <a:rPr lang="zh-CN" altLang="en-US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分析</a:t>
            </a:r>
            <a:r>
              <a:rPr lang="zh-CN" altLang="zh-CN" sz="2000" kern="100" dirty="0">
                <a:effectLst/>
                <a:latin typeface="+mj-ea"/>
                <a:ea typeface="+mj-ea"/>
                <a:cs typeface="Cambria Math" panose="02040503050406030204" pitchFamily="18" charset="0"/>
              </a:rPr>
              <a:t>这种变化对电机选型和控制系统设计的影响。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BAC672-9E6C-406B-93FD-CD5D982AED16}"/>
              </a:ext>
            </a:extLst>
          </p:cNvPr>
          <p:cNvSpPr txBox="1"/>
          <p:nvPr/>
        </p:nvSpPr>
        <p:spPr>
          <a:xfrm>
            <a:off x="3337673" y="5745225"/>
            <a:ext cx="5873563" cy="62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3"/>
                </a:solidFill>
                <a:latin typeface="quote-cjk-patch"/>
              </a:rPr>
              <a:t>编写</a:t>
            </a:r>
            <a:r>
              <a:rPr lang="en-US" altLang="zh-CN" sz="2000" b="1" i="0" dirty="0">
                <a:solidFill>
                  <a:schemeClr val="accent3"/>
                </a:solidFill>
                <a:effectLst/>
                <a:latin typeface="quote-cjk-patch"/>
              </a:rPr>
              <a:t>python</a:t>
            </a:r>
            <a:r>
              <a:rPr lang="zh-CN" altLang="en-US" sz="2000" b="1" dirty="0">
                <a:solidFill>
                  <a:schemeClr val="accent3"/>
                </a:solidFill>
                <a:latin typeface="quote-cjk-patch"/>
              </a:rPr>
              <a:t>完成</a:t>
            </a:r>
            <a:r>
              <a:rPr lang="zh-CN" altLang="en-US" sz="2000" b="1" i="0" dirty="0">
                <a:solidFill>
                  <a:schemeClr val="accent3"/>
                </a:solidFill>
                <a:effectLst/>
                <a:latin typeface="quote-cjk-patch"/>
              </a:rPr>
              <a:t>上述分析设计</a:t>
            </a:r>
          </a:p>
        </p:txBody>
      </p:sp>
    </p:spTree>
    <p:extLst>
      <p:ext uri="{BB962C8B-B14F-4D97-AF65-F5344CB8AC3E}">
        <p14:creationId xmlns:p14="http://schemas.microsoft.com/office/powerpoint/2010/main" val="3069239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A5478"/>
      </a:accent1>
      <a:accent2>
        <a:srgbClr val="0F69A2"/>
      </a:accent2>
      <a:accent3>
        <a:srgbClr val="EE892D"/>
      </a:accent3>
      <a:accent4>
        <a:srgbClr val="F1C337"/>
      </a:accent4>
      <a:accent5>
        <a:srgbClr val="590800"/>
      </a:accent5>
      <a:accent6>
        <a:srgbClr val="02325F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7776</TotalTime>
  <Words>2981</Words>
  <Application>Microsoft Office PowerPoint</Application>
  <PresentationFormat>宽屏</PresentationFormat>
  <Paragraphs>259</Paragraphs>
  <Slides>36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KaTeX_Main</vt:lpstr>
      <vt:lpstr>KaTeX_Math</vt:lpstr>
      <vt:lpstr>quote-cjk-patch</vt:lpstr>
      <vt:lpstr>等线</vt:lpstr>
      <vt:lpstr>宋体</vt:lpstr>
      <vt:lpstr>微软雅黑</vt:lpstr>
      <vt:lpstr>Arial</vt:lpstr>
      <vt:lpstr>Wingdings</vt:lpstr>
      <vt:lpstr>Designed by iSlide</vt:lpstr>
      <vt:lpstr>机器人建模与控制仿真</vt:lpstr>
      <vt:lpstr>本章目录</vt:lpstr>
      <vt:lpstr>1 基础概念</vt:lpstr>
      <vt:lpstr>1 基础概念</vt:lpstr>
      <vt:lpstr>1 基础概念</vt:lpstr>
      <vt:lpstr>1 基础概念</vt:lpstr>
      <vt:lpstr>1 基础概念</vt:lpstr>
      <vt:lpstr>1 基础概念</vt:lpstr>
      <vt:lpstr>1 基础概念</vt:lpstr>
      <vt:lpstr>2 拉格朗日法</vt:lpstr>
      <vt:lpstr>2 拉格朗日法</vt:lpstr>
      <vt:lpstr>2 拉格朗日法</vt:lpstr>
      <vt:lpstr>2 拉格朗日法</vt:lpstr>
      <vt:lpstr>2 拉格朗日法</vt:lpstr>
      <vt:lpstr>2 拉格朗日法</vt:lpstr>
      <vt:lpstr>2 拉格朗日法</vt:lpstr>
      <vt:lpstr>2 拉格朗日法</vt:lpstr>
      <vt:lpstr>2 拉格朗日法</vt:lpstr>
      <vt:lpstr>2 拉格朗日法</vt:lpstr>
      <vt:lpstr>3 牛顿-欧拉法</vt:lpstr>
      <vt:lpstr>3 牛顿-欧拉法</vt:lpstr>
      <vt:lpstr>3 牛顿-欧拉法</vt:lpstr>
      <vt:lpstr>3 牛顿-欧拉法</vt:lpstr>
      <vt:lpstr>4 动力学深入解析</vt:lpstr>
      <vt:lpstr>4 动力学深入解析</vt:lpstr>
      <vt:lpstr>4 动力学深入解析</vt:lpstr>
      <vt:lpstr>4 动力学深入解析</vt:lpstr>
      <vt:lpstr>4 动力学深入解析</vt:lpstr>
      <vt:lpstr>4 动力学深入解析</vt:lpstr>
      <vt:lpstr>4 动力学深入解析</vt:lpstr>
      <vt:lpstr>5 扩展与小结</vt:lpstr>
      <vt:lpstr>5 扩展与小结</vt:lpstr>
      <vt:lpstr>5 扩展与小结</vt:lpstr>
      <vt:lpstr>5 扩展与小结</vt:lpstr>
      <vt:lpstr>5 课后练习</vt:lpstr>
      <vt:lpstr>5 课后练习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机器人建模与控制仿真</dc:title>
  <dc:creator>iSlide</dc:creator>
  <cp:lastModifiedBy>bitwsk@163.com</cp:lastModifiedBy>
  <cp:revision>153</cp:revision>
  <cp:lastPrinted>2024-01-29T00:00:00Z</cp:lastPrinted>
  <dcterms:created xsi:type="dcterms:W3CDTF">2024-01-29T00:00:00Z</dcterms:created>
  <dcterms:modified xsi:type="dcterms:W3CDTF">2026-03-10T13:15:50Z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5ab2b3fa-008a-4e66-9396-7501592bd7d7</vt:lpwstr>
  </property>
</Properties>
</file>