
<file path=[Content_Types].xml><?xml version="1.0" encoding="utf-8"?>
<Types xmlns="http://schemas.openxmlformats.org/package/2006/content-types">
  <Default Extension="jpeg" ContentType="image/jpeg"/>
  <Default Extension="jpeg@f_auto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1" r:id="rId3"/>
    <p:sldId id="290" r:id="rId4"/>
    <p:sldId id="289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06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89733" autoAdjust="0"/>
  </p:normalViewPr>
  <p:slideViewPr>
    <p:cSldViewPr snapToGrid="0" showGuides="1">
      <p:cViewPr varScale="1">
        <p:scale>
          <a:sx n="83" d="100"/>
          <a:sy n="83" d="100"/>
        </p:scale>
        <p:origin x="435" y="36"/>
      </p:cViewPr>
      <p:guideLst>
        <p:guide pos="416"/>
        <p:guide pos="7256"/>
        <p:guide orient="horz" pos="648"/>
        <p:guide orient="horz" pos="712"/>
        <p:guide orient="horz" pos="3906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36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15CB0-A70D-433A-8B09-FCE6A7C6EC6C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850EE-2B65-4435-874F-F14E9AA4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92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“同学们，当我们今天谈论机器人时，可能觉得这是高科技的产物。但人类对‘人造生命’的想象，早在三千年前就开始了。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古希腊的塔罗斯，是一个青铜巨人，每天绕岛巡逻三圈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这不就是最早的‘安防巡逻机器人’吗？而中国的偃师造人更惊人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那个‘倡者’不仅有完整的‘器官系统’，还能唱歌跳舞，甚至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敢挑逗王妃！结果差点害得偃师被杀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这大概是历史上第一次‘机器人失控导致研发者被追责’的案例。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到了汉代，我们的祖先已经造出了记里鼓车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用齿轮自动记录里程，原理和今天的汽车里程表一模一样。而指南车，更是差速器的鼻祖，连现代坦克都要借鉴它的原理。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世纪的欧洲，雅克德罗的自动人偶风靡皇宫，‘作家’能写字，‘画家’能画画，‘音乐家’能弹琴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这些精密的齿轮机械，就是当时最先进的‘仿人机器人’。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但是，真正的机器人为什么直到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年代才出现？因为缺少两个关键技术：数控机床和伺服电机。前者给了机器‘可编程的大脑’，后者给了机器‘精确的肌肉’。当这两者在二战后成熟，现代机器人终于从神话走进了现实。“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76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“同学们，当你们听到‘机器人’三个字，脑海里浮现的是什么？是金属外壳还是人形机械？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其实，‘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Robot’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这个词诞生还不到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1920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年，捷克剧作家恰佩克写了一部叫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罗素姆万能机器人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的戏。当时他哥哥建议用‘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Robota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这个词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在捷克语里，这是农奴的强制劳役。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这个词从诞生起，就带着‘被奴役’的烙印。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在这部戏里，机器人造出来是为人类干活的，最后却把人类杀光了。你们看，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年前的人就已经在担心：如果我们造出一个比我们强壮、比我们听话，但万一哪天它‘觉醒’了的东西，该怎么办？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这种‘服务于人类’又‘可能失控’的矛盾，就是我们今天要讨论的起点。”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306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07586-58E5-8DF8-4547-77E19B3B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CFD5E2-05DC-B75A-2643-4DC61C244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DA4B4A-6457-2A6E-5DD3-BB11C2091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E97F2-FF7D-F30E-712E-2CC01F54D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890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00CAB-A055-0A90-0EA0-850051CEE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5A13ED-4070-E3B0-AA68-EF01CDAC1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D4578E-7B22-42AE-0D6F-FB81C631A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“同学们，现在我们来澄清一个最常见的误解：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机器人和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到底是不是一回事？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中科院院士张钹教授说得很清楚：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这两个是完全独立的学科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的目标是模仿人类智能行为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AlphaGo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下棋，它算得出怎么赢你，但它自己不会动手落子，得有人帮它。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是‘思考派’，活在电脑里。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而机器人呢？它的目标是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完成任务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比如工厂里的焊接机械臂，它可能一点都不‘智能’，只是重复预设动作，但它确实能干活。机器人是‘行动派’，活在现实世界里。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最酷的是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具身智能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让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拥有‘身体’。谷歌的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PaLM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5620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亿参数，你告诉它‘我弄洒了饮料，拿点东西来清理’，它自己就能规划：找海绵→捡起来→拿过来。而且你从它手里抢走薯片扔一边，它还能再找回来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这才是真正的‘智能机器人’。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年春晚，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台人形机器人同时跳舞、翻跟头，背后就是具身智能技术的突破。它们不再只是‘按程序走’，而是能感知环境、自主决策。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所以记住：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是大脑，机器人是身体，具身智能就是让大脑和身体长在一起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。“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8FB316-3B39-68ED-C257-E14BBD517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927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82054-D626-221C-B290-C7FEECA4E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E4BE96-A018-A111-FE5A-2A2B7B3B0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737ED2-A508-6A71-05F1-5F0B28864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F93FA8-FD8C-7F73-7492-F5137F1AD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195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0BA6-066C-66B8-E8EA-31428B4AC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133029-2DC5-32DE-A702-7901A41AF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AFDEC9-C3F5-7480-2434-F1787ACB2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B10683-9BED-ED80-B72D-3F6C721DB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562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E5DDA-03AF-9B4E-2B14-C40EAE4D2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E6A023-2004-C2AA-6C88-456ED0125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57DA4A-9824-0D63-51DF-4FDCCAE99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418D8A-C2F0-FFBD-AB88-FB9503BC1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06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3F610-95FB-855A-0554-C3836F78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7F4BFC-2299-32EF-E910-482E8B80C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8FCE8E-F3CF-540B-CE89-E6B99462D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703C04-A687-8F4D-D36A-E08518F07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70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A3D69-EFFF-91A2-1AFD-2EBF71071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86E2B0-F6BB-31DC-212E-35E5A5498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0947A7-5C4F-B7CD-824C-5B6C84BBB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介绍工业机器人的四种核心结构，我们称它们为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四大金刚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先看直角坐标机器人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。它有三个直线轴，像龙门吊一样。优点是刚性强、精度高，缺点是占地方。常用于桁架机器人、机床上下料。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第二个是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SCARA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机器人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。它有俩旋转轴加一个升降轴，像一只灵活的手臂。特点是平面内跑得快、定位准。电子厂装配线上经常见到它。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第三个是关节型机器人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，最常见的是六轴，像人的手臂一样灵活。它几乎能干所有活儿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焊接、喷涂、搬运，是汽车工厂的主力。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最后是并联机器人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，也叫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Delta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。三组轻量化手臂并联，跑得飞快，每分钟能抓放上百次。食品分拣、药品包装是它的强项。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总结一下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：直角坐标够结实，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SCARA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手快，关节型全能，并联跑得快。选机器人先看结构，结构对了，事半功倍。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2F4B92-3F2A-0DB4-5FDD-376E4C45B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477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14F3B-6AE2-2D76-2854-6FCAE3576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CFD798-043F-04C4-3196-E9CE75803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35E739-F248-13F3-8893-09B4E48D2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介绍工业机器人的四种核心结构，我们称它们为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四大金刚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先看直角坐标机器人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。它有三个直线轴，像龙门吊一样。优点是刚性强、精度高，缺点是占地方。常用于桁架机器人、机床上下料。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第二个是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SCARA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机器人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。它有俩旋转轴加一个升降轴，像一只灵活的手臂。特点是平面内跑得快、定位准。电子厂装配线上经常见到它。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第三个是关节型机器人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，最常见的是六轴，像人的手臂一样灵活。它几乎能干所有活儿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焊接、喷涂、搬运，是汽车工厂的主力。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最后是并联机器人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，也叫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Delta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。三组轻量化手臂并联，跑得飞快，每分钟能抓放上百次。食品分拣、药品包装是它的强项。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总结一下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：直角坐标够结实，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SCARA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手快，关节型全能，并联跑得快。选机器人先看结构，结构对了，事半功倍。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7AA697-F17C-A513-90C3-26210658E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020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09AA1-0218-9BA1-D782-23FE8543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16D8B3-6810-1AC6-47E9-38F25BA22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BE2947-296C-48B5-F49A-31C32A4D8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介绍工业机器人的四种核心结构，我们称它们为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四大金刚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先看直角坐标机器人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。它有三个直线轴，像龙门吊一样。优点是刚性强、精度高，缺点是占地方。常用于桁架机器人、机床上下料。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第二个是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SCARA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机器人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。它有俩旋转轴加一个升降轴，像一只灵活的手臂。特点是平面内跑得快、定位准。电子厂装配线上经常见到它。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第三个是关节型机器人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，最常见的是六轴，像人的手臂一样灵活。它几乎能干所有活儿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焊接、喷涂、搬运，是汽车工厂的主力。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最后是并联机器人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，也叫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Delta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。三组轻量化手臂并联，跑得飞快，每分钟能抓放上百次。食品分拣、药品包装是它的强项。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总结一下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：直角坐标够结实，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SCARA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手快，关节型全能，并联跑得快。选机器人先看结构，结构对了，事半功倍。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B0DF5D-09AD-A75A-83DB-7744F7DE2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355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83D55-A3B2-6E4E-7578-0B4C7D096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D48C57-56CA-0614-35BB-6EBB5F69D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31D3E4-A046-D59B-4258-B4908FCB3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07F535-C928-1512-6FAE-98E933311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398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0F82-A762-09C6-02DE-5425A572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4B0939-7165-149F-75F4-9F8F49564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07B8D8-070B-F247-67E9-08664C1C7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EAC176-E796-4910-A17F-CB50635B9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669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B8237-F17D-A7E3-4E6C-C0A4FEB9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D4140A-6ED3-17EF-6098-9FF94E158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B378DC-757B-E76C-7541-3970ED368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35367A-9DE1-056C-E815-25983CB9B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212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BD2D2-4BEC-C3A6-C441-536C4F487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112758-5294-A1AF-5C79-B124694A9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21DC38-0762-3765-9CA3-2FFB79DAB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A013F2-70AB-2077-F2DC-4DDC0FD84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9910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0D54C-40F6-ADA8-78CD-A2C24CE98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C36EFA-DE08-0EBC-62FE-5CA9F7111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03E26B-2217-8F2D-F5CD-C821629A7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ACE44D-9797-A42B-7B1B-B0784EFB9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1217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0D621-3C24-970B-11FD-E8C32B08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2C0A1F-E682-CC6D-61A8-644645257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8C9896-091B-DBCE-2CB1-3221862A8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DCB934-C636-4FBE-834A-9C3D4555E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3237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1DA12-07B1-7D55-82E6-F0011B219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47C530-D904-6498-5356-685B39479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2FB2B5-A168-B3C2-115D-507AE36FF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312DF1-BD02-73F2-06D0-37B61DEC0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199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719F9-EFC3-F22E-E498-E42828621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5DDA31-8010-2A76-8154-871A2F695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9B57A8-C14E-C592-EF35-7390A52D9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EE5F7-46DD-4302-721D-BF67F1265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850EE-2B65-4435-874F-F14E9AA4965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939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 descr="406dbadb-c10c-43d6-b4f3-f07e3a0b5121"/>
          <p:cNvGrpSpPr/>
          <p:nvPr/>
        </p:nvGrpSpPr>
        <p:grpSpPr>
          <a:xfrm>
            <a:off x="0" y="-8229"/>
            <a:ext cx="12192000" cy="6866230"/>
            <a:chOff x="0" y="-8229"/>
            <a:chExt cx="12192000" cy="6866230"/>
          </a:xfrm>
        </p:grpSpPr>
        <p:sp>
          <p:nvSpPr>
            <p:cNvPr id="11" name="矩形 10" descr="32cbba83-7a84-4b06-acc2-987bebcc9253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blipFill>
              <a:blip r:embed="rId2"/>
              <a:stretch>
                <a:fillRect t="-787" b="-787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6" name="任意多边形: 形状 15" descr="65ef743a-2468-416b-b3c8-e497430422c5"/>
            <p:cNvSpPr/>
            <p:nvPr/>
          </p:nvSpPr>
          <p:spPr bwMode="auto">
            <a:xfrm>
              <a:off x="1" y="-8229"/>
              <a:ext cx="12191999" cy="6542088"/>
            </a:xfrm>
            <a:custGeom>
              <a:avLst/>
              <a:gdLst>
                <a:gd name="T0" fmla="*/ 3756 w 3756"/>
                <a:gd name="T1" fmla="*/ 1952 h 2014"/>
                <a:gd name="T2" fmla="*/ 3671 w 3756"/>
                <a:gd name="T3" fmla="*/ 1964 h 2014"/>
                <a:gd name="T4" fmla="*/ 2608 w 3756"/>
                <a:gd name="T5" fmla="*/ 1936 h 2014"/>
                <a:gd name="T6" fmla="*/ 2287 w 3756"/>
                <a:gd name="T7" fmla="*/ 1873 h 2014"/>
                <a:gd name="T8" fmla="*/ 1638 w 3756"/>
                <a:gd name="T9" fmla="*/ 1706 h 2014"/>
                <a:gd name="T10" fmla="*/ 1367 w 3756"/>
                <a:gd name="T11" fmla="*/ 1638 h 2014"/>
                <a:gd name="T12" fmla="*/ 0 w 3756"/>
                <a:gd name="T13" fmla="*/ 1608 h 2014"/>
                <a:gd name="T14" fmla="*/ 0 w 3756"/>
                <a:gd name="T15" fmla="*/ 1608 h 2014"/>
                <a:gd name="T16" fmla="*/ 0 w 3756"/>
                <a:gd name="T17" fmla="*/ 0 h 2014"/>
                <a:gd name="T18" fmla="*/ 3756 w 3756"/>
                <a:gd name="T19" fmla="*/ 0 h 2014"/>
                <a:gd name="T20" fmla="*/ 3756 w 3756"/>
                <a:gd name="T21" fmla="*/ 1952 h 2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gradFill>
              <a:gsLst>
                <a:gs pos="12000">
                  <a:schemeClr val="accent1">
                    <a:alpha val="95000"/>
                  </a:schemeClr>
                </a:gs>
                <a:gs pos="47000">
                  <a:schemeClr val="accent1">
                    <a:alpha val="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任意多边形: 形状 5" descr="05b1e153-81e7-4c2e-a3be-68016c177f12"/>
            <p:cNvSpPr/>
            <p:nvPr/>
          </p:nvSpPr>
          <p:spPr>
            <a:xfrm>
              <a:off x="0" y="5018704"/>
              <a:ext cx="12192000" cy="1839297"/>
            </a:xfrm>
            <a:custGeom>
              <a:avLst/>
              <a:gdLst>
                <a:gd name="connsiteX0" fmla="*/ 1944410 w 12192000"/>
                <a:gd name="connsiteY0" fmla="*/ 196 h 1839297"/>
                <a:gd name="connsiteX1" fmla="*/ 4437291 w 12192000"/>
                <a:gd name="connsiteY1" fmla="*/ 302022 h 1839297"/>
                <a:gd name="connsiteX2" fmla="*/ 5316959 w 12192000"/>
                <a:gd name="connsiteY2" fmla="*/ 522907 h 1839297"/>
                <a:gd name="connsiteX3" fmla="*/ 7423617 w 12192000"/>
                <a:gd name="connsiteY3" fmla="*/ 1065374 h 1839297"/>
                <a:gd name="connsiteX4" fmla="*/ 8465585 w 12192000"/>
                <a:gd name="connsiteY4" fmla="*/ 1270017 h 1839297"/>
                <a:gd name="connsiteX5" fmla="*/ 11916089 w 12192000"/>
                <a:gd name="connsiteY5" fmla="*/ 1360970 h 1839297"/>
                <a:gd name="connsiteX6" fmla="*/ 12192000 w 12192000"/>
                <a:gd name="connsiteY6" fmla="*/ 1321990 h 1839297"/>
                <a:gd name="connsiteX7" fmla="*/ 12192000 w 12192000"/>
                <a:gd name="connsiteY7" fmla="*/ 1839297 h 1839297"/>
                <a:gd name="connsiteX8" fmla="*/ 0 w 12192000"/>
                <a:gd name="connsiteY8" fmla="*/ 1839297 h 1839297"/>
                <a:gd name="connsiteX9" fmla="*/ 0 w 12192000"/>
                <a:gd name="connsiteY9" fmla="*/ 204573 h 1839297"/>
                <a:gd name="connsiteX10" fmla="*/ 1944410 w 12192000"/>
                <a:gd name="connsiteY10" fmla="*/ 196 h 1839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1839297">
                  <a:moveTo>
                    <a:pt x="1944410" y="196"/>
                  </a:moveTo>
                  <a:cubicBezTo>
                    <a:pt x="2781790" y="-5057"/>
                    <a:pt x="3619297" y="95552"/>
                    <a:pt x="4437291" y="302022"/>
                  </a:cubicBezTo>
                  <a:cubicBezTo>
                    <a:pt x="4437291" y="302022"/>
                    <a:pt x="4437291" y="302022"/>
                    <a:pt x="5316959" y="522907"/>
                  </a:cubicBezTo>
                  <a:cubicBezTo>
                    <a:pt x="5316959" y="522907"/>
                    <a:pt x="5316959" y="522907"/>
                    <a:pt x="7423617" y="1065374"/>
                  </a:cubicBezTo>
                  <a:cubicBezTo>
                    <a:pt x="7423617" y="1065374"/>
                    <a:pt x="7423617" y="1065374"/>
                    <a:pt x="8465585" y="1270017"/>
                  </a:cubicBezTo>
                  <a:cubicBezTo>
                    <a:pt x="9601687" y="1494150"/>
                    <a:pt x="10770249" y="1523385"/>
                    <a:pt x="11916089" y="1360970"/>
                  </a:cubicBezTo>
                  <a:cubicBezTo>
                    <a:pt x="11916089" y="1360970"/>
                    <a:pt x="11916089" y="1360970"/>
                    <a:pt x="12192000" y="1321990"/>
                  </a:cubicBezTo>
                  <a:lnTo>
                    <a:pt x="12192000" y="1839297"/>
                  </a:lnTo>
                  <a:lnTo>
                    <a:pt x="0" y="1839297"/>
                  </a:lnTo>
                  <a:lnTo>
                    <a:pt x="0" y="204573"/>
                  </a:lnTo>
                  <a:cubicBezTo>
                    <a:pt x="641898" y="72408"/>
                    <a:pt x="1293115" y="4282"/>
                    <a:pt x="1944410" y="196"/>
                  </a:cubicBezTo>
                  <a:close/>
                </a:path>
              </a:pathLst>
            </a:custGeom>
            <a:gradFill flip="none" rotWithShape="1">
              <a:gsLst>
                <a:gs pos="4400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任意多边形: 形状 11" descr="57e455fb-9b76-40d2-8d19-81b5d04dc619"/>
            <p:cNvSpPr/>
            <p:nvPr/>
          </p:nvSpPr>
          <p:spPr bwMode="auto">
            <a:xfrm>
              <a:off x="6661150" y="5519964"/>
              <a:ext cx="5530850" cy="1036638"/>
            </a:xfrm>
            <a:custGeom>
              <a:avLst/>
              <a:gdLst>
                <a:gd name="T0" fmla="*/ 723 w 1704"/>
                <a:gd name="T1" fmla="*/ 147 h 319"/>
                <a:gd name="T2" fmla="*/ 396 w 1704"/>
                <a:gd name="T3" fmla="*/ 144 h 319"/>
                <a:gd name="T4" fmla="*/ 0 w 1704"/>
                <a:gd name="T5" fmla="*/ 118 h 319"/>
                <a:gd name="T6" fmla="*/ 235 w 1704"/>
                <a:gd name="T7" fmla="*/ 178 h 319"/>
                <a:gd name="T8" fmla="*/ 556 w 1704"/>
                <a:gd name="T9" fmla="*/ 241 h 319"/>
                <a:gd name="T10" fmla="*/ 1619 w 1704"/>
                <a:gd name="T11" fmla="*/ 269 h 319"/>
                <a:gd name="T12" fmla="*/ 1704 w 1704"/>
                <a:gd name="T13" fmla="*/ 257 h 319"/>
                <a:gd name="T14" fmla="*/ 1704 w 1704"/>
                <a:gd name="T15" fmla="*/ 0 h 319"/>
                <a:gd name="T16" fmla="*/ 723 w 1704"/>
                <a:gd name="T17" fmla="*/ 14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4" h="319">
                  <a:moveTo>
                    <a:pt x="723" y="147"/>
                  </a:moveTo>
                  <a:cubicBezTo>
                    <a:pt x="396" y="144"/>
                    <a:pt x="396" y="144"/>
                    <a:pt x="396" y="14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235" y="178"/>
                    <a:pt x="235" y="178"/>
                    <a:pt x="235" y="178"/>
                  </a:cubicBezTo>
                  <a:cubicBezTo>
                    <a:pt x="556" y="241"/>
                    <a:pt x="556" y="241"/>
                    <a:pt x="556" y="241"/>
                  </a:cubicBezTo>
                  <a:cubicBezTo>
                    <a:pt x="906" y="310"/>
                    <a:pt x="1266" y="319"/>
                    <a:pt x="1619" y="269"/>
                  </a:cubicBezTo>
                  <a:cubicBezTo>
                    <a:pt x="1704" y="257"/>
                    <a:pt x="1704" y="257"/>
                    <a:pt x="1704" y="257"/>
                  </a:cubicBezTo>
                  <a:cubicBezTo>
                    <a:pt x="1704" y="0"/>
                    <a:pt x="1704" y="0"/>
                    <a:pt x="1704" y="0"/>
                  </a:cubicBezTo>
                  <a:cubicBezTo>
                    <a:pt x="1387" y="100"/>
                    <a:pt x="1056" y="149"/>
                    <a:pt x="723" y="147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alpha val="66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: 形状 12" descr="79421cf1-4637-4c20-a669-ffb3024eb944"/>
            <p:cNvSpPr/>
            <p:nvPr/>
          </p:nvSpPr>
          <p:spPr bwMode="auto">
            <a:xfrm>
              <a:off x="5424487" y="4535714"/>
              <a:ext cx="6767513" cy="1468438"/>
            </a:xfrm>
            <a:custGeom>
              <a:avLst/>
              <a:gdLst>
                <a:gd name="T0" fmla="*/ 1129 w 2085"/>
                <a:gd name="T1" fmla="*/ 253 h 452"/>
                <a:gd name="T2" fmla="*/ 803 w 2085"/>
                <a:gd name="T3" fmla="*/ 286 h 452"/>
                <a:gd name="T4" fmla="*/ 135 w 2085"/>
                <a:gd name="T5" fmla="*/ 316 h 452"/>
                <a:gd name="T6" fmla="*/ 0 w 2085"/>
                <a:gd name="T7" fmla="*/ 322 h 452"/>
                <a:gd name="T8" fmla="*/ 381 w 2085"/>
                <a:gd name="T9" fmla="*/ 421 h 452"/>
                <a:gd name="T10" fmla="*/ 777 w 2085"/>
                <a:gd name="T11" fmla="*/ 447 h 452"/>
                <a:gd name="T12" fmla="*/ 1104 w 2085"/>
                <a:gd name="T13" fmla="*/ 450 h 452"/>
                <a:gd name="T14" fmla="*/ 2085 w 2085"/>
                <a:gd name="T15" fmla="*/ 303 h 452"/>
                <a:gd name="T16" fmla="*/ 2085 w 2085"/>
                <a:gd name="T17" fmla="*/ 0 h 452"/>
                <a:gd name="T18" fmla="*/ 1129 w 2085"/>
                <a:gd name="T19" fmla="*/ 253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5" h="452">
                  <a:moveTo>
                    <a:pt x="1129" y="253"/>
                  </a:moveTo>
                  <a:cubicBezTo>
                    <a:pt x="803" y="286"/>
                    <a:pt x="803" y="286"/>
                    <a:pt x="803" y="286"/>
                  </a:cubicBezTo>
                  <a:cubicBezTo>
                    <a:pt x="135" y="316"/>
                    <a:pt x="135" y="316"/>
                    <a:pt x="135" y="316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381" y="421"/>
                    <a:pt x="381" y="421"/>
                    <a:pt x="381" y="421"/>
                  </a:cubicBezTo>
                  <a:cubicBezTo>
                    <a:pt x="777" y="447"/>
                    <a:pt x="777" y="447"/>
                    <a:pt x="777" y="447"/>
                  </a:cubicBezTo>
                  <a:cubicBezTo>
                    <a:pt x="1104" y="450"/>
                    <a:pt x="1104" y="450"/>
                    <a:pt x="1104" y="450"/>
                  </a:cubicBezTo>
                  <a:cubicBezTo>
                    <a:pt x="1437" y="452"/>
                    <a:pt x="1768" y="403"/>
                    <a:pt x="2085" y="303"/>
                  </a:cubicBezTo>
                  <a:cubicBezTo>
                    <a:pt x="2085" y="0"/>
                    <a:pt x="2085" y="0"/>
                    <a:pt x="2085" y="0"/>
                  </a:cubicBezTo>
                  <a:cubicBezTo>
                    <a:pt x="1782" y="133"/>
                    <a:pt x="1459" y="219"/>
                    <a:pt x="1129" y="253"/>
                  </a:cubicBezTo>
                  <a:close/>
                </a:path>
              </a:pathLst>
            </a:custGeom>
            <a:gradFill>
              <a:gsLst>
                <a:gs pos="28000">
                  <a:schemeClr val="accent1"/>
                </a:gs>
                <a:gs pos="100000">
                  <a:schemeClr val="accent1">
                    <a:lumMod val="40000"/>
                    <a:lumOff val="60000"/>
                    <a:alpha val="7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: 形状 18" descr="f7e1d6e7-980a-436c-95c7-a6c49de193db"/>
            <p:cNvSpPr/>
            <p:nvPr/>
          </p:nvSpPr>
          <p:spPr>
            <a:xfrm>
              <a:off x="9892976" y="2"/>
              <a:ext cx="2299024" cy="2412075"/>
            </a:xfrm>
            <a:custGeom>
              <a:avLst/>
              <a:gdLst>
                <a:gd name="connsiteX0" fmla="*/ 0 w 2299024"/>
                <a:gd name="connsiteY0" fmla="*/ 0 h 2412075"/>
                <a:gd name="connsiteX1" fmla="*/ 2299024 w 2299024"/>
                <a:gd name="connsiteY1" fmla="*/ 0 h 2412075"/>
                <a:gd name="connsiteX2" fmla="*/ 2299024 w 2299024"/>
                <a:gd name="connsiteY2" fmla="*/ 2412075 h 2412075"/>
                <a:gd name="connsiteX3" fmla="*/ 2289714 w 2299024"/>
                <a:gd name="connsiteY3" fmla="*/ 2399458 h 2412075"/>
                <a:gd name="connsiteX4" fmla="*/ 1726559 w 2299024"/>
                <a:gd name="connsiteY4" fmla="*/ 1636261 h 2412075"/>
                <a:gd name="connsiteX5" fmla="*/ 1372638 w 2299024"/>
                <a:gd name="connsiteY5" fmla="*/ 1165381 h 2412075"/>
                <a:gd name="connsiteX6" fmla="*/ 51131 w 2299024"/>
                <a:gd name="connsiteY6" fmla="*/ 24163 h 241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024" h="2412075">
                  <a:moveTo>
                    <a:pt x="0" y="0"/>
                  </a:moveTo>
                  <a:lnTo>
                    <a:pt x="2299024" y="0"/>
                  </a:lnTo>
                  <a:lnTo>
                    <a:pt x="2299024" y="2412075"/>
                  </a:lnTo>
                  <a:lnTo>
                    <a:pt x="2289714" y="2399458"/>
                  </a:lnTo>
                  <a:cubicBezTo>
                    <a:pt x="1726559" y="1636261"/>
                    <a:pt x="1726559" y="1636261"/>
                    <a:pt x="1726559" y="1636261"/>
                  </a:cubicBezTo>
                  <a:cubicBezTo>
                    <a:pt x="1372638" y="1165381"/>
                    <a:pt x="1372638" y="1165381"/>
                    <a:pt x="1372638" y="1165381"/>
                  </a:cubicBezTo>
                  <a:cubicBezTo>
                    <a:pt x="1007577" y="677844"/>
                    <a:pt x="562298" y="294562"/>
                    <a:pt x="51131" y="2416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标题 4" descr="6544afcb-c56a-465a-b687-07228e4889e0"/>
          <p:cNvSpPr>
            <a:spLocks noGrp="1"/>
          </p:cNvSpPr>
          <p:nvPr>
            <p:ph type="ctrTitle" hasCustomPrompt="1"/>
          </p:nvPr>
        </p:nvSpPr>
        <p:spPr>
          <a:xfrm>
            <a:off x="660400" y="1089025"/>
            <a:ext cx="6363398" cy="233997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9" name="副标题 8" descr="7488cc55-6641-41ad-a733-d0e7025faf39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575051"/>
            <a:ext cx="6363398" cy="129919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Click to add subtitle</a:t>
            </a:r>
            <a:endParaRPr lang="en-US"/>
          </a:p>
        </p:txBody>
      </p:sp>
      <p:sp>
        <p:nvSpPr>
          <p:cNvPr id="4" name="文本占位符 3" descr="d8717cf3-000f-493b-92a9-efb8c05bb687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0102"/>
            <a:ext cx="4764088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88e0fcb4-811b-484f-9298-406eec5d264d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7101"/>
            <a:ext cx="4764088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24e4010-0ced-435f-bcf8-a79a07d028c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内容占位符 2" descr="be966adb-5269-4a40-a671-d2649c7db098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 descr="7fbdde7d-809c-4e85-b7f5-eca26f026f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2e4dad07-c52f-4db1-b6c1-019ff7edd50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e3fcb460-8f56-4a79-825f-e38afbefc78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d2c0591-e19c-48fc-a7f8-759cf73a995d"/>
          <p:cNvSpPr>
            <a:spLocks noGrp="1"/>
          </p:cNvSpPr>
          <p:nvPr>
            <p:ph type="title" hasCustomPrompt="1"/>
          </p:nvPr>
        </p:nvSpPr>
        <p:spPr>
          <a:xfrm>
            <a:off x="800100" y="1605286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Agenda</a:t>
            </a:r>
            <a:endParaRPr lang="en-US"/>
          </a:p>
        </p:txBody>
      </p:sp>
      <p:sp>
        <p:nvSpPr>
          <p:cNvPr id="3" name="内容占位符 2" descr="67a0cbf9-586d-417a-8223-5b6925270a29"/>
          <p:cNvSpPr>
            <a:spLocks noGrp="1"/>
          </p:cNvSpPr>
          <p:nvPr>
            <p:ph sz="quarter" idx="1" hasCustomPrompt="1"/>
          </p:nvPr>
        </p:nvSpPr>
        <p:spPr>
          <a:xfrm>
            <a:off x="2970377" y="1605286"/>
            <a:ext cx="8231021" cy="4071936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 descr="eac3f240-9f63-4c65-a7a9-df22b90e600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 descr="7bacd0fd-6e26-43c2-af76-42d2ede14a6d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 descr="c7367640-10de-4f33-9642-4048ebdf1cf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直接连接符 9" descr="7358ec63-55ce-4654-ad01-eb1c68f3b25d"/>
          <p:cNvCxnSpPr/>
          <p:nvPr/>
        </p:nvCxnSpPr>
        <p:spPr>
          <a:xfrm flipH="1"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1">
                <a:alpha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: 形状 12" descr="92145be0-e7f2-4b46-b53c-4138553c34c0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4" name="组合 23" descr="cfe686fb-c194-41fa-beae-a038dcd6ed27"/>
          <p:cNvGrpSpPr/>
          <p:nvPr/>
        </p:nvGrpSpPr>
        <p:grpSpPr>
          <a:xfrm>
            <a:off x="0" y="0"/>
            <a:ext cx="12191998" cy="1044514"/>
            <a:chOff x="0" y="-399728"/>
            <a:chExt cx="13815102" cy="1183569"/>
          </a:xfrm>
        </p:grpSpPr>
        <p:sp>
          <p:nvSpPr>
            <p:cNvPr id="21" name="任意多边形: 形状 20" descr="45b59fab-cd0f-489b-b405-4bbac6931e5f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30000"/>
                  </a:schemeClr>
                </a:gs>
                <a:gs pos="100000">
                  <a:schemeClr val="accent1"/>
                </a:gs>
              </a:gsLst>
              <a:lin ang="0" scaled="0"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 descr="6258e5dc-2562-45fb-a319-531b01930e4f"/>
            <p:cNvSpPr/>
            <p:nvPr/>
          </p:nvSpPr>
          <p:spPr>
            <a:xfrm>
              <a:off x="6734755" y="205070"/>
              <a:ext cx="6811073" cy="532993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 descr="6c09d0d0-2163-4ebd-ba10-05052c5b0aa3"/>
          <p:cNvGrpSpPr/>
          <p:nvPr/>
        </p:nvGrpSpPr>
        <p:grpSpPr>
          <a:xfrm flipH="1">
            <a:off x="0" y="0"/>
            <a:ext cx="12192000" cy="6542088"/>
            <a:chOff x="0" y="0"/>
            <a:chExt cx="12192000" cy="6542088"/>
          </a:xfrm>
        </p:grpSpPr>
        <p:sp>
          <p:nvSpPr>
            <p:cNvPr id="3" name="任意多边形: 形状 2" descr="2b1b37cd-1b33-47ba-ac03-02c62328061c"/>
            <p:cNvSpPr/>
            <p:nvPr/>
          </p:nvSpPr>
          <p:spPr bwMode="auto">
            <a:xfrm>
              <a:off x="0" y="0"/>
              <a:ext cx="12192000" cy="6542088"/>
            </a:xfrm>
            <a:custGeom>
              <a:avLst/>
              <a:gdLst>
                <a:gd name="T0" fmla="*/ 3756 w 3756"/>
                <a:gd name="T1" fmla="*/ 1952 h 2014"/>
                <a:gd name="T2" fmla="*/ 3671 w 3756"/>
                <a:gd name="T3" fmla="*/ 1964 h 2014"/>
                <a:gd name="T4" fmla="*/ 2608 w 3756"/>
                <a:gd name="T5" fmla="*/ 1936 h 2014"/>
                <a:gd name="T6" fmla="*/ 2287 w 3756"/>
                <a:gd name="T7" fmla="*/ 1873 h 2014"/>
                <a:gd name="T8" fmla="*/ 1638 w 3756"/>
                <a:gd name="T9" fmla="*/ 1706 h 2014"/>
                <a:gd name="T10" fmla="*/ 1367 w 3756"/>
                <a:gd name="T11" fmla="*/ 1638 h 2014"/>
                <a:gd name="T12" fmla="*/ 0 w 3756"/>
                <a:gd name="T13" fmla="*/ 1608 h 2014"/>
                <a:gd name="T14" fmla="*/ 0 w 3756"/>
                <a:gd name="T15" fmla="*/ 1608 h 2014"/>
                <a:gd name="T16" fmla="*/ 0 w 3756"/>
                <a:gd name="T17" fmla="*/ 0 h 2014"/>
                <a:gd name="T18" fmla="*/ 3756 w 3756"/>
                <a:gd name="T19" fmla="*/ 0 h 2014"/>
                <a:gd name="T20" fmla="*/ 3756 w 3756"/>
                <a:gd name="T21" fmla="*/ 1952 h 2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blipFill>
              <a:blip r:embed="rId2"/>
              <a:stretch>
                <a:fillRect t="-3239" b="-323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任意多边形: 形状 6" descr="3eeab99a-5dcc-43a9-8dd5-dabcea8147b7"/>
            <p:cNvSpPr/>
            <p:nvPr/>
          </p:nvSpPr>
          <p:spPr bwMode="auto">
            <a:xfrm>
              <a:off x="0" y="0"/>
              <a:ext cx="12192000" cy="6542088"/>
            </a:xfrm>
            <a:custGeom>
              <a:avLst/>
              <a:gdLst>
                <a:gd name="T0" fmla="*/ 3756 w 3756"/>
                <a:gd name="T1" fmla="*/ 1952 h 2014"/>
                <a:gd name="T2" fmla="*/ 3671 w 3756"/>
                <a:gd name="T3" fmla="*/ 1964 h 2014"/>
                <a:gd name="T4" fmla="*/ 2608 w 3756"/>
                <a:gd name="T5" fmla="*/ 1936 h 2014"/>
                <a:gd name="T6" fmla="*/ 2287 w 3756"/>
                <a:gd name="T7" fmla="*/ 1873 h 2014"/>
                <a:gd name="T8" fmla="*/ 1638 w 3756"/>
                <a:gd name="T9" fmla="*/ 1706 h 2014"/>
                <a:gd name="T10" fmla="*/ 1367 w 3756"/>
                <a:gd name="T11" fmla="*/ 1638 h 2014"/>
                <a:gd name="T12" fmla="*/ 0 w 3756"/>
                <a:gd name="T13" fmla="*/ 1608 h 2014"/>
                <a:gd name="T14" fmla="*/ 0 w 3756"/>
                <a:gd name="T15" fmla="*/ 1608 h 2014"/>
                <a:gd name="T16" fmla="*/ 0 w 3756"/>
                <a:gd name="T17" fmla="*/ 0 h 2014"/>
                <a:gd name="T18" fmla="*/ 3756 w 3756"/>
                <a:gd name="T19" fmla="*/ 0 h 2014"/>
                <a:gd name="T20" fmla="*/ 3756 w 3756"/>
                <a:gd name="T21" fmla="*/ 1952 h 2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73000"/>
                  </a:schemeClr>
                </a:gs>
                <a:gs pos="82000">
                  <a:schemeClr val="accent1">
                    <a:alpha val="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任意多边形: 形状 8" descr="c9de2f25-f493-464a-9b2f-91115930b340"/>
            <p:cNvSpPr/>
            <p:nvPr/>
          </p:nvSpPr>
          <p:spPr bwMode="auto">
            <a:xfrm>
              <a:off x="6661150" y="5505450"/>
              <a:ext cx="5530850" cy="1036638"/>
            </a:xfrm>
            <a:custGeom>
              <a:avLst/>
              <a:gdLst>
                <a:gd name="T0" fmla="*/ 723 w 1704"/>
                <a:gd name="T1" fmla="*/ 147 h 319"/>
                <a:gd name="T2" fmla="*/ 396 w 1704"/>
                <a:gd name="T3" fmla="*/ 144 h 319"/>
                <a:gd name="T4" fmla="*/ 0 w 1704"/>
                <a:gd name="T5" fmla="*/ 118 h 319"/>
                <a:gd name="T6" fmla="*/ 235 w 1704"/>
                <a:gd name="T7" fmla="*/ 178 h 319"/>
                <a:gd name="T8" fmla="*/ 556 w 1704"/>
                <a:gd name="T9" fmla="*/ 241 h 319"/>
                <a:gd name="T10" fmla="*/ 1619 w 1704"/>
                <a:gd name="T11" fmla="*/ 269 h 319"/>
                <a:gd name="T12" fmla="*/ 1704 w 1704"/>
                <a:gd name="T13" fmla="*/ 257 h 319"/>
                <a:gd name="T14" fmla="*/ 1704 w 1704"/>
                <a:gd name="T15" fmla="*/ 0 h 319"/>
                <a:gd name="T16" fmla="*/ 723 w 1704"/>
                <a:gd name="T17" fmla="*/ 14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4" h="319">
                  <a:moveTo>
                    <a:pt x="723" y="147"/>
                  </a:moveTo>
                  <a:cubicBezTo>
                    <a:pt x="396" y="144"/>
                    <a:pt x="396" y="144"/>
                    <a:pt x="396" y="14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235" y="178"/>
                    <a:pt x="235" y="178"/>
                    <a:pt x="235" y="178"/>
                  </a:cubicBezTo>
                  <a:cubicBezTo>
                    <a:pt x="556" y="241"/>
                    <a:pt x="556" y="241"/>
                    <a:pt x="556" y="241"/>
                  </a:cubicBezTo>
                  <a:cubicBezTo>
                    <a:pt x="906" y="310"/>
                    <a:pt x="1266" y="319"/>
                    <a:pt x="1619" y="269"/>
                  </a:cubicBezTo>
                  <a:cubicBezTo>
                    <a:pt x="1704" y="257"/>
                    <a:pt x="1704" y="257"/>
                    <a:pt x="1704" y="257"/>
                  </a:cubicBezTo>
                  <a:cubicBezTo>
                    <a:pt x="1704" y="0"/>
                    <a:pt x="1704" y="0"/>
                    <a:pt x="1704" y="0"/>
                  </a:cubicBezTo>
                  <a:cubicBezTo>
                    <a:pt x="1387" y="100"/>
                    <a:pt x="1056" y="149"/>
                    <a:pt x="723" y="1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任意多边形: 形状 9" descr="df5feb39-6ced-49ae-a60e-4d0c2ce04999"/>
            <p:cNvSpPr/>
            <p:nvPr/>
          </p:nvSpPr>
          <p:spPr bwMode="auto">
            <a:xfrm>
              <a:off x="5424487" y="4521200"/>
              <a:ext cx="6767513" cy="1468438"/>
            </a:xfrm>
            <a:custGeom>
              <a:avLst/>
              <a:gdLst>
                <a:gd name="T0" fmla="*/ 1129 w 2085"/>
                <a:gd name="T1" fmla="*/ 253 h 452"/>
                <a:gd name="T2" fmla="*/ 803 w 2085"/>
                <a:gd name="T3" fmla="*/ 286 h 452"/>
                <a:gd name="T4" fmla="*/ 135 w 2085"/>
                <a:gd name="T5" fmla="*/ 316 h 452"/>
                <a:gd name="T6" fmla="*/ 0 w 2085"/>
                <a:gd name="T7" fmla="*/ 322 h 452"/>
                <a:gd name="T8" fmla="*/ 381 w 2085"/>
                <a:gd name="T9" fmla="*/ 421 h 452"/>
                <a:gd name="T10" fmla="*/ 777 w 2085"/>
                <a:gd name="T11" fmla="*/ 447 h 452"/>
                <a:gd name="T12" fmla="*/ 1104 w 2085"/>
                <a:gd name="T13" fmla="*/ 450 h 452"/>
                <a:gd name="T14" fmla="*/ 2085 w 2085"/>
                <a:gd name="T15" fmla="*/ 303 h 452"/>
                <a:gd name="T16" fmla="*/ 2085 w 2085"/>
                <a:gd name="T17" fmla="*/ 0 h 452"/>
                <a:gd name="T18" fmla="*/ 1129 w 2085"/>
                <a:gd name="T19" fmla="*/ 253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5" h="452">
                  <a:moveTo>
                    <a:pt x="1129" y="253"/>
                  </a:moveTo>
                  <a:cubicBezTo>
                    <a:pt x="803" y="286"/>
                    <a:pt x="803" y="286"/>
                    <a:pt x="803" y="286"/>
                  </a:cubicBezTo>
                  <a:cubicBezTo>
                    <a:pt x="135" y="316"/>
                    <a:pt x="135" y="316"/>
                    <a:pt x="135" y="316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381" y="421"/>
                    <a:pt x="381" y="421"/>
                    <a:pt x="381" y="421"/>
                  </a:cubicBezTo>
                  <a:cubicBezTo>
                    <a:pt x="777" y="447"/>
                    <a:pt x="777" y="447"/>
                    <a:pt x="777" y="447"/>
                  </a:cubicBezTo>
                  <a:cubicBezTo>
                    <a:pt x="1104" y="450"/>
                    <a:pt x="1104" y="450"/>
                    <a:pt x="1104" y="450"/>
                  </a:cubicBezTo>
                  <a:cubicBezTo>
                    <a:pt x="1437" y="452"/>
                    <a:pt x="1768" y="403"/>
                    <a:pt x="2085" y="303"/>
                  </a:cubicBezTo>
                  <a:cubicBezTo>
                    <a:pt x="2085" y="0"/>
                    <a:pt x="2085" y="0"/>
                    <a:pt x="2085" y="0"/>
                  </a:cubicBezTo>
                  <a:cubicBezTo>
                    <a:pt x="1782" y="133"/>
                    <a:pt x="1459" y="219"/>
                    <a:pt x="1129" y="25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98000">
                  <a:schemeClr val="accent1">
                    <a:alpha val="24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" name="标题 4" descr="10ac89b2-8307-4ad3-ab99-1c0711753f25"/>
          <p:cNvSpPr>
            <a:spLocks noGrp="1"/>
          </p:cNvSpPr>
          <p:nvPr>
            <p:ph type="title" hasCustomPrompt="1"/>
          </p:nvPr>
        </p:nvSpPr>
        <p:spPr>
          <a:xfrm>
            <a:off x="6094234" y="1840730"/>
            <a:ext cx="5424666" cy="1460258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48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25" name="文本占位符 24" descr="e9044926-67dc-4dd8-b97f-4a0dabad36e7"/>
          <p:cNvSpPr>
            <a:spLocks noGrp="1"/>
          </p:cNvSpPr>
          <p:nvPr>
            <p:ph type="body" sz="quarter" idx="1" hasCustomPrompt="1"/>
          </p:nvPr>
        </p:nvSpPr>
        <p:spPr>
          <a:xfrm>
            <a:off x="6094234" y="3312842"/>
            <a:ext cx="5424666" cy="75909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2000" b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</p:txBody>
      </p:sp>
      <p:sp>
        <p:nvSpPr>
          <p:cNvPr id="4" name="日期占位符 3" descr="d7400934-27ab-4acf-84b6-6912c959928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2026/3/7</a:t>
            </a:fld>
            <a:endParaRPr lang="en-US" altLang="zh-CN"/>
          </a:p>
        </p:txBody>
      </p:sp>
      <p:sp>
        <p:nvSpPr>
          <p:cNvPr id="6" name="页脚占位符 5" descr="acffe9f6-5a4c-4784-b665-c9ac5e5b66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iSlide</a:t>
            </a:r>
            <a:endParaRPr lang="zh-CN" altLang="en-US"/>
          </a:p>
        </p:txBody>
      </p:sp>
      <p:sp>
        <p:nvSpPr>
          <p:cNvPr id="8" name="灯片编号占位符 7" descr="3db35e2a-752a-4e23-b12f-875eecbf0d9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54ab1a47-2c89-438e-a724-553c73d82f4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日期占位符 2" descr="e6a53de5-0c1b-4ef0-b1a2-aa90a1af79d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07879b0e-50d9-4a4f-a933-169074a9086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a3843385-33d2-482e-8e6f-6aefa3d264b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9e3dc54c-9795-4a07-9042-09fd6798136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3382e854-e172-4ce5-bafa-88f8f0e436f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b499ede5-fe93-43ed-90e4-43b4fa397aa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 descr="02c5aec8-7f90-4eba-bc95-787397110e9c"/>
          <p:cNvGrpSpPr/>
          <p:nvPr/>
        </p:nvGrpSpPr>
        <p:grpSpPr>
          <a:xfrm>
            <a:off x="0" y="-8229"/>
            <a:ext cx="12192000" cy="6866230"/>
            <a:chOff x="0" y="-8229"/>
            <a:chExt cx="12192000" cy="6866230"/>
          </a:xfrm>
        </p:grpSpPr>
        <p:sp>
          <p:nvSpPr>
            <p:cNvPr id="11" name="矩形 10" descr="fdf885fa-1a9f-4fb0-992f-3bceec5a8c01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blipFill>
              <a:blip r:embed="rId2"/>
              <a:stretch>
                <a:fillRect t="-787" b="-787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6" name="任意多边形: 形状 15" descr="2f589470-d377-4c74-89f5-8b916c1eb4b5"/>
            <p:cNvSpPr/>
            <p:nvPr/>
          </p:nvSpPr>
          <p:spPr bwMode="auto">
            <a:xfrm>
              <a:off x="1" y="-8229"/>
              <a:ext cx="12191999" cy="6542088"/>
            </a:xfrm>
            <a:custGeom>
              <a:avLst/>
              <a:gdLst>
                <a:gd name="T0" fmla="*/ 3756 w 3756"/>
                <a:gd name="T1" fmla="*/ 1952 h 2014"/>
                <a:gd name="T2" fmla="*/ 3671 w 3756"/>
                <a:gd name="T3" fmla="*/ 1964 h 2014"/>
                <a:gd name="T4" fmla="*/ 2608 w 3756"/>
                <a:gd name="T5" fmla="*/ 1936 h 2014"/>
                <a:gd name="T6" fmla="*/ 2287 w 3756"/>
                <a:gd name="T7" fmla="*/ 1873 h 2014"/>
                <a:gd name="T8" fmla="*/ 1638 w 3756"/>
                <a:gd name="T9" fmla="*/ 1706 h 2014"/>
                <a:gd name="T10" fmla="*/ 1367 w 3756"/>
                <a:gd name="T11" fmla="*/ 1638 h 2014"/>
                <a:gd name="T12" fmla="*/ 0 w 3756"/>
                <a:gd name="T13" fmla="*/ 1608 h 2014"/>
                <a:gd name="T14" fmla="*/ 0 w 3756"/>
                <a:gd name="T15" fmla="*/ 1608 h 2014"/>
                <a:gd name="T16" fmla="*/ 0 w 3756"/>
                <a:gd name="T17" fmla="*/ 0 h 2014"/>
                <a:gd name="T18" fmla="*/ 3756 w 3756"/>
                <a:gd name="T19" fmla="*/ 0 h 2014"/>
                <a:gd name="T20" fmla="*/ 3756 w 3756"/>
                <a:gd name="T21" fmla="*/ 1952 h 2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gradFill>
              <a:gsLst>
                <a:gs pos="12000">
                  <a:schemeClr val="accent1">
                    <a:alpha val="95000"/>
                  </a:schemeClr>
                </a:gs>
                <a:gs pos="47000">
                  <a:schemeClr val="accent1">
                    <a:alpha val="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任意多边形: 形状 5" descr="045dbaa4-986c-4cd5-85fa-5969d6d6c86c"/>
            <p:cNvSpPr/>
            <p:nvPr/>
          </p:nvSpPr>
          <p:spPr>
            <a:xfrm>
              <a:off x="0" y="5018704"/>
              <a:ext cx="12192000" cy="1839297"/>
            </a:xfrm>
            <a:custGeom>
              <a:avLst/>
              <a:gdLst>
                <a:gd name="connsiteX0" fmla="*/ 1944410 w 12192000"/>
                <a:gd name="connsiteY0" fmla="*/ 196 h 1839297"/>
                <a:gd name="connsiteX1" fmla="*/ 4437291 w 12192000"/>
                <a:gd name="connsiteY1" fmla="*/ 302022 h 1839297"/>
                <a:gd name="connsiteX2" fmla="*/ 5316959 w 12192000"/>
                <a:gd name="connsiteY2" fmla="*/ 522907 h 1839297"/>
                <a:gd name="connsiteX3" fmla="*/ 7423617 w 12192000"/>
                <a:gd name="connsiteY3" fmla="*/ 1065374 h 1839297"/>
                <a:gd name="connsiteX4" fmla="*/ 8465585 w 12192000"/>
                <a:gd name="connsiteY4" fmla="*/ 1270017 h 1839297"/>
                <a:gd name="connsiteX5" fmla="*/ 11916089 w 12192000"/>
                <a:gd name="connsiteY5" fmla="*/ 1360970 h 1839297"/>
                <a:gd name="connsiteX6" fmla="*/ 12192000 w 12192000"/>
                <a:gd name="connsiteY6" fmla="*/ 1321990 h 1839297"/>
                <a:gd name="connsiteX7" fmla="*/ 12192000 w 12192000"/>
                <a:gd name="connsiteY7" fmla="*/ 1839297 h 1839297"/>
                <a:gd name="connsiteX8" fmla="*/ 0 w 12192000"/>
                <a:gd name="connsiteY8" fmla="*/ 1839297 h 1839297"/>
                <a:gd name="connsiteX9" fmla="*/ 0 w 12192000"/>
                <a:gd name="connsiteY9" fmla="*/ 204573 h 1839297"/>
                <a:gd name="connsiteX10" fmla="*/ 1944410 w 12192000"/>
                <a:gd name="connsiteY10" fmla="*/ 196 h 1839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1839297">
                  <a:moveTo>
                    <a:pt x="1944410" y="196"/>
                  </a:moveTo>
                  <a:cubicBezTo>
                    <a:pt x="2781790" y="-5057"/>
                    <a:pt x="3619297" y="95552"/>
                    <a:pt x="4437291" y="302022"/>
                  </a:cubicBezTo>
                  <a:cubicBezTo>
                    <a:pt x="4437291" y="302022"/>
                    <a:pt x="4437291" y="302022"/>
                    <a:pt x="5316959" y="522907"/>
                  </a:cubicBezTo>
                  <a:cubicBezTo>
                    <a:pt x="5316959" y="522907"/>
                    <a:pt x="5316959" y="522907"/>
                    <a:pt x="7423617" y="1065374"/>
                  </a:cubicBezTo>
                  <a:cubicBezTo>
                    <a:pt x="7423617" y="1065374"/>
                    <a:pt x="7423617" y="1065374"/>
                    <a:pt x="8465585" y="1270017"/>
                  </a:cubicBezTo>
                  <a:cubicBezTo>
                    <a:pt x="9601687" y="1494150"/>
                    <a:pt x="10770249" y="1523385"/>
                    <a:pt x="11916089" y="1360970"/>
                  </a:cubicBezTo>
                  <a:cubicBezTo>
                    <a:pt x="11916089" y="1360970"/>
                    <a:pt x="11916089" y="1360970"/>
                    <a:pt x="12192000" y="1321990"/>
                  </a:cubicBezTo>
                  <a:lnTo>
                    <a:pt x="12192000" y="1839297"/>
                  </a:lnTo>
                  <a:lnTo>
                    <a:pt x="0" y="1839297"/>
                  </a:lnTo>
                  <a:lnTo>
                    <a:pt x="0" y="204573"/>
                  </a:lnTo>
                  <a:cubicBezTo>
                    <a:pt x="641898" y="72408"/>
                    <a:pt x="1293115" y="4282"/>
                    <a:pt x="1944410" y="196"/>
                  </a:cubicBezTo>
                  <a:close/>
                </a:path>
              </a:pathLst>
            </a:custGeom>
            <a:gradFill flip="none" rotWithShape="1">
              <a:gsLst>
                <a:gs pos="4400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任意多边形: 形状 11" descr="3ac059d3-ab00-416c-a5cb-39b595370976"/>
            <p:cNvSpPr/>
            <p:nvPr/>
          </p:nvSpPr>
          <p:spPr bwMode="auto">
            <a:xfrm>
              <a:off x="6661150" y="5519964"/>
              <a:ext cx="5530850" cy="1036638"/>
            </a:xfrm>
            <a:custGeom>
              <a:avLst/>
              <a:gdLst>
                <a:gd name="T0" fmla="*/ 723 w 1704"/>
                <a:gd name="T1" fmla="*/ 147 h 319"/>
                <a:gd name="T2" fmla="*/ 396 w 1704"/>
                <a:gd name="T3" fmla="*/ 144 h 319"/>
                <a:gd name="T4" fmla="*/ 0 w 1704"/>
                <a:gd name="T5" fmla="*/ 118 h 319"/>
                <a:gd name="T6" fmla="*/ 235 w 1704"/>
                <a:gd name="T7" fmla="*/ 178 h 319"/>
                <a:gd name="T8" fmla="*/ 556 w 1704"/>
                <a:gd name="T9" fmla="*/ 241 h 319"/>
                <a:gd name="T10" fmla="*/ 1619 w 1704"/>
                <a:gd name="T11" fmla="*/ 269 h 319"/>
                <a:gd name="T12" fmla="*/ 1704 w 1704"/>
                <a:gd name="T13" fmla="*/ 257 h 319"/>
                <a:gd name="T14" fmla="*/ 1704 w 1704"/>
                <a:gd name="T15" fmla="*/ 0 h 319"/>
                <a:gd name="T16" fmla="*/ 723 w 1704"/>
                <a:gd name="T17" fmla="*/ 14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4" h="319">
                  <a:moveTo>
                    <a:pt x="723" y="147"/>
                  </a:moveTo>
                  <a:cubicBezTo>
                    <a:pt x="396" y="144"/>
                    <a:pt x="396" y="144"/>
                    <a:pt x="396" y="14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235" y="178"/>
                    <a:pt x="235" y="178"/>
                    <a:pt x="235" y="178"/>
                  </a:cubicBezTo>
                  <a:cubicBezTo>
                    <a:pt x="556" y="241"/>
                    <a:pt x="556" y="241"/>
                    <a:pt x="556" y="241"/>
                  </a:cubicBezTo>
                  <a:cubicBezTo>
                    <a:pt x="906" y="310"/>
                    <a:pt x="1266" y="319"/>
                    <a:pt x="1619" y="269"/>
                  </a:cubicBezTo>
                  <a:cubicBezTo>
                    <a:pt x="1704" y="257"/>
                    <a:pt x="1704" y="257"/>
                    <a:pt x="1704" y="257"/>
                  </a:cubicBezTo>
                  <a:cubicBezTo>
                    <a:pt x="1704" y="0"/>
                    <a:pt x="1704" y="0"/>
                    <a:pt x="1704" y="0"/>
                  </a:cubicBezTo>
                  <a:cubicBezTo>
                    <a:pt x="1387" y="100"/>
                    <a:pt x="1056" y="149"/>
                    <a:pt x="723" y="147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alpha val="66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: 形状 12" descr="d73a1009-9118-4851-9cdf-9f459cc7cadf"/>
            <p:cNvSpPr/>
            <p:nvPr/>
          </p:nvSpPr>
          <p:spPr bwMode="auto">
            <a:xfrm>
              <a:off x="5424487" y="4535714"/>
              <a:ext cx="6767513" cy="1468438"/>
            </a:xfrm>
            <a:custGeom>
              <a:avLst/>
              <a:gdLst>
                <a:gd name="T0" fmla="*/ 1129 w 2085"/>
                <a:gd name="T1" fmla="*/ 253 h 452"/>
                <a:gd name="T2" fmla="*/ 803 w 2085"/>
                <a:gd name="T3" fmla="*/ 286 h 452"/>
                <a:gd name="T4" fmla="*/ 135 w 2085"/>
                <a:gd name="T5" fmla="*/ 316 h 452"/>
                <a:gd name="T6" fmla="*/ 0 w 2085"/>
                <a:gd name="T7" fmla="*/ 322 h 452"/>
                <a:gd name="T8" fmla="*/ 381 w 2085"/>
                <a:gd name="T9" fmla="*/ 421 h 452"/>
                <a:gd name="T10" fmla="*/ 777 w 2085"/>
                <a:gd name="T11" fmla="*/ 447 h 452"/>
                <a:gd name="T12" fmla="*/ 1104 w 2085"/>
                <a:gd name="T13" fmla="*/ 450 h 452"/>
                <a:gd name="T14" fmla="*/ 2085 w 2085"/>
                <a:gd name="T15" fmla="*/ 303 h 452"/>
                <a:gd name="T16" fmla="*/ 2085 w 2085"/>
                <a:gd name="T17" fmla="*/ 0 h 452"/>
                <a:gd name="T18" fmla="*/ 1129 w 2085"/>
                <a:gd name="T19" fmla="*/ 253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5" h="452">
                  <a:moveTo>
                    <a:pt x="1129" y="253"/>
                  </a:moveTo>
                  <a:cubicBezTo>
                    <a:pt x="803" y="286"/>
                    <a:pt x="803" y="286"/>
                    <a:pt x="803" y="286"/>
                  </a:cubicBezTo>
                  <a:cubicBezTo>
                    <a:pt x="135" y="316"/>
                    <a:pt x="135" y="316"/>
                    <a:pt x="135" y="316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381" y="421"/>
                    <a:pt x="381" y="421"/>
                    <a:pt x="381" y="421"/>
                  </a:cubicBezTo>
                  <a:cubicBezTo>
                    <a:pt x="777" y="447"/>
                    <a:pt x="777" y="447"/>
                    <a:pt x="777" y="447"/>
                  </a:cubicBezTo>
                  <a:cubicBezTo>
                    <a:pt x="1104" y="450"/>
                    <a:pt x="1104" y="450"/>
                    <a:pt x="1104" y="450"/>
                  </a:cubicBezTo>
                  <a:cubicBezTo>
                    <a:pt x="1437" y="452"/>
                    <a:pt x="1768" y="403"/>
                    <a:pt x="2085" y="303"/>
                  </a:cubicBezTo>
                  <a:cubicBezTo>
                    <a:pt x="2085" y="0"/>
                    <a:pt x="2085" y="0"/>
                    <a:pt x="2085" y="0"/>
                  </a:cubicBezTo>
                  <a:cubicBezTo>
                    <a:pt x="1782" y="133"/>
                    <a:pt x="1459" y="219"/>
                    <a:pt x="1129" y="253"/>
                  </a:cubicBezTo>
                  <a:close/>
                </a:path>
              </a:pathLst>
            </a:custGeom>
            <a:gradFill>
              <a:gsLst>
                <a:gs pos="28000">
                  <a:schemeClr val="accent1"/>
                </a:gs>
                <a:gs pos="100000">
                  <a:schemeClr val="accent1">
                    <a:lumMod val="40000"/>
                    <a:lumOff val="60000"/>
                    <a:alpha val="7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: 形状 18" descr="1a6137ab-10a2-413e-8300-7f4848459c0f"/>
            <p:cNvSpPr/>
            <p:nvPr/>
          </p:nvSpPr>
          <p:spPr>
            <a:xfrm>
              <a:off x="9892976" y="2"/>
              <a:ext cx="2299024" cy="2412075"/>
            </a:xfrm>
            <a:custGeom>
              <a:avLst/>
              <a:gdLst>
                <a:gd name="connsiteX0" fmla="*/ 0 w 2299024"/>
                <a:gd name="connsiteY0" fmla="*/ 0 h 2412075"/>
                <a:gd name="connsiteX1" fmla="*/ 2299024 w 2299024"/>
                <a:gd name="connsiteY1" fmla="*/ 0 h 2412075"/>
                <a:gd name="connsiteX2" fmla="*/ 2299024 w 2299024"/>
                <a:gd name="connsiteY2" fmla="*/ 2412075 h 2412075"/>
                <a:gd name="connsiteX3" fmla="*/ 2289714 w 2299024"/>
                <a:gd name="connsiteY3" fmla="*/ 2399458 h 2412075"/>
                <a:gd name="connsiteX4" fmla="*/ 1726559 w 2299024"/>
                <a:gd name="connsiteY4" fmla="*/ 1636261 h 2412075"/>
                <a:gd name="connsiteX5" fmla="*/ 1372638 w 2299024"/>
                <a:gd name="connsiteY5" fmla="*/ 1165381 h 2412075"/>
                <a:gd name="connsiteX6" fmla="*/ 51131 w 2299024"/>
                <a:gd name="connsiteY6" fmla="*/ 24163 h 241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024" h="2412075">
                  <a:moveTo>
                    <a:pt x="0" y="0"/>
                  </a:moveTo>
                  <a:lnTo>
                    <a:pt x="2299024" y="0"/>
                  </a:lnTo>
                  <a:lnTo>
                    <a:pt x="2299024" y="2412075"/>
                  </a:lnTo>
                  <a:lnTo>
                    <a:pt x="2289714" y="2399458"/>
                  </a:lnTo>
                  <a:cubicBezTo>
                    <a:pt x="1726559" y="1636261"/>
                    <a:pt x="1726559" y="1636261"/>
                    <a:pt x="1726559" y="1636261"/>
                  </a:cubicBezTo>
                  <a:cubicBezTo>
                    <a:pt x="1372638" y="1165381"/>
                    <a:pt x="1372638" y="1165381"/>
                    <a:pt x="1372638" y="1165381"/>
                  </a:cubicBezTo>
                  <a:cubicBezTo>
                    <a:pt x="1007577" y="677844"/>
                    <a:pt x="562298" y="294562"/>
                    <a:pt x="51131" y="2416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标题 4" descr="ca0e2320-aed7-4242-87d4-3f55a3b17134"/>
          <p:cNvSpPr>
            <a:spLocks noGrp="1"/>
          </p:cNvSpPr>
          <p:nvPr>
            <p:ph type="title" hasCustomPrompt="1"/>
          </p:nvPr>
        </p:nvSpPr>
        <p:spPr>
          <a:xfrm>
            <a:off x="660400" y="1089025"/>
            <a:ext cx="4764087" cy="233997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4" name="文本占位符 3" descr="e4aeb906-f5f2-43d5-af80-4612b04da4bf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0102"/>
            <a:ext cx="4764088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1a255320-ed8a-45c1-adb7-2901b9ae3763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7101"/>
            <a:ext cx="4764088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75000"/>
              </a:schemeClr>
            </a:gs>
            <a:gs pos="72000">
              <a:schemeClr val="accent1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1"/>
            <a:ext cx="12192000" cy="6857998"/>
            <a:chOff x="0" y="1"/>
            <a:chExt cx="12192000" cy="6857998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1"/>
              <a:ext cx="1206500" cy="1605731"/>
              <a:chOff x="0" y="1"/>
              <a:chExt cx="3509740" cy="4671114"/>
            </a:xfrm>
          </p:grpSpPr>
          <p:sp>
            <p:nvSpPr>
              <p:cNvPr id="17" name="任意多边形: 形状 16"/>
              <p:cNvSpPr/>
              <p:nvPr/>
            </p:nvSpPr>
            <p:spPr>
              <a:xfrm>
                <a:off x="0" y="531050"/>
                <a:ext cx="3509740" cy="4140065"/>
              </a:xfrm>
              <a:custGeom>
                <a:avLst/>
                <a:gdLst>
                  <a:gd name="connsiteX0" fmla="*/ 1995878 w 5172248"/>
                  <a:gd name="connsiteY0" fmla="*/ 0 h 6101148"/>
                  <a:gd name="connsiteX1" fmla="*/ 5172248 w 5172248"/>
                  <a:gd name="connsiteY1" fmla="*/ 3050574 h 6101148"/>
                  <a:gd name="connsiteX2" fmla="*/ 1995878 w 5172248"/>
                  <a:gd name="connsiteY2" fmla="*/ 6101148 h 6101148"/>
                  <a:gd name="connsiteX3" fmla="*/ 219939 w 5172248"/>
                  <a:gd name="connsiteY3" fmla="*/ 5580158 h 6101148"/>
                  <a:gd name="connsiteX4" fmla="*/ 0 w 5172248"/>
                  <a:gd name="connsiteY4" fmla="*/ 5422204 h 6101148"/>
                  <a:gd name="connsiteX5" fmla="*/ 0 w 5172248"/>
                  <a:gd name="connsiteY5" fmla="*/ 678944 h 6101148"/>
                  <a:gd name="connsiteX6" fmla="*/ 219939 w 5172248"/>
                  <a:gd name="connsiteY6" fmla="*/ 520990 h 6101148"/>
                  <a:gd name="connsiteX7" fmla="*/ 1995878 w 5172248"/>
                  <a:gd name="connsiteY7" fmla="*/ 0 h 6101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72248" h="6101148">
                    <a:moveTo>
                      <a:pt x="1995878" y="0"/>
                    </a:moveTo>
                    <a:cubicBezTo>
                      <a:pt x="3750139" y="0"/>
                      <a:pt x="5172248" y="1365789"/>
                      <a:pt x="5172248" y="3050574"/>
                    </a:cubicBezTo>
                    <a:cubicBezTo>
                      <a:pt x="5172248" y="4735359"/>
                      <a:pt x="3750139" y="6101148"/>
                      <a:pt x="1995878" y="6101148"/>
                    </a:cubicBezTo>
                    <a:cubicBezTo>
                      <a:pt x="1338030" y="6101148"/>
                      <a:pt x="726891" y="5909084"/>
                      <a:pt x="219939" y="5580158"/>
                    </a:cubicBezTo>
                    <a:lnTo>
                      <a:pt x="0" y="5422204"/>
                    </a:lnTo>
                    <a:lnTo>
                      <a:pt x="0" y="678944"/>
                    </a:lnTo>
                    <a:lnTo>
                      <a:pt x="219939" y="520990"/>
                    </a:lnTo>
                    <a:cubicBezTo>
                      <a:pt x="726891" y="192064"/>
                      <a:pt x="1338030" y="0"/>
                      <a:pt x="1995878" y="0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0" y="1"/>
                <a:ext cx="2131542" cy="2105841"/>
              </a:xfrm>
              <a:custGeom>
                <a:avLst/>
                <a:gdLst>
                  <a:gd name="connsiteX0" fmla="*/ 1610596 w 1947314"/>
                  <a:gd name="connsiteY0" fmla="*/ 0 h 1923835"/>
                  <a:gd name="connsiteX1" fmla="*/ 1947314 w 1947314"/>
                  <a:gd name="connsiteY1" fmla="*/ 0 h 1923835"/>
                  <a:gd name="connsiteX2" fmla="*/ 1937664 w 1947314"/>
                  <a:gd name="connsiteY2" fmla="*/ 191112 h 1923835"/>
                  <a:gd name="connsiteX3" fmla="*/ 17567 w 1947314"/>
                  <a:gd name="connsiteY3" fmla="*/ 1923835 h 1923835"/>
                  <a:gd name="connsiteX4" fmla="*/ 0 w 1947314"/>
                  <a:gd name="connsiteY4" fmla="*/ 1922948 h 1923835"/>
                  <a:gd name="connsiteX5" fmla="*/ 0 w 1947314"/>
                  <a:gd name="connsiteY5" fmla="*/ 1586230 h 1923835"/>
                  <a:gd name="connsiteX6" fmla="*/ 17567 w 1947314"/>
                  <a:gd name="connsiteY6" fmla="*/ 1587117 h 1923835"/>
                  <a:gd name="connsiteX7" fmla="*/ 1602684 w 1947314"/>
                  <a:gd name="connsiteY7" fmla="*/ 156684 h 1923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47313" h="1923835">
                    <a:moveTo>
                      <a:pt x="1610596" y="0"/>
                    </a:moveTo>
                    <a:lnTo>
                      <a:pt x="1947314" y="0"/>
                    </a:lnTo>
                    <a:lnTo>
                      <a:pt x="1937664" y="191112"/>
                    </a:lnTo>
                    <a:cubicBezTo>
                      <a:pt x="1838825" y="1164356"/>
                      <a:pt x="1016889" y="1923835"/>
                      <a:pt x="17567" y="1923835"/>
                    </a:cubicBezTo>
                    <a:lnTo>
                      <a:pt x="0" y="1922948"/>
                    </a:lnTo>
                    <a:lnTo>
                      <a:pt x="0" y="1586230"/>
                    </a:lnTo>
                    <a:lnTo>
                      <a:pt x="17567" y="1587117"/>
                    </a:lnTo>
                    <a:cubicBezTo>
                      <a:pt x="842548" y="1587117"/>
                      <a:pt x="1521089" y="960137"/>
                      <a:pt x="1602684" y="156684"/>
                    </a:cubicBezTo>
                    <a:close/>
                  </a:path>
                </a:pathLst>
              </a:custGeom>
              <a:gradFill flip="none" rotWithShape="1">
                <a:gsLst>
                  <a:gs pos="39000">
                    <a:schemeClr val="accent1"/>
                  </a:gs>
                  <a:gs pos="100000">
                    <a:schemeClr val="accent1">
                      <a:alpha val="15000"/>
                    </a:schemeClr>
                  </a:gs>
                </a:gsLst>
                <a:lin ang="10800000" scaled="1"/>
              </a:gradFill>
              <a:ln w="19050">
                <a:noFill/>
                <a:round/>
              </a:ln>
            </p:spPr>
            <p:txBody>
              <a:bodyPr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lvl="0" algn="ctr"/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0858500" y="5511800"/>
              <a:ext cx="1333500" cy="1346199"/>
              <a:chOff x="10858500" y="5511800"/>
              <a:chExt cx="1333500" cy="1346199"/>
            </a:xfrm>
          </p:grpSpPr>
          <p:sp>
            <p:nvSpPr>
              <p:cNvPr id="12" name="任意多边形: 形状 11"/>
              <p:cNvSpPr/>
              <p:nvPr/>
            </p:nvSpPr>
            <p:spPr>
              <a:xfrm>
                <a:off x="10858500" y="6266282"/>
                <a:ext cx="1333500" cy="591717"/>
              </a:xfrm>
              <a:custGeom>
                <a:avLst/>
                <a:gdLst>
                  <a:gd name="connsiteX0" fmla="*/ 1722638 w 2395738"/>
                  <a:gd name="connsiteY0" fmla="*/ 0 h 1063066"/>
                  <a:gd name="connsiteX1" fmla="*/ 2296579 w 2395738"/>
                  <a:gd name="connsiteY1" fmla="*/ 86772 h 1063066"/>
                  <a:gd name="connsiteX2" fmla="*/ 2395738 w 2395738"/>
                  <a:gd name="connsiteY2" fmla="*/ 123065 h 1063066"/>
                  <a:gd name="connsiteX3" fmla="*/ 2395738 w 2395738"/>
                  <a:gd name="connsiteY3" fmla="*/ 307866 h 1063066"/>
                  <a:gd name="connsiteX4" fmla="*/ 2244925 w 2395738"/>
                  <a:gd name="connsiteY4" fmla="*/ 252668 h 1063066"/>
                  <a:gd name="connsiteX5" fmla="*/ 1722638 w 2395738"/>
                  <a:gd name="connsiteY5" fmla="*/ 173705 h 1063066"/>
                  <a:gd name="connsiteX6" fmla="*/ 266240 w 2395738"/>
                  <a:gd name="connsiteY6" fmla="*/ 948066 h 1063066"/>
                  <a:gd name="connsiteX7" fmla="*/ 196375 w 2395738"/>
                  <a:gd name="connsiteY7" fmla="*/ 1063066 h 1063066"/>
                  <a:gd name="connsiteX8" fmla="*/ 0 w 2395738"/>
                  <a:gd name="connsiteY8" fmla="*/ 1063066 h 1063066"/>
                  <a:gd name="connsiteX9" fmla="*/ 25525 w 2395738"/>
                  <a:gd name="connsiteY9" fmla="*/ 1010080 h 1063066"/>
                  <a:gd name="connsiteX10" fmla="*/ 1722638 w 2395738"/>
                  <a:gd name="connsiteY10" fmla="*/ 0 h 1063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95738" h="1063066">
                    <a:moveTo>
                      <a:pt x="1722638" y="0"/>
                    </a:moveTo>
                    <a:cubicBezTo>
                      <a:pt x="1922502" y="0"/>
                      <a:pt x="2115271" y="30379"/>
                      <a:pt x="2296579" y="86772"/>
                    </a:cubicBezTo>
                    <a:lnTo>
                      <a:pt x="2395738" y="123065"/>
                    </a:lnTo>
                    <a:lnTo>
                      <a:pt x="2395738" y="307866"/>
                    </a:lnTo>
                    <a:lnTo>
                      <a:pt x="2244925" y="252668"/>
                    </a:lnTo>
                    <a:cubicBezTo>
                      <a:pt x="2079935" y="201350"/>
                      <a:pt x="1904515" y="173705"/>
                      <a:pt x="1722638" y="173705"/>
                    </a:cubicBezTo>
                    <a:cubicBezTo>
                      <a:pt x="1116382" y="173705"/>
                      <a:pt x="581870" y="480872"/>
                      <a:pt x="266240" y="948066"/>
                    </a:cubicBezTo>
                    <a:lnTo>
                      <a:pt x="196375" y="1063066"/>
                    </a:lnTo>
                    <a:lnTo>
                      <a:pt x="0" y="1063066"/>
                    </a:lnTo>
                    <a:lnTo>
                      <a:pt x="25525" y="1010080"/>
                    </a:lnTo>
                    <a:cubicBezTo>
                      <a:pt x="352360" y="408431"/>
                      <a:pt x="989802" y="0"/>
                      <a:pt x="1722638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alpha val="4900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10800000" scaled="1"/>
              </a:gradFill>
              <a:ln w="19050">
                <a:noFill/>
                <a:round/>
              </a:ln>
            </p:spPr>
            <p:txBody>
              <a:bodyPr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lvl="0" algn="ctr"/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12045916" y="5511800"/>
                <a:ext cx="146083" cy="275322"/>
              </a:xfrm>
              <a:custGeom>
                <a:avLst/>
                <a:gdLst>
                  <a:gd name="connsiteX0" fmla="*/ 207578 w 220278"/>
                  <a:gd name="connsiteY0" fmla="*/ 0 h 415156"/>
                  <a:gd name="connsiteX1" fmla="*/ 220278 w 220278"/>
                  <a:gd name="connsiteY1" fmla="*/ 1281 h 415156"/>
                  <a:gd name="connsiteX2" fmla="*/ 220278 w 220278"/>
                  <a:gd name="connsiteY2" fmla="*/ 413876 h 415156"/>
                  <a:gd name="connsiteX3" fmla="*/ 207578 w 220278"/>
                  <a:gd name="connsiteY3" fmla="*/ 415156 h 415156"/>
                  <a:gd name="connsiteX4" fmla="*/ 0 w 220278"/>
                  <a:gd name="connsiteY4" fmla="*/ 207578 h 415156"/>
                  <a:gd name="connsiteX5" fmla="*/ 207578 w 220278"/>
                  <a:gd name="connsiteY5" fmla="*/ 0 h 415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278" h="415156">
                    <a:moveTo>
                      <a:pt x="207578" y="0"/>
                    </a:moveTo>
                    <a:lnTo>
                      <a:pt x="220278" y="1281"/>
                    </a:lnTo>
                    <a:lnTo>
                      <a:pt x="220278" y="413876"/>
                    </a:lnTo>
                    <a:lnTo>
                      <a:pt x="207578" y="415156"/>
                    </a:lnTo>
                    <a:cubicBezTo>
                      <a:pt x="92936" y="415156"/>
                      <a:pt x="0" y="322220"/>
                      <a:pt x="0" y="207578"/>
                    </a:cubicBezTo>
                    <a:cubicBezTo>
                      <a:pt x="0" y="92936"/>
                      <a:pt x="92936" y="0"/>
                      <a:pt x="207578" y="0"/>
                    </a:cubicBez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 w="19050">
                <a:noFill/>
                <a:round/>
              </a:ln>
            </p:spPr>
            <p:txBody>
              <a:bodyPr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lvl="0" algn="ctr"/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377784" y="5938201"/>
                <a:ext cx="534344" cy="534344"/>
              </a:xfrm>
              <a:prstGeom prst="ellipse">
                <a:avLst/>
              </a:prstGeom>
              <a:gradFill flip="none" rotWithShape="1">
                <a:gsLst>
                  <a:gs pos="1000">
                    <a:schemeClr val="accent1">
                      <a:lumMod val="40000"/>
                      <a:lumOff val="60000"/>
                      <a:alpha val="50000"/>
                    </a:schemeClr>
                  </a:gs>
                  <a:gs pos="91000">
                    <a:schemeClr val="accent1"/>
                  </a:gs>
                </a:gsLst>
                <a:lin ang="13500000" scaled="1"/>
              </a:gradFill>
              <a:ln w="19050">
                <a:noFill/>
                <a:round/>
              </a:ln>
            </p:spPr>
            <p:txBody>
              <a:bodyPr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lvl="0" algn="ctr"/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eb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webp"/><Relationship Id="rId5" Type="http://schemas.openxmlformats.org/officeDocument/2006/relationships/image" Target="../media/image4.web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@f_auto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webp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webp"/><Relationship Id="rId5" Type="http://schemas.openxmlformats.org/officeDocument/2006/relationships/image" Target="../media/image18.png"/><Relationship Id="rId4" Type="http://schemas.openxmlformats.org/officeDocument/2006/relationships/image" Target="../media/image17.web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jpeg@f_auto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6544afcb-c56a-465a-b687-07228e4889e0"/>
          <p:cNvSpPr>
            <a:spLocks noGrp="1"/>
          </p:cNvSpPr>
          <p:nvPr>
            <p:ph type="ctrTitle" hasCustomPrompt="1"/>
          </p:nvPr>
        </p:nvSpPr>
        <p:spPr>
          <a:xfrm>
            <a:off x="261259" y="1000899"/>
            <a:ext cx="7144814" cy="1072006"/>
          </a:xfrm>
        </p:spPr>
        <p:txBody>
          <a:bodyPr/>
          <a:lstStyle/>
          <a:p>
            <a:r>
              <a:rPr lang="zh-CN" altLang="en-US" dirty="0"/>
              <a:t>机器人建模与控制仿真</a:t>
            </a:r>
            <a:endParaRPr lang="en-US" dirty="0"/>
          </a:p>
        </p:txBody>
      </p:sp>
      <p:sp>
        <p:nvSpPr>
          <p:cNvPr id="9" name="副标题 8" descr="7488cc55-6641-41ad-a733-d0e7025faf39"/>
          <p:cNvSpPr>
            <a:spLocks noGrp="1"/>
          </p:cNvSpPr>
          <p:nvPr>
            <p:ph type="subTitle" sz="quarter" idx="1" hasCustomPrompt="1"/>
          </p:nvPr>
        </p:nvSpPr>
        <p:spPr>
          <a:xfrm>
            <a:off x="1957379" y="2384485"/>
            <a:ext cx="3841394" cy="523421"/>
          </a:xfrm>
        </p:spPr>
        <p:txBody>
          <a:bodyPr>
            <a:noAutofit/>
          </a:bodyPr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</a:rPr>
              <a:t>第二章 机器人概述</a:t>
            </a:r>
            <a:endParaRPr lang="en-US" sz="2800" b="1" dirty="0">
              <a:solidFill>
                <a:srgbClr val="FFFF00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F6371E-AF2B-63EB-E971-B2EE67DCD6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987" y="3713090"/>
            <a:ext cx="4479551" cy="1072006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chemeClr val="accent4"/>
                </a:solidFill>
              </a:rPr>
              <a:t>汪首坤 教授</a:t>
            </a:r>
            <a:endParaRPr lang="en-US" altLang="zh-CN" sz="2400" dirty="0">
              <a:solidFill>
                <a:schemeClr val="accent4"/>
              </a:solidFill>
            </a:endParaRPr>
          </a:p>
          <a:p>
            <a:r>
              <a:rPr lang="zh-CN" altLang="en-US" sz="2400" dirty="0">
                <a:solidFill>
                  <a:schemeClr val="accent4"/>
                </a:solidFill>
              </a:rPr>
              <a:t>北京理工大学 自动化学院</a:t>
            </a:r>
            <a:endParaRPr lang="en-US" altLang="zh-CN" sz="24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80823BA0-D5C1-8DDE-C853-A3E7C431C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2227" y="227180"/>
            <a:ext cx="2707545" cy="63681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本章目录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C0C48C-6CE4-93E6-0560-D5B598BF2612}"/>
              </a:ext>
            </a:extLst>
          </p:cNvPr>
          <p:cNvSpPr txBox="1"/>
          <p:nvPr/>
        </p:nvSpPr>
        <p:spPr>
          <a:xfrm>
            <a:off x="3855434" y="1222562"/>
            <a:ext cx="5237450" cy="441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1</a:t>
            </a:r>
            <a:r>
              <a:rPr lang="zh-CN" altLang="en-US" sz="2400" b="1" dirty="0">
                <a:latin typeface="+mn-ea"/>
              </a:rPr>
              <a:t>“机器人”的定义与起源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2 </a:t>
            </a:r>
            <a:r>
              <a:rPr lang="zh-CN" altLang="en-US" sz="2400" b="1" dirty="0">
                <a:latin typeface="+mn-ea"/>
              </a:rPr>
              <a:t>机器人的基本组成与结构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3 </a:t>
            </a:r>
            <a:r>
              <a:rPr lang="zh-CN" altLang="en-US" sz="2400" b="1" dirty="0">
                <a:latin typeface="+mn-ea"/>
              </a:rPr>
              <a:t>机器人的分类与应用场景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4 </a:t>
            </a:r>
            <a:r>
              <a:rPr lang="zh-CN" altLang="en-US" sz="2400" b="1" dirty="0">
                <a:latin typeface="+mn-ea"/>
              </a:rPr>
              <a:t>机器人的关键技术解析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5 </a:t>
            </a:r>
            <a:r>
              <a:rPr lang="zh-CN" altLang="en-US" sz="2400" b="1" dirty="0">
                <a:latin typeface="+mn-ea"/>
              </a:rPr>
              <a:t>建模与仿真的核心地位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6 </a:t>
            </a:r>
            <a:r>
              <a:rPr lang="zh-CN" altLang="en-US" sz="2400" b="1" dirty="0">
                <a:latin typeface="+mn-ea"/>
              </a:rPr>
              <a:t>本章小结与思考题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DD843-439A-25CD-ABCA-46A52D82B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2AA9AEA7-9DF9-7A46-563F-105BA0B0CC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151" y="79513"/>
            <a:ext cx="5015158" cy="636813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>
                <a:solidFill>
                  <a:srgbClr val="FFFF00"/>
                </a:solidFill>
                <a:latin typeface="+mn-ea"/>
              </a:rPr>
              <a:t>1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“机器人”的定义与起源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AADF03-1043-0E49-23A0-05A820CE17ED}"/>
              </a:ext>
            </a:extLst>
          </p:cNvPr>
          <p:cNvSpPr txBox="1"/>
          <p:nvPr/>
        </p:nvSpPr>
        <p:spPr>
          <a:xfrm>
            <a:off x="3985592" y="853579"/>
            <a:ext cx="4527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机器人的前世今生</a:t>
            </a:r>
            <a:r>
              <a:rPr lang="en-US" altLang="zh-CN" b="1" dirty="0"/>
              <a:t>——</a:t>
            </a:r>
            <a:r>
              <a:rPr lang="zh-CN" altLang="en-US" b="1" dirty="0"/>
              <a:t>从梦想到现实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581AED-DBD4-05A2-02F4-9E3AB352E8CA}"/>
              </a:ext>
            </a:extLst>
          </p:cNvPr>
          <p:cNvSpPr txBox="1"/>
          <p:nvPr/>
        </p:nvSpPr>
        <p:spPr>
          <a:xfrm>
            <a:off x="1355745" y="1553263"/>
            <a:ext cx="1358822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古代幻想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6C04D5-3A2C-E197-55C4-31EACB52D5D3}"/>
              </a:ext>
            </a:extLst>
          </p:cNvPr>
          <p:cNvSpPr txBox="1"/>
          <p:nvPr/>
        </p:nvSpPr>
        <p:spPr>
          <a:xfrm>
            <a:off x="5488228" y="1534005"/>
            <a:ext cx="1358822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机器萌芽</a:t>
            </a:r>
            <a:endParaRPr lang="zh-CN" altLang="en-US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402EF4-015F-29A8-D876-C791648D7451}"/>
              </a:ext>
            </a:extLst>
          </p:cNvPr>
          <p:cNvSpPr txBox="1"/>
          <p:nvPr/>
        </p:nvSpPr>
        <p:spPr>
          <a:xfrm>
            <a:off x="9352485" y="1553263"/>
            <a:ext cx="1358822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近代科学</a:t>
            </a:r>
          </a:p>
        </p:txBody>
      </p:sp>
      <p:pic>
        <p:nvPicPr>
          <p:cNvPr id="10" name="图片 9" descr="绿色的雕塑&#10;&#10;AI 生成的内容可能不正确。">
            <a:extLst>
              <a:ext uri="{FF2B5EF4-FFF2-40B4-BE49-F238E27FC236}">
                <a16:creationId xmlns:a16="http://schemas.microsoft.com/office/drawing/2014/main" id="{7AF3E73D-6FB1-BE9F-3AE8-667FC05E5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41" y="2737519"/>
            <a:ext cx="1691072" cy="225476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085DDBA-3D69-479D-672A-0A0D6E4A7D86}"/>
              </a:ext>
            </a:extLst>
          </p:cNvPr>
          <p:cNvSpPr txBox="1"/>
          <p:nvPr/>
        </p:nvSpPr>
        <p:spPr>
          <a:xfrm>
            <a:off x="136151" y="5381248"/>
            <a:ext cx="1591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effectLst/>
                <a:latin typeface="quote-cjk-patch"/>
              </a:rPr>
              <a:t>青铜巨人</a:t>
            </a:r>
            <a:r>
              <a:rPr lang="en-US" altLang="zh-CN" b="1" i="0" dirty="0">
                <a:effectLst/>
                <a:latin typeface="quote-cjk-patch"/>
              </a:rPr>
              <a:t>Talos</a:t>
            </a:r>
            <a:endParaRPr lang="en-US" altLang="zh-CN" b="1" dirty="0">
              <a:latin typeface="quote-cjk-patch"/>
            </a:endParaRPr>
          </a:p>
          <a:p>
            <a:pPr algn="ctr">
              <a:buNone/>
            </a:pPr>
            <a:r>
              <a:rPr lang="zh-CN" altLang="en-US" b="1" i="0" dirty="0">
                <a:effectLst/>
                <a:latin typeface="quote-cjk-patch"/>
              </a:rPr>
              <a:t>古希腊</a:t>
            </a:r>
          </a:p>
        </p:txBody>
      </p:sp>
      <p:pic>
        <p:nvPicPr>
          <p:cNvPr id="14" name="图片 13" descr="一群人站在建筑的摆设布局&#10;&#10;AI 生成的内容可能不正确。">
            <a:extLst>
              <a:ext uri="{FF2B5EF4-FFF2-40B4-BE49-F238E27FC236}">
                <a16:creationId xmlns:a16="http://schemas.microsoft.com/office/drawing/2014/main" id="{711A29A3-E727-86EA-D4AA-C8EB07DBA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929" y="2737519"/>
            <a:ext cx="1691072" cy="225476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0FD6E9E-CA81-AAFE-89E5-10AD0A9DEF84}"/>
              </a:ext>
            </a:extLst>
          </p:cNvPr>
          <p:cNvSpPr txBox="1"/>
          <p:nvPr/>
        </p:nvSpPr>
        <p:spPr>
          <a:xfrm>
            <a:off x="2387521" y="5381247"/>
            <a:ext cx="1406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1" i="0" dirty="0">
                <a:effectLst/>
                <a:latin typeface="quote-cjk-patch"/>
              </a:rPr>
              <a:t>偃师造人</a:t>
            </a:r>
            <a:endParaRPr lang="en-US" altLang="zh-CN" b="1" i="0" dirty="0">
              <a:effectLst/>
              <a:latin typeface="quote-cjk-patch"/>
            </a:endParaRPr>
          </a:p>
          <a:p>
            <a:pPr algn="l">
              <a:buNone/>
            </a:pPr>
            <a:r>
              <a:rPr lang="zh-CN" altLang="en-US" b="1" dirty="0">
                <a:latin typeface="quote-cjk-patch"/>
              </a:rPr>
              <a:t>列子</a:t>
            </a:r>
            <a:r>
              <a:rPr lang="en-US" altLang="zh-CN" b="1" dirty="0">
                <a:latin typeface="quote-cjk-patch"/>
              </a:rPr>
              <a:t>.</a:t>
            </a:r>
            <a:r>
              <a:rPr lang="zh-CN" altLang="en-US" b="1" dirty="0">
                <a:latin typeface="quote-cjk-patch"/>
              </a:rPr>
              <a:t>汤问</a:t>
            </a:r>
            <a:endParaRPr lang="zh-CN" altLang="en-US" b="1" i="0" dirty="0">
              <a:effectLst/>
              <a:latin typeface="quote-cjk-patch"/>
            </a:endParaRPr>
          </a:p>
        </p:txBody>
      </p:sp>
      <p:pic>
        <p:nvPicPr>
          <p:cNvPr id="18" name="图片 17" descr="桌子上放着椅子&#10;&#10;AI 生成的内容可能不正确。">
            <a:extLst>
              <a:ext uri="{FF2B5EF4-FFF2-40B4-BE49-F238E27FC236}">
                <a16:creationId xmlns:a16="http://schemas.microsoft.com/office/drawing/2014/main" id="{62571DC7-9C02-A45F-95B8-D95E024F86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214" y="2737519"/>
            <a:ext cx="1624575" cy="220347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9B884C6C-C7F8-ED9E-12B7-0D9D0466934D}"/>
              </a:ext>
            </a:extLst>
          </p:cNvPr>
          <p:cNvSpPr txBox="1"/>
          <p:nvPr/>
        </p:nvSpPr>
        <p:spPr>
          <a:xfrm>
            <a:off x="4439705" y="5348357"/>
            <a:ext cx="1406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1" dirty="0">
                <a:latin typeface="quote-cjk-patch"/>
              </a:rPr>
              <a:t>指南车</a:t>
            </a:r>
            <a:endParaRPr lang="en-US" altLang="zh-CN" b="1" i="0" dirty="0">
              <a:effectLst/>
              <a:latin typeface="quote-cjk-patch"/>
            </a:endParaRPr>
          </a:p>
          <a:p>
            <a:pPr algn="ctr">
              <a:buNone/>
            </a:pPr>
            <a:r>
              <a:rPr lang="zh-CN" altLang="en-US" b="1" i="0" dirty="0">
                <a:effectLst/>
                <a:latin typeface="quote-cjk-patch"/>
              </a:rPr>
              <a:t>西周时期</a:t>
            </a:r>
          </a:p>
        </p:txBody>
      </p:sp>
      <p:pic>
        <p:nvPicPr>
          <p:cNvPr id="21" name="图片 20" descr="图片包含 人, 室内, 桌子, 女人&#10;&#10;AI 生成的内容可能不正确。">
            <a:extLst>
              <a:ext uri="{FF2B5EF4-FFF2-40B4-BE49-F238E27FC236}">
                <a16:creationId xmlns:a16="http://schemas.microsoft.com/office/drawing/2014/main" id="{6A171C11-BCC3-07C0-291F-B93D8BA643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957" y="2752817"/>
            <a:ext cx="1624575" cy="223946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93B35FD5-786A-D261-0610-05BD1AF967B7}"/>
              </a:ext>
            </a:extLst>
          </p:cNvPr>
          <p:cNvSpPr txBox="1"/>
          <p:nvPr/>
        </p:nvSpPr>
        <p:spPr>
          <a:xfrm>
            <a:off x="6296814" y="5355662"/>
            <a:ext cx="1624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1" dirty="0"/>
              <a:t>自动人偶</a:t>
            </a:r>
            <a:endParaRPr lang="en-US" altLang="zh-CN" b="1" i="0" dirty="0">
              <a:effectLst/>
              <a:latin typeface="quote-cjk-patch"/>
            </a:endParaRPr>
          </a:p>
          <a:p>
            <a:pPr algn="ctr">
              <a:buNone/>
            </a:pPr>
            <a:r>
              <a:rPr lang="zh-CN" altLang="en-US" b="1" dirty="0">
                <a:latin typeface="quote-cjk-patch"/>
              </a:rPr>
              <a:t>文艺复兴时期</a:t>
            </a:r>
            <a:endParaRPr lang="zh-CN" altLang="en-US" b="1" i="0" dirty="0">
              <a:effectLst/>
              <a:latin typeface="quote-cjk-patch"/>
            </a:endParaRPr>
          </a:p>
        </p:txBody>
      </p:sp>
      <p:pic>
        <p:nvPicPr>
          <p:cNvPr id="24" name="图片 23" descr="机器在桌子上&#10;&#10;AI 生成的内容可能不正确。">
            <a:extLst>
              <a:ext uri="{FF2B5EF4-FFF2-40B4-BE49-F238E27FC236}">
                <a16:creationId xmlns:a16="http://schemas.microsoft.com/office/drawing/2014/main" id="{46BA104C-E1DB-99FC-AFAC-6774A6B219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1913" y="2752817"/>
            <a:ext cx="1595326" cy="2239465"/>
          </a:xfrm>
          <a:prstGeom prst="rect">
            <a:avLst/>
          </a:prstGeom>
        </p:spPr>
      </p:pic>
      <p:pic>
        <p:nvPicPr>
          <p:cNvPr id="26" name="图片 25" descr="电子仪器&#10;&#10;AI 生成的内容可能不正确。">
            <a:extLst>
              <a:ext uri="{FF2B5EF4-FFF2-40B4-BE49-F238E27FC236}">
                <a16:creationId xmlns:a16="http://schemas.microsoft.com/office/drawing/2014/main" id="{F91EFEFC-17CF-6456-85D4-1351DCDFA9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1885" y="2752817"/>
            <a:ext cx="1624576" cy="2254763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5B308822-89C8-F6B5-CEB7-8744FEEE0B36}"/>
              </a:ext>
            </a:extLst>
          </p:cNvPr>
          <p:cNvSpPr txBox="1"/>
          <p:nvPr/>
        </p:nvSpPr>
        <p:spPr>
          <a:xfrm>
            <a:off x="8348998" y="5317721"/>
            <a:ext cx="1624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1" i="0" dirty="0">
                <a:effectLst/>
                <a:latin typeface="quote-cjk-patch"/>
              </a:rPr>
              <a:t>数控机床</a:t>
            </a:r>
            <a:endParaRPr lang="en-US" altLang="zh-CN" b="1" i="0" dirty="0">
              <a:effectLst/>
              <a:latin typeface="quote-cjk-patch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BC73F43-4FA7-810F-48B3-D280B8C0B65D}"/>
              </a:ext>
            </a:extLst>
          </p:cNvPr>
          <p:cNvSpPr txBox="1"/>
          <p:nvPr/>
        </p:nvSpPr>
        <p:spPr>
          <a:xfrm>
            <a:off x="10166439" y="5302190"/>
            <a:ext cx="1624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1" dirty="0">
                <a:latin typeface="quote-cjk-patch"/>
              </a:rPr>
              <a:t>伺服电机</a:t>
            </a:r>
            <a:endParaRPr lang="en-US" altLang="zh-CN" b="1" i="0" dirty="0">
              <a:effectLst/>
              <a:latin typeface="quote-cjk-patch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5F57A8E-EE44-7529-62C1-7A8AC118FCDA}"/>
              </a:ext>
            </a:extLst>
          </p:cNvPr>
          <p:cNvSpPr txBox="1"/>
          <p:nvPr/>
        </p:nvSpPr>
        <p:spPr>
          <a:xfrm>
            <a:off x="1095277" y="2218490"/>
            <a:ext cx="1946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 人造生命的想象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21BAC95-3E33-D3DD-AA74-141F3BAD04F8}"/>
              </a:ext>
            </a:extLst>
          </p:cNvPr>
          <p:cNvSpPr txBox="1"/>
          <p:nvPr/>
        </p:nvSpPr>
        <p:spPr>
          <a:xfrm>
            <a:off x="5071194" y="2186497"/>
            <a:ext cx="2192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 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quote-cjk-patch"/>
              </a:rPr>
              <a:t>齿轮传动</a:t>
            </a: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quote-cjk-patch"/>
              </a:rPr>
              <a:t>+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quote-cjk-patch"/>
              </a:rPr>
              <a:t>精密机械</a:t>
            </a:r>
            <a:endParaRPr lang="zh-CN" altLang="en-US" b="1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quote-cjk-patch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CCC935A-208E-8565-20CE-5152F784EE20}"/>
              </a:ext>
            </a:extLst>
          </p:cNvPr>
          <p:cNvSpPr txBox="1"/>
          <p:nvPr/>
        </p:nvSpPr>
        <p:spPr>
          <a:xfrm>
            <a:off x="8978692" y="2153040"/>
            <a:ext cx="2192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 可编程</a:t>
            </a: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quote-cjk-patch"/>
              </a:rPr>
              <a:t>+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quote-cjk-patch"/>
              </a:rPr>
              <a:t>精密控制</a:t>
            </a:r>
            <a:endParaRPr lang="zh-CN" altLang="en-US" b="1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563184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926D1-5A2A-0E4B-9910-D4B004AFE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BCE043FF-D75D-F623-B613-ABDD8B89D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151" y="79513"/>
            <a:ext cx="5015158" cy="636813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>
                <a:solidFill>
                  <a:srgbClr val="FFFF00"/>
                </a:solidFill>
                <a:latin typeface="+mn-ea"/>
              </a:rPr>
              <a:t>1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“机器人”的定义与起源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7C6916-AE89-2C6C-52E2-AAB30E1E0B14}"/>
              </a:ext>
            </a:extLst>
          </p:cNvPr>
          <p:cNvSpPr txBox="1"/>
          <p:nvPr/>
        </p:nvSpPr>
        <p:spPr>
          <a:xfrm>
            <a:off x="4422913" y="808143"/>
            <a:ext cx="364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effectLst/>
                <a:latin typeface="quote-cjk-patch"/>
              </a:rPr>
              <a:t>词源与文学中的机器人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4F7DF2-3CC4-C763-BE6F-D4E578827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218" y="1170583"/>
            <a:ext cx="8881966" cy="5403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1 </a:t>
            </a:r>
            <a:r>
              <a:rPr lang="zh-CN" altLang="en-US" b="1" dirty="0">
                <a:solidFill>
                  <a:schemeClr val="accent3"/>
                </a:solidFill>
              </a:rPr>
              <a:t>词语溯源：“</a:t>
            </a:r>
            <a:r>
              <a:rPr lang="en-US" altLang="zh-CN" b="1" dirty="0">
                <a:solidFill>
                  <a:schemeClr val="accent3"/>
                </a:solidFill>
              </a:rPr>
              <a:t>Robot”</a:t>
            </a:r>
            <a:r>
              <a:rPr lang="zh-CN" altLang="en-US" b="1" dirty="0">
                <a:solidFill>
                  <a:schemeClr val="accent3"/>
                </a:solidFill>
              </a:rPr>
              <a:t>的诞生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j-ea"/>
                <a:ea typeface="+mj-ea"/>
              </a:rPr>
              <a:t>核心词源： 源自捷克语中的 “</a:t>
            </a:r>
            <a:r>
              <a:rPr lang="en-US" altLang="zh-CN" sz="1600" dirty="0" err="1">
                <a:latin typeface="+mj-ea"/>
                <a:ea typeface="+mj-ea"/>
              </a:rPr>
              <a:t>Robota</a:t>
            </a:r>
            <a:r>
              <a:rPr lang="en-US" altLang="zh-CN" sz="1600" dirty="0">
                <a:latin typeface="+mj-ea"/>
                <a:ea typeface="+mj-ea"/>
              </a:rPr>
              <a:t>”,</a:t>
            </a:r>
            <a:r>
              <a:rPr lang="zh-CN" altLang="en-US" sz="1600" dirty="0">
                <a:latin typeface="+mj-ea"/>
                <a:ea typeface="+mj-ea"/>
              </a:rPr>
              <a:t>简单工作的意思 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j-ea"/>
                <a:ea typeface="+mj-ea"/>
              </a:rPr>
              <a:t>深层含义： 更侧重于 强制劳役 、苦工或无偿劳动，带有被剥夺自由、被迫服务的沉重色彩。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j-ea"/>
                <a:ea typeface="+mj-ea"/>
              </a:rPr>
              <a:t>传播者： 由捷克画家约瑟夫</a:t>
            </a:r>
            <a:r>
              <a:rPr lang="en-US" altLang="zh-CN" sz="1600" dirty="0">
                <a:latin typeface="+mj-ea"/>
                <a:ea typeface="+mj-ea"/>
              </a:rPr>
              <a:t>·</a:t>
            </a:r>
            <a:r>
              <a:rPr lang="zh-CN" altLang="en-US" sz="1600" dirty="0">
                <a:latin typeface="+mj-ea"/>
                <a:ea typeface="+mj-ea"/>
              </a:rPr>
              <a:t>恰佩克提出并命名那些人造劳动者。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j-ea"/>
                <a:ea typeface="+mj-ea"/>
              </a:rPr>
              <a:t>历史背景： 第一次世界大战</a:t>
            </a:r>
            <a:r>
              <a:rPr lang="en-US" altLang="zh-CN" sz="1600" dirty="0">
                <a:latin typeface="+mj-ea"/>
                <a:ea typeface="+mj-ea"/>
              </a:rPr>
              <a:t>, </a:t>
            </a:r>
            <a:r>
              <a:rPr lang="zh-CN" altLang="en-US" sz="1600" dirty="0">
                <a:latin typeface="+mj-ea"/>
                <a:ea typeface="+mj-ea"/>
              </a:rPr>
              <a:t>社会动荡，工业革命</a:t>
            </a:r>
            <a:r>
              <a:rPr lang="en-US" altLang="zh-CN" sz="1600" dirty="0">
                <a:latin typeface="+mj-ea"/>
                <a:ea typeface="+mj-ea"/>
              </a:rPr>
              <a:t>, </a:t>
            </a:r>
            <a:r>
              <a:rPr lang="zh-CN" altLang="en-US" sz="1600" dirty="0">
                <a:latin typeface="+mj-ea"/>
                <a:ea typeface="+mj-ea"/>
              </a:rPr>
              <a:t>人们对技术的复杂情感</a:t>
            </a:r>
            <a:endParaRPr lang="en-US" altLang="zh-CN" sz="1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3"/>
                </a:solidFill>
                <a:latin typeface="Arial" panose="020B0604020202020204" pitchFamily="34" charset="0"/>
              </a:rPr>
              <a:t>2 </a:t>
            </a:r>
            <a:r>
              <a:rPr lang="zh-CN" altLang="en-US" b="1" dirty="0">
                <a:solidFill>
                  <a:schemeClr val="accent3"/>
                </a:solidFill>
                <a:latin typeface="Arial" panose="020B0604020202020204" pitchFamily="34" charset="0"/>
              </a:rPr>
              <a:t>文学形象奠基：戏剧</a:t>
            </a:r>
            <a:r>
              <a:rPr lang="en-US" altLang="zh-CN" b="1" dirty="0">
                <a:solidFill>
                  <a:schemeClr val="accent3"/>
                </a:solidFill>
                <a:latin typeface="Arial" panose="020B0604020202020204" pitchFamily="34" charset="0"/>
              </a:rPr>
              <a:t>《</a:t>
            </a:r>
            <a:r>
              <a:rPr lang="zh-CN" altLang="en-US" b="1" dirty="0">
                <a:solidFill>
                  <a:schemeClr val="accent3"/>
                </a:solidFill>
                <a:latin typeface="Arial" panose="020B0604020202020204" pitchFamily="34" charset="0"/>
              </a:rPr>
              <a:t>罗素姆万能机器人</a:t>
            </a:r>
            <a:r>
              <a:rPr lang="en-US" altLang="zh-CN" b="1" dirty="0">
                <a:solidFill>
                  <a:schemeClr val="accent3"/>
                </a:solidFill>
                <a:latin typeface="Arial" panose="020B0604020202020204" pitchFamily="34" charset="0"/>
              </a:rPr>
              <a:t>》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j-ea"/>
                <a:ea typeface="+mj-ea"/>
              </a:rPr>
              <a:t>作品： </a:t>
            </a:r>
            <a:r>
              <a:rPr lang="en-US" altLang="zh-CN" sz="1600" dirty="0">
                <a:latin typeface="+mj-ea"/>
                <a:ea typeface="+mj-ea"/>
              </a:rPr>
              <a:t>1920</a:t>
            </a:r>
            <a:r>
              <a:rPr lang="zh-CN" altLang="en-US" sz="1600" dirty="0">
                <a:latin typeface="+mj-ea"/>
                <a:ea typeface="+mj-ea"/>
              </a:rPr>
              <a:t>年卡雷尔</a:t>
            </a:r>
            <a:r>
              <a:rPr lang="en-US" altLang="zh-CN" sz="1600" dirty="0">
                <a:latin typeface="+mj-ea"/>
                <a:ea typeface="+mj-ea"/>
              </a:rPr>
              <a:t>·</a:t>
            </a:r>
            <a:r>
              <a:rPr lang="zh-CN" altLang="en-US" sz="1600" dirty="0">
                <a:latin typeface="+mj-ea"/>
                <a:ea typeface="+mj-ea"/>
              </a:rPr>
              <a:t>恰佩克的科幻戏剧 </a:t>
            </a:r>
            <a:r>
              <a:rPr lang="en-US" altLang="zh-CN" sz="1600" dirty="0">
                <a:latin typeface="+mj-ea"/>
                <a:ea typeface="+mj-ea"/>
              </a:rPr>
              <a:t>《</a:t>
            </a:r>
            <a:r>
              <a:rPr lang="zh-CN" altLang="en-US" sz="1600" dirty="0">
                <a:latin typeface="+mj-ea"/>
                <a:ea typeface="+mj-ea"/>
              </a:rPr>
              <a:t>罗素姆万能机器人</a:t>
            </a:r>
            <a:r>
              <a:rPr lang="en-US" altLang="zh-CN" sz="1600" dirty="0">
                <a:latin typeface="+mj-ea"/>
                <a:ea typeface="+mj-ea"/>
              </a:rPr>
              <a:t>》</a:t>
            </a:r>
            <a:r>
              <a:rPr lang="zh-CN" altLang="en-US" sz="1600" dirty="0">
                <a:latin typeface="+mj-ea"/>
                <a:ea typeface="+mj-ea"/>
              </a:rPr>
              <a:t>，奠定了后世机器人故事母题。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j-ea"/>
                <a:ea typeface="+mj-ea"/>
              </a:rPr>
              <a:t>剧情：  创造</a:t>
            </a:r>
            <a:r>
              <a:rPr lang="en-US" altLang="zh-CN" sz="1600" dirty="0">
                <a:latin typeface="+mj-ea"/>
                <a:ea typeface="+mj-ea"/>
              </a:rPr>
              <a:t>——</a:t>
            </a:r>
            <a:r>
              <a:rPr lang="zh-CN" altLang="en-US" sz="1600" dirty="0">
                <a:latin typeface="+mj-ea"/>
                <a:ea typeface="+mj-ea"/>
              </a:rPr>
              <a:t>为证明上帝不存在而设计人造生物，没有灵魂、只懂工作的“机器人”。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600" dirty="0">
                <a:latin typeface="+mj-ea"/>
                <a:ea typeface="+mj-ea"/>
              </a:rPr>
              <a:t>            特征</a:t>
            </a:r>
            <a:r>
              <a:rPr lang="en-US" altLang="zh-CN" sz="1600" dirty="0">
                <a:latin typeface="+mj-ea"/>
                <a:ea typeface="+mj-ea"/>
              </a:rPr>
              <a:t>——</a:t>
            </a:r>
            <a:r>
              <a:rPr lang="zh-CN" altLang="en-US" sz="1600" dirty="0">
                <a:latin typeface="+mj-ea"/>
                <a:ea typeface="+mj-ea"/>
              </a:rPr>
              <a:t>仿生人式生物合成体，被剥夺了感受、爱情和创造力，只为劳动而生。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600" dirty="0">
                <a:latin typeface="+mj-ea"/>
                <a:ea typeface="+mj-ea"/>
              </a:rPr>
              <a:t>            反抗</a:t>
            </a:r>
            <a:r>
              <a:rPr lang="en-US" altLang="zh-CN" sz="1600" dirty="0">
                <a:latin typeface="+mj-ea"/>
                <a:ea typeface="+mj-ea"/>
              </a:rPr>
              <a:t>——</a:t>
            </a:r>
            <a:r>
              <a:rPr lang="zh-CN" altLang="en-US" sz="1600" dirty="0">
                <a:latin typeface="+mj-ea"/>
                <a:ea typeface="+mj-ea"/>
              </a:rPr>
              <a:t>机器人数量众多，发起全球性叛乱，杀死了几乎所有人类，人类文明灭亡。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600" dirty="0">
                <a:latin typeface="+mj-ea"/>
                <a:ea typeface="+mj-ea"/>
              </a:rPr>
              <a:t>            结局</a:t>
            </a:r>
            <a:r>
              <a:rPr lang="en-US" altLang="zh-CN" sz="1600" dirty="0">
                <a:latin typeface="+mj-ea"/>
                <a:ea typeface="+mj-ea"/>
              </a:rPr>
              <a:t>——</a:t>
            </a:r>
            <a:r>
              <a:rPr lang="zh-CN" altLang="en-US" sz="1600" dirty="0">
                <a:latin typeface="+mj-ea"/>
                <a:ea typeface="+mj-ea"/>
              </a:rPr>
              <a:t>两个机器人产生了爱情（拥有了灵魂），他们取代人类，成为新的亚当与夏娃。</a:t>
            </a:r>
            <a:endParaRPr lang="en-US" altLang="zh-CN" sz="1600" dirty="0">
              <a:latin typeface="+mj-ea"/>
              <a:ea typeface="+mj-ea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b="1" dirty="0">
                <a:solidFill>
                  <a:schemeClr val="accent3"/>
                </a:solidFill>
                <a:latin typeface="Arial" panose="020B0604020202020204" pitchFamily="34" charset="0"/>
              </a:rPr>
              <a:t>3 </a:t>
            </a:r>
            <a:r>
              <a:rPr lang="zh-CN" altLang="en-US" b="1" dirty="0">
                <a:solidFill>
                  <a:schemeClr val="accent3"/>
                </a:solidFill>
                <a:latin typeface="Arial" panose="020B0604020202020204" pitchFamily="34" charset="0"/>
              </a:rPr>
              <a:t>深入讨论：早期人们对机器人的想象</a:t>
            </a:r>
          </a:p>
          <a:p>
            <a:pPr marL="0" lvl="1">
              <a:lnSpc>
                <a:spcPct val="150000"/>
              </a:lnSpc>
            </a:pPr>
            <a:r>
              <a:rPr lang="zh-CN" altLang="en-US" b="1" dirty="0"/>
              <a:t>   </a:t>
            </a:r>
            <a:r>
              <a:rPr lang="zh-CN" altLang="en-US" sz="1600" dirty="0">
                <a:latin typeface="+mj-ea"/>
                <a:ea typeface="+mj-ea"/>
              </a:rPr>
              <a:t>金属躯壳 </a:t>
            </a:r>
            <a:r>
              <a:rPr lang="en-US" altLang="zh-CN" sz="1600" dirty="0">
                <a:latin typeface="+mj-ea"/>
                <a:ea typeface="+mj-ea"/>
              </a:rPr>
              <a:t>vs. </a:t>
            </a:r>
            <a:r>
              <a:rPr lang="zh-CN" altLang="en-US" sz="1600" dirty="0">
                <a:latin typeface="+mj-ea"/>
                <a:ea typeface="+mj-ea"/>
              </a:rPr>
              <a:t>血肉之躯      </a:t>
            </a:r>
            <a:r>
              <a:rPr lang="zh-CN" altLang="en-US" sz="1600" dirty="0"/>
              <a:t>完美的服务者（工具属性）    潜在的失控风险（技术恐惧）</a:t>
            </a:r>
            <a:endParaRPr lang="en-US" altLang="zh-CN" sz="1600" dirty="0"/>
          </a:p>
          <a:p>
            <a:pPr marL="0" lvl="1">
              <a:lnSpc>
                <a:spcPct val="150000"/>
              </a:lnSpc>
            </a:pPr>
            <a:r>
              <a:rPr lang="en-US" altLang="zh-CN" sz="1600" dirty="0"/>
              <a:t>   </a:t>
            </a:r>
            <a:r>
              <a:rPr lang="zh-CN" altLang="en-US" sz="1600" b="1" dirty="0"/>
              <a:t>机器人三定律</a:t>
            </a:r>
            <a:r>
              <a:rPr lang="zh-CN" altLang="en-US" sz="1600" dirty="0"/>
              <a:t>（阿西莫夫）</a:t>
            </a:r>
            <a:r>
              <a:rPr lang="en-US" altLang="zh-CN" sz="1600" dirty="0"/>
              <a:t>:  </a:t>
            </a:r>
            <a:r>
              <a:rPr lang="zh-CN" altLang="en-US" sz="1600" dirty="0"/>
              <a:t>首要原则、服从原则、自保原则</a:t>
            </a:r>
            <a:r>
              <a:rPr lang="en-US" altLang="zh-CN" sz="1600" dirty="0"/>
              <a:t> </a:t>
            </a:r>
            <a:endParaRPr lang="zh-CN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299924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99D79-4549-7609-EE4F-A22E3DAB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39CF5728-EDCF-D30C-462F-461512E0F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151" y="79513"/>
            <a:ext cx="5015158" cy="636813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>
                <a:solidFill>
                  <a:srgbClr val="FFFF00"/>
                </a:solidFill>
                <a:latin typeface="+mn-ea"/>
              </a:rPr>
              <a:t>1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“机器人”的定义与起源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736974-A450-3260-E64A-A1CED4D130D8}"/>
              </a:ext>
            </a:extLst>
          </p:cNvPr>
          <p:cNvSpPr txBox="1"/>
          <p:nvPr/>
        </p:nvSpPr>
        <p:spPr>
          <a:xfrm>
            <a:off x="4384813" y="1062143"/>
            <a:ext cx="36419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学术与工业界的权威定义</a:t>
            </a:r>
            <a:endParaRPr lang="zh-CN" altLang="en-US" sz="2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865148-880F-B897-8C11-BB5F1E791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0958" y="1556961"/>
            <a:ext cx="9220242" cy="3076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chemeClr val="accent5">
                    <a:lumMod val="25000"/>
                    <a:lumOff val="75000"/>
                  </a:schemeClr>
                </a:solidFill>
              </a:rPr>
              <a:t>现代机器人有严格的工程学定义，强调</a:t>
            </a:r>
            <a:r>
              <a:rPr lang="zh-CN" altLang="en-US" sz="2000" b="1" dirty="0">
                <a:solidFill>
                  <a:schemeClr val="accent5">
                    <a:lumMod val="25000"/>
                    <a:lumOff val="75000"/>
                  </a:schemeClr>
                </a:solidFill>
              </a:rPr>
              <a:t>可编程性</a:t>
            </a:r>
            <a:r>
              <a:rPr lang="zh-CN" altLang="en-US" sz="2000" dirty="0">
                <a:solidFill>
                  <a:schemeClr val="accent5">
                    <a:lumMod val="25000"/>
                    <a:lumOff val="75000"/>
                  </a:schemeClr>
                </a:solidFill>
              </a:rPr>
              <a:t>和</a:t>
            </a:r>
            <a:r>
              <a:rPr lang="zh-CN" altLang="en-US" sz="2000" b="1" dirty="0">
                <a:solidFill>
                  <a:schemeClr val="accent5">
                    <a:lumMod val="25000"/>
                    <a:lumOff val="75000"/>
                  </a:schemeClr>
                </a:solidFill>
              </a:rPr>
              <a:t>自主性</a:t>
            </a:r>
            <a:r>
              <a:rPr lang="zh-CN" altLang="en-US" sz="2000" dirty="0">
                <a:solidFill>
                  <a:schemeClr val="accent5">
                    <a:lumMod val="25000"/>
                    <a:lumOff val="75000"/>
                  </a:schemeClr>
                </a:solidFill>
              </a:rPr>
              <a:t>。</a:t>
            </a:r>
            <a:endParaRPr lang="en-US" altLang="zh-CN" sz="2000" dirty="0">
              <a:solidFill>
                <a:schemeClr val="accent5">
                  <a:lumMod val="25000"/>
                  <a:lumOff val="7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/>
              <a:t>1 ISO 8373</a:t>
            </a:r>
            <a:r>
              <a:rPr lang="zh-CN" altLang="en-US" sz="2000" b="1" dirty="0"/>
              <a:t>国际标准定义：</a:t>
            </a:r>
            <a:r>
              <a:rPr lang="zh-CN" altLang="en-US" sz="2000" dirty="0"/>
              <a:t> 具有一定程度的</a:t>
            </a:r>
            <a:r>
              <a:rPr lang="zh-CN" altLang="en-US" sz="2000" b="1" dirty="0"/>
              <a:t>自主能力</a:t>
            </a:r>
            <a:r>
              <a:rPr lang="zh-CN" altLang="en-US" sz="2000" dirty="0"/>
              <a:t>，可在其环境中运动并执行预期任务的执行机构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/>
              <a:t>2 </a:t>
            </a:r>
            <a:r>
              <a:rPr lang="zh-CN" altLang="en-US" sz="2000" b="1" dirty="0"/>
              <a:t>美国机器人协会（</a:t>
            </a:r>
            <a:r>
              <a:rPr lang="en-US" altLang="zh-CN" sz="2000" b="1" dirty="0"/>
              <a:t>RIA</a:t>
            </a:r>
            <a:r>
              <a:rPr lang="zh-CN" altLang="en-US" sz="2000" b="1" dirty="0"/>
              <a:t>）定义：</a:t>
            </a:r>
            <a:r>
              <a:rPr lang="zh-CN" altLang="en-US" sz="2000" dirty="0"/>
              <a:t> 一种</a:t>
            </a:r>
            <a:r>
              <a:rPr lang="zh-CN" altLang="en-US" sz="2000" b="1" dirty="0"/>
              <a:t>可重复编程</a:t>
            </a:r>
            <a:r>
              <a:rPr lang="zh-CN" altLang="en-US" sz="2000" dirty="0"/>
              <a:t>的多功能操作器</a:t>
            </a:r>
            <a:r>
              <a:rPr lang="en-US" altLang="zh-CN" sz="2000" dirty="0"/>
              <a:t>...</a:t>
            </a:r>
            <a:r>
              <a:rPr lang="zh-CN" altLang="en-US" sz="2000" dirty="0"/>
              <a:t>用于搬运材料、零件、工具</a:t>
            </a:r>
            <a:r>
              <a:rPr lang="en-US" altLang="zh-CN" sz="2000" dirty="0"/>
              <a:t>...</a:t>
            </a:r>
            <a:r>
              <a:rPr lang="zh-CN" altLang="en-US" sz="2000" dirty="0"/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F40301-B5EA-3E5A-D9B0-B5D86D4B8C67}"/>
              </a:ext>
            </a:extLst>
          </p:cNvPr>
          <p:cNvSpPr txBox="1"/>
          <p:nvPr/>
        </p:nvSpPr>
        <p:spPr>
          <a:xfrm>
            <a:off x="1487162" y="5474335"/>
            <a:ext cx="9620250" cy="40011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algn="ctr"/>
            <a:r>
              <a:rPr lang="zh-CN" altLang="en-US" sz="2000" b="1" dirty="0"/>
              <a:t>机器人</a:t>
            </a:r>
            <a:r>
              <a:rPr lang="zh-CN" altLang="en-US" sz="2000" dirty="0"/>
              <a:t> </a:t>
            </a:r>
            <a:r>
              <a:rPr lang="en-US" altLang="zh-CN" sz="2000" dirty="0"/>
              <a:t>= </a:t>
            </a:r>
            <a:r>
              <a:rPr lang="zh-CN" altLang="en-US" sz="2000" b="1" dirty="0">
                <a:solidFill>
                  <a:schemeClr val="accent3"/>
                </a:solidFill>
              </a:rPr>
              <a:t>感知</a:t>
            </a:r>
            <a:r>
              <a:rPr lang="zh-CN" altLang="en-US" sz="2000" dirty="0"/>
              <a:t>（传感器） </a:t>
            </a:r>
            <a:r>
              <a:rPr lang="en-US" altLang="zh-CN" sz="2000" dirty="0"/>
              <a:t>+ </a:t>
            </a:r>
            <a:r>
              <a:rPr lang="zh-CN" altLang="en-US" sz="2000" b="1" dirty="0">
                <a:solidFill>
                  <a:schemeClr val="accent3"/>
                </a:solidFill>
              </a:rPr>
              <a:t>决策</a:t>
            </a:r>
            <a:r>
              <a:rPr lang="zh-CN" altLang="en-US" sz="2000" dirty="0"/>
              <a:t>（处理器</a:t>
            </a:r>
            <a:r>
              <a:rPr lang="en-US" altLang="zh-CN" sz="2000" dirty="0"/>
              <a:t>/</a:t>
            </a:r>
            <a:r>
              <a:rPr lang="zh-CN" altLang="en-US" sz="2000" dirty="0"/>
              <a:t>算法） </a:t>
            </a:r>
            <a:r>
              <a:rPr lang="en-US" altLang="zh-CN" sz="2000" dirty="0"/>
              <a:t>+ </a:t>
            </a:r>
            <a:r>
              <a:rPr lang="zh-CN" altLang="en-US" sz="2000" b="1" dirty="0">
                <a:solidFill>
                  <a:schemeClr val="accent3"/>
                </a:solidFill>
              </a:rPr>
              <a:t>行动</a:t>
            </a:r>
            <a:r>
              <a:rPr lang="zh-CN" altLang="en-US" sz="2000" dirty="0"/>
              <a:t>（执行器） 的闭环智能体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123883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FB86F-9EC1-EF81-8B2C-A28E95B87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F68C68A3-4776-4FB6-5D52-2C5704DA5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151" y="79513"/>
            <a:ext cx="5015158" cy="636813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>
                <a:solidFill>
                  <a:srgbClr val="FFFF00"/>
                </a:solidFill>
                <a:latin typeface="+mn-ea"/>
              </a:rPr>
              <a:t>1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“机器人”的定义与起源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D7C2CA-D191-BDD0-5493-DE27C2433710}"/>
              </a:ext>
            </a:extLst>
          </p:cNvPr>
          <p:cNvSpPr txBox="1"/>
          <p:nvPr/>
        </p:nvSpPr>
        <p:spPr>
          <a:xfrm>
            <a:off x="4384813" y="1062143"/>
            <a:ext cx="3641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机器人与人工智能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F2AD7A-D043-D0E3-03F4-086E7BB23E53}"/>
              </a:ext>
            </a:extLst>
          </p:cNvPr>
          <p:cNvSpPr txBox="1"/>
          <p:nvPr/>
        </p:nvSpPr>
        <p:spPr>
          <a:xfrm>
            <a:off x="1330892" y="1731230"/>
            <a:ext cx="9991166" cy="2589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300"/>
              </a:spcBef>
            </a:pPr>
            <a:r>
              <a:rPr lang="en-US" altLang="zh-CN" sz="2000" b="1" dirty="0">
                <a:latin typeface="+mn-ea"/>
              </a:rPr>
              <a:t>1 </a:t>
            </a:r>
            <a:r>
              <a:rPr lang="zh-CN" altLang="en-US" sz="2000" b="1" dirty="0">
                <a:latin typeface="+mn-ea"/>
              </a:rPr>
              <a:t>人工智能</a:t>
            </a:r>
            <a:r>
              <a:rPr lang="zh-CN" altLang="en-US" sz="2000" b="1" i="0" dirty="0">
                <a:effectLst/>
                <a:latin typeface="+mn-ea"/>
              </a:rPr>
              <a:t>：</a:t>
            </a:r>
            <a:r>
              <a:rPr lang="zh-CN" altLang="en-US" sz="2000" b="0" i="0" dirty="0">
                <a:effectLst/>
                <a:latin typeface="+mn-ea"/>
              </a:rPr>
              <a:t> 一般为</a:t>
            </a:r>
            <a:r>
              <a:rPr lang="zh-CN" altLang="en-US" sz="2000" dirty="0">
                <a:latin typeface="+mn-ea"/>
              </a:rPr>
              <a:t>软件智能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zh-CN" altLang="en-US" sz="2000" b="0" i="0" dirty="0">
                <a:effectLst/>
                <a:latin typeface="+mn-ea"/>
              </a:rPr>
              <a:t>存在于云端或电脑中，处理数据、识别图像、下棋等，但没有物理实体，无法改变现实世界。</a:t>
            </a:r>
          </a:p>
          <a:p>
            <a:pPr>
              <a:lnSpc>
                <a:spcPct val="200000"/>
              </a:lnSpc>
              <a:spcBef>
                <a:spcPts val="450"/>
              </a:spcBef>
            </a:pPr>
            <a:r>
              <a:rPr lang="en-US" altLang="zh-CN" sz="2000" b="1" i="0" dirty="0">
                <a:effectLst/>
                <a:latin typeface="+mn-ea"/>
              </a:rPr>
              <a:t>2 </a:t>
            </a:r>
            <a:r>
              <a:rPr lang="zh-CN" altLang="en-US" sz="2000" b="1" i="0" dirty="0">
                <a:effectLst/>
                <a:latin typeface="+mn-ea"/>
              </a:rPr>
              <a:t>机器人：</a:t>
            </a:r>
            <a:r>
              <a:rPr lang="zh-CN" altLang="en-US" sz="2000" b="0" i="0" dirty="0">
                <a:effectLst/>
                <a:latin typeface="+mn-ea"/>
              </a:rPr>
              <a:t> </a:t>
            </a:r>
            <a:r>
              <a:rPr lang="zh-CN" altLang="en-US" sz="2000" b="1" dirty="0">
                <a:latin typeface="+mn-ea"/>
              </a:rPr>
              <a:t> 具有物理实体，</a:t>
            </a:r>
            <a:r>
              <a:rPr lang="zh-CN" altLang="en-US" sz="2000" b="0" i="0" dirty="0">
                <a:effectLst/>
                <a:latin typeface="+mn-ea"/>
              </a:rPr>
              <a:t>必须在现实世界中存在，通过机械运动与环境交互。</a:t>
            </a:r>
          </a:p>
          <a:p>
            <a:pPr algn="l">
              <a:lnSpc>
                <a:spcPct val="200000"/>
              </a:lnSpc>
              <a:spcBef>
                <a:spcPts val="450"/>
              </a:spcBef>
            </a:pPr>
            <a:r>
              <a:rPr lang="en-US" altLang="zh-CN" sz="2000" b="1" i="0" dirty="0">
                <a:effectLst/>
                <a:latin typeface="+mn-ea"/>
              </a:rPr>
              <a:t>3 </a:t>
            </a:r>
            <a:r>
              <a:rPr lang="zh-CN" altLang="en-US" sz="2000" b="1" i="0" dirty="0">
                <a:effectLst/>
                <a:latin typeface="+mn-ea"/>
              </a:rPr>
              <a:t>具身智能：</a:t>
            </a:r>
            <a:r>
              <a:rPr lang="zh-CN" altLang="en-US" sz="2000" b="0" i="0" dirty="0">
                <a:effectLst/>
                <a:latin typeface="+mn-ea"/>
              </a:rPr>
              <a:t> 将</a:t>
            </a:r>
            <a:r>
              <a:rPr lang="en-US" altLang="zh-CN" sz="2000" b="0" i="0" dirty="0">
                <a:effectLst/>
                <a:latin typeface="+mn-ea"/>
              </a:rPr>
              <a:t>AI</a:t>
            </a:r>
            <a:r>
              <a:rPr lang="zh-CN" altLang="en-US" sz="2000" b="0" i="0" dirty="0">
                <a:effectLst/>
                <a:latin typeface="+mn-ea"/>
              </a:rPr>
              <a:t>大模型装入机器人，让机器人能看能走，还能理解复杂语义指令。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DF023B-DFB1-26E1-B19B-315772A8FF2A}"/>
              </a:ext>
            </a:extLst>
          </p:cNvPr>
          <p:cNvSpPr txBox="1"/>
          <p:nvPr/>
        </p:nvSpPr>
        <p:spPr>
          <a:xfrm>
            <a:off x="2077462" y="5336074"/>
            <a:ext cx="8037076" cy="4001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000" b="1" i="0" dirty="0">
                <a:effectLst/>
                <a:latin typeface="quote-cjk-patch"/>
              </a:rPr>
              <a:t>AI</a:t>
            </a:r>
            <a:r>
              <a:rPr lang="zh-CN" altLang="en-US" sz="2000" b="1" i="0" dirty="0">
                <a:effectLst/>
                <a:latin typeface="quote-cjk-patch"/>
              </a:rPr>
              <a:t>是机器人的“大脑”，而机器人是</a:t>
            </a:r>
            <a:r>
              <a:rPr lang="en-US" altLang="zh-CN" sz="2000" b="1" i="0" dirty="0">
                <a:effectLst/>
                <a:latin typeface="quote-cjk-patch"/>
              </a:rPr>
              <a:t>AI</a:t>
            </a:r>
            <a:r>
              <a:rPr lang="zh-CN" altLang="en-US" sz="2000" b="1" i="0" dirty="0">
                <a:effectLst/>
                <a:latin typeface="quote-cjk-patch"/>
              </a:rPr>
              <a:t>在物理世界的“身体”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20436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A50B9-9337-4A14-60C1-D1976EAAD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8AE1317E-1F54-B4D9-5E9E-0BBA37417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2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机器人的组成与结构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FC1A53-3BDB-0F34-1167-236EEA089B99}"/>
              </a:ext>
            </a:extLst>
          </p:cNvPr>
          <p:cNvSpPr txBox="1"/>
          <p:nvPr/>
        </p:nvSpPr>
        <p:spPr>
          <a:xfrm>
            <a:off x="4384813" y="893095"/>
            <a:ext cx="3641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机器人的硬件架构</a:t>
            </a:r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137041-EDEF-AAC5-AC97-01B7E8A3C911}"/>
              </a:ext>
            </a:extLst>
          </p:cNvPr>
          <p:cNvSpPr txBox="1"/>
          <p:nvPr/>
        </p:nvSpPr>
        <p:spPr>
          <a:xfrm>
            <a:off x="1606786" y="1845353"/>
            <a:ext cx="9504328" cy="265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spcBef>
                <a:spcPts val="300"/>
              </a:spcBef>
            </a:pPr>
            <a:r>
              <a:rPr lang="zh-CN" altLang="en-US" sz="2000" b="1" i="0" dirty="0">
                <a:effectLst/>
                <a:latin typeface="quote-cjk-patch"/>
              </a:rPr>
              <a:t>骨架（机械本体）：</a:t>
            </a:r>
            <a:r>
              <a:rPr lang="zh-CN" altLang="en-US" sz="2000" b="0" i="0" dirty="0">
                <a:effectLst/>
                <a:latin typeface="quote-cjk-patch"/>
              </a:rPr>
              <a:t> 连杆、关节，决定了机器人的工作空间和运动范围。</a:t>
            </a:r>
          </a:p>
          <a:p>
            <a:pPr algn="l">
              <a:lnSpc>
                <a:spcPct val="200000"/>
              </a:lnSpc>
              <a:spcBef>
                <a:spcPts val="450"/>
              </a:spcBef>
            </a:pPr>
            <a:r>
              <a:rPr lang="zh-CN" altLang="en-US" sz="2000" b="1" i="0" dirty="0">
                <a:effectLst/>
                <a:latin typeface="quote-cjk-patch"/>
              </a:rPr>
              <a:t>肌肉（驱动系统）：</a:t>
            </a:r>
            <a:r>
              <a:rPr lang="zh-CN" altLang="en-US" sz="2000" b="0" i="0" dirty="0">
                <a:effectLst/>
                <a:latin typeface="quote-cjk-patch"/>
              </a:rPr>
              <a:t> 伺服电机、液压</a:t>
            </a:r>
            <a:r>
              <a:rPr lang="en-US" altLang="zh-CN" sz="2000" b="0" i="0" dirty="0">
                <a:effectLst/>
                <a:latin typeface="quote-cjk-patch"/>
              </a:rPr>
              <a:t>/</a:t>
            </a:r>
            <a:r>
              <a:rPr lang="zh-CN" altLang="en-US" sz="2000" b="0" i="0" dirty="0">
                <a:effectLst/>
                <a:latin typeface="quote-cjk-patch"/>
              </a:rPr>
              <a:t>气动缸等，将电能</a:t>
            </a:r>
            <a:r>
              <a:rPr lang="en-US" altLang="zh-CN" sz="2000" b="0" i="0" dirty="0">
                <a:effectLst/>
                <a:latin typeface="quote-cjk-patch"/>
              </a:rPr>
              <a:t>/</a:t>
            </a:r>
            <a:r>
              <a:rPr lang="zh-CN" altLang="en-US" sz="2000" b="0" i="0" dirty="0">
                <a:effectLst/>
                <a:latin typeface="quote-cjk-patch"/>
              </a:rPr>
              <a:t>液压能转化为机械能。</a:t>
            </a:r>
          </a:p>
          <a:p>
            <a:pPr algn="l">
              <a:lnSpc>
                <a:spcPct val="200000"/>
              </a:lnSpc>
              <a:spcBef>
                <a:spcPts val="450"/>
              </a:spcBef>
            </a:pPr>
            <a:r>
              <a:rPr lang="zh-CN" altLang="en-US" sz="2000" b="1" i="0" dirty="0">
                <a:effectLst/>
                <a:latin typeface="quote-cjk-patch"/>
              </a:rPr>
              <a:t>神经（控制系统）：</a:t>
            </a:r>
            <a:r>
              <a:rPr lang="zh-CN" altLang="en-US" sz="2000" b="0" i="0" dirty="0">
                <a:effectLst/>
                <a:latin typeface="quote-cjk-patch"/>
              </a:rPr>
              <a:t> 嵌入式控制器、实时操作系统，负责计算和指令下发。</a:t>
            </a:r>
          </a:p>
          <a:p>
            <a:pPr algn="l">
              <a:lnSpc>
                <a:spcPct val="200000"/>
              </a:lnSpc>
              <a:spcBef>
                <a:spcPts val="450"/>
              </a:spcBef>
            </a:pPr>
            <a:r>
              <a:rPr lang="zh-CN" altLang="en-US" sz="2000" b="1" i="0" dirty="0">
                <a:effectLst/>
                <a:latin typeface="quote-cjk-patch"/>
              </a:rPr>
              <a:t>感官（传感系统）：</a:t>
            </a:r>
            <a:r>
              <a:rPr lang="zh-CN" altLang="en-US" sz="2000" b="0" i="0" dirty="0">
                <a:effectLst/>
                <a:latin typeface="quote-cjk-patch"/>
              </a:rPr>
              <a:t> 感知自身状态（编码器）和外界环境（摄像头、雷达）。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E554F3-C4E0-7768-D7BD-043BF433D46E}"/>
              </a:ext>
            </a:extLst>
          </p:cNvPr>
          <p:cNvSpPr txBox="1"/>
          <p:nvPr/>
        </p:nvSpPr>
        <p:spPr>
          <a:xfrm>
            <a:off x="2443982" y="5172033"/>
            <a:ext cx="7523643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b="0" i="0" dirty="0">
                <a:effectLst/>
                <a:latin typeface="quote-cjk-patch"/>
              </a:rPr>
              <a:t>机器人硬件系统可类比为人体结构，各部分协同工作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37521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53F43-1744-7DEF-F12B-1D2B1211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2F32EACB-9D65-9D21-0A90-2DD98AE0B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2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机器人的组成与结构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2BEE57-D705-7893-7944-47C9E590DDCC}"/>
              </a:ext>
            </a:extLst>
          </p:cNvPr>
          <p:cNvSpPr txBox="1"/>
          <p:nvPr/>
        </p:nvSpPr>
        <p:spPr>
          <a:xfrm>
            <a:off x="4384813" y="893095"/>
            <a:ext cx="3641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机器人的驱动与传动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507885-EE20-1240-B49F-4E8622F3C8FD}"/>
              </a:ext>
            </a:extLst>
          </p:cNvPr>
          <p:cNvSpPr txBox="1"/>
          <p:nvPr/>
        </p:nvSpPr>
        <p:spPr>
          <a:xfrm>
            <a:off x="2136620" y="5491129"/>
            <a:ext cx="830598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不同的驱动方式决定了机器人的</a:t>
            </a:r>
            <a:r>
              <a:rPr lang="zh-CN" altLang="en-US" sz="2400" b="1" dirty="0">
                <a:solidFill>
                  <a:srgbClr val="FF0000"/>
                </a:solidFill>
              </a:rPr>
              <a:t>负载能力、精度和速度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8CFD2D-24FB-99D7-4EA0-8F63BEBE8B57}"/>
              </a:ext>
            </a:extLst>
          </p:cNvPr>
          <p:cNvSpPr txBox="1"/>
          <p:nvPr/>
        </p:nvSpPr>
        <p:spPr>
          <a:xfrm>
            <a:off x="1721941" y="1408584"/>
            <a:ext cx="9758005" cy="3390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spcBef>
                <a:spcPts val="300"/>
              </a:spcBef>
              <a:spcAft>
                <a:spcPts val="600"/>
              </a:spcAft>
            </a:pPr>
            <a:r>
              <a:rPr lang="en-US" altLang="zh-CN" sz="2000" b="1" i="0" dirty="0">
                <a:effectLst/>
                <a:latin typeface="quote-cjk-patch"/>
              </a:rPr>
              <a:t>1 </a:t>
            </a:r>
            <a:r>
              <a:rPr lang="zh-CN" altLang="en-US" sz="2000" b="1" i="0" dirty="0">
                <a:effectLst/>
                <a:latin typeface="quote-cjk-patch"/>
              </a:rPr>
              <a:t>电机驱动（最常见）：</a:t>
            </a:r>
            <a:endParaRPr lang="zh-CN" altLang="en-US" sz="2000" b="0" i="0" dirty="0">
              <a:effectLst/>
              <a:latin typeface="quote-cjk-patch"/>
            </a:endParaRPr>
          </a:p>
          <a:p>
            <a:pPr lvl="1" algn="l">
              <a:lnSpc>
                <a:spcPct val="200000"/>
              </a:lnSpc>
              <a:spcBef>
                <a:spcPts val="300"/>
              </a:spcBef>
            </a:pPr>
            <a:r>
              <a:rPr lang="zh-CN" altLang="en-US" sz="2000" b="1" i="0" dirty="0">
                <a:effectLst/>
                <a:latin typeface="quote-cjk-patch"/>
              </a:rPr>
              <a:t>伺服电机：</a:t>
            </a:r>
            <a:r>
              <a:rPr lang="zh-CN" altLang="en-US" sz="2000" b="0" i="0" dirty="0">
                <a:effectLst/>
                <a:latin typeface="quote-cjk-patch"/>
              </a:rPr>
              <a:t> 闭环控制，精度高，响应快（用于工业机器人关节）</a:t>
            </a:r>
          </a:p>
          <a:p>
            <a:pPr lvl="1" algn="l">
              <a:lnSpc>
                <a:spcPct val="200000"/>
              </a:lnSpc>
              <a:spcBef>
                <a:spcPts val="450"/>
              </a:spcBef>
            </a:pPr>
            <a:r>
              <a:rPr lang="zh-CN" altLang="en-US" sz="2000" b="1" i="0" dirty="0">
                <a:effectLst/>
                <a:latin typeface="quote-cjk-patch"/>
              </a:rPr>
              <a:t>步进电机：</a:t>
            </a:r>
            <a:r>
              <a:rPr lang="zh-CN" altLang="en-US" sz="2000" b="0" i="0" dirty="0">
                <a:effectLst/>
                <a:latin typeface="quote-cjk-patch"/>
              </a:rPr>
              <a:t> 开环控制，结构简单，成本低（用于</a:t>
            </a:r>
            <a:r>
              <a:rPr lang="en-US" altLang="zh-CN" sz="2000" b="0" i="0" dirty="0">
                <a:effectLst/>
                <a:latin typeface="quote-cjk-patch"/>
              </a:rPr>
              <a:t>3D</a:t>
            </a:r>
            <a:r>
              <a:rPr lang="zh-CN" altLang="en-US" sz="2000" b="0" i="0" dirty="0">
                <a:effectLst/>
                <a:latin typeface="quote-cjk-patch"/>
              </a:rPr>
              <a:t>打印机、小型桌面机械臂）</a:t>
            </a:r>
          </a:p>
          <a:p>
            <a:pPr algn="l">
              <a:lnSpc>
                <a:spcPct val="200000"/>
              </a:lnSpc>
              <a:spcBef>
                <a:spcPts val="450"/>
              </a:spcBef>
            </a:pPr>
            <a:r>
              <a:rPr lang="en-US" altLang="zh-CN" sz="2000" b="1" i="0" dirty="0">
                <a:effectLst/>
                <a:latin typeface="quote-cjk-patch"/>
              </a:rPr>
              <a:t>2 </a:t>
            </a:r>
            <a:r>
              <a:rPr lang="zh-CN" altLang="en-US" sz="2000" b="1" i="0" dirty="0">
                <a:effectLst/>
                <a:latin typeface="quote-cjk-patch"/>
              </a:rPr>
              <a:t>液压驱动：</a:t>
            </a:r>
            <a:r>
              <a:rPr lang="zh-CN" altLang="en-US" sz="2000" b="0" i="0" dirty="0">
                <a:effectLst/>
                <a:latin typeface="quote-cjk-patch"/>
              </a:rPr>
              <a:t> 功率密度大，力量极强（用于工程机械、大型重载机器人，如挖掘机）</a:t>
            </a:r>
          </a:p>
          <a:p>
            <a:pPr algn="l">
              <a:lnSpc>
                <a:spcPct val="200000"/>
              </a:lnSpc>
              <a:spcBef>
                <a:spcPts val="450"/>
              </a:spcBef>
            </a:pPr>
            <a:r>
              <a:rPr lang="en-US" altLang="zh-CN" sz="2000" b="1" i="0" dirty="0">
                <a:effectLst/>
                <a:latin typeface="quote-cjk-patch"/>
              </a:rPr>
              <a:t>3 </a:t>
            </a:r>
            <a:r>
              <a:rPr lang="zh-CN" altLang="en-US" sz="2000" b="1" i="0" dirty="0">
                <a:effectLst/>
                <a:latin typeface="quote-cjk-patch"/>
              </a:rPr>
              <a:t>气压驱动：</a:t>
            </a:r>
            <a:r>
              <a:rPr lang="zh-CN" altLang="en-US" sz="2000" b="0" i="0" dirty="0">
                <a:effectLst/>
                <a:latin typeface="quote-cjk-patch"/>
              </a:rPr>
              <a:t> 速度快，成本低，但精度差（用于气动夹爪、拾取包装）</a:t>
            </a:r>
          </a:p>
        </p:txBody>
      </p:sp>
    </p:spTree>
    <p:extLst>
      <p:ext uri="{BB962C8B-B14F-4D97-AF65-F5344CB8AC3E}">
        <p14:creationId xmlns:p14="http://schemas.microsoft.com/office/powerpoint/2010/main" val="1644888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B34A8-0CD4-909C-127E-80EFFC2F4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711A5F92-18EF-46E1-23E1-67FC79E3E2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2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机器人的组成与结构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D3EBD5-C56B-8FAC-6D67-D88A65A535ED}"/>
              </a:ext>
            </a:extLst>
          </p:cNvPr>
          <p:cNvSpPr txBox="1"/>
          <p:nvPr/>
        </p:nvSpPr>
        <p:spPr>
          <a:xfrm>
            <a:off x="4384813" y="893095"/>
            <a:ext cx="3641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机器人的感知系统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7A3F12-2B86-C33B-B677-D37FDC75C1A3}"/>
              </a:ext>
            </a:extLst>
          </p:cNvPr>
          <p:cNvSpPr txBox="1"/>
          <p:nvPr/>
        </p:nvSpPr>
        <p:spPr>
          <a:xfrm>
            <a:off x="1626120" y="6070207"/>
            <a:ext cx="944250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传感器是机器人获取信息的唯一途径，分为本体传感器和外部传感器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3BFCD0-6274-7F02-5C58-A036DF19DAFD}"/>
              </a:ext>
            </a:extLst>
          </p:cNvPr>
          <p:cNvSpPr txBox="1"/>
          <p:nvPr/>
        </p:nvSpPr>
        <p:spPr>
          <a:xfrm>
            <a:off x="1737309" y="1354760"/>
            <a:ext cx="9220124" cy="430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dirty="0"/>
              <a:t>1 </a:t>
            </a:r>
            <a:r>
              <a:rPr lang="zh-CN" altLang="en-US" sz="2000" b="1" dirty="0"/>
              <a:t>内部传感器：感觉自己的身体</a:t>
            </a:r>
            <a:endParaRPr lang="zh-CN" altLang="en-US" sz="2000" dirty="0"/>
          </a:p>
          <a:p>
            <a:pPr lvl="1">
              <a:lnSpc>
                <a:spcPct val="200000"/>
              </a:lnSpc>
            </a:pPr>
            <a:r>
              <a:rPr lang="zh-CN" altLang="en-US" sz="2000" b="1" dirty="0"/>
              <a:t>编码器：</a:t>
            </a:r>
            <a:r>
              <a:rPr lang="zh-CN" altLang="en-US" sz="2000" dirty="0"/>
              <a:t> 感知位移，安装在电机轴上，测量关节角度和转速</a:t>
            </a:r>
          </a:p>
          <a:p>
            <a:pPr lvl="1">
              <a:lnSpc>
                <a:spcPct val="200000"/>
              </a:lnSpc>
            </a:pPr>
            <a:r>
              <a:rPr lang="en-US" altLang="zh-CN" sz="2000" b="1" dirty="0"/>
              <a:t>IMU</a:t>
            </a:r>
            <a:r>
              <a:rPr lang="zh-CN" altLang="en-US" sz="2000" b="1" dirty="0"/>
              <a:t>（惯性测量单元）：</a:t>
            </a:r>
            <a:r>
              <a:rPr lang="zh-CN" altLang="en-US" sz="2000" dirty="0"/>
              <a:t> 感知位姿，测量加速度和角速度，用于姿态估计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/>
              <a:t>2 </a:t>
            </a:r>
            <a:r>
              <a:rPr lang="zh-CN" altLang="en-US" sz="2000" b="1" dirty="0"/>
              <a:t>外部传感器：感知外部世界</a:t>
            </a:r>
            <a:endParaRPr lang="zh-CN" altLang="en-US" sz="2000" dirty="0"/>
          </a:p>
          <a:p>
            <a:pPr lvl="1">
              <a:lnSpc>
                <a:spcPct val="200000"/>
              </a:lnSpc>
            </a:pPr>
            <a:r>
              <a:rPr lang="zh-CN" altLang="en-US" sz="2000" b="1" dirty="0"/>
              <a:t>视觉：</a:t>
            </a:r>
            <a:r>
              <a:rPr lang="zh-CN" altLang="en-US" sz="2000" dirty="0"/>
              <a:t> 单目</a:t>
            </a:r>
            <a:r>
              <a:rPr lang="en-US" altLang="zh-CN" sz="2000" dirty="0"/>
              <a:t>/</a:t>
            </a:r>
            <a:r>
              <a:rPr lang="zh-CN" altLang="en-US" sz="2000" dirty="0"/>
              <a:t>双目摄像头、深度相机（用于识别物体、测距）</a:t>
            </a:r>
          </a:p>
          <a:p>
            <a:pPr lvl="1">
              <a:lnSpc>
                <a:spcPct val="200000"/>
              </a:lnSpc>
            </a:pPr>
            <a:r>
              <a:rPr lang="zh-CN" altLang="en-US" sz="2000" b="1" dirty="0"/>
              <a:t>距离测量：</a:t>
            </a:r>
            <a:r>
              <a:rPr lang="zh-CN" altLang="en-US" sz="2000" dirty="0"/>
              <a:t> 激光雷达（</a:t>
            </a:r>
            <a:r>
              <a:rPr lang="en-US" altLang="zh-CN" sz="2000" dirty="0"/>
              <a:t>LiDAR</a:t>
            </a:r>
            <a:r>
              <a:rPr lang="zh-CN" altLang="en-US" sz="2000" dirty="0"/>
              <a:t>，高精度建图）、超声波（近距离避障）</a:t>
            </a:r>
          </a:p>
          <a:p>
            <a:pPr lvl="1">
              <a:lnSpc>
                <a:spcPct val="200000"/>
              </a:lnSpc>
            </a:pPr>
            <a:r>
              <a:rPr lang="zh-CN" altLang="en-US" sz="2000" b="1" dirty="0"/>
              <a:t>触觉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力觉：</a:t>
            </a:r>
            <a:r>
              <a:rPr lang="zh-CN" altLang="en-US" sz="2000" dirty="0"/>
              <a:t> 六维力传感器（安装在手腕处，用于精密装配、打磨）</a:t>
            </a:r>
          </a:p>
        </p:txBody>
      </p:sp>
    </p:spTree>
    <p:extLst>
      <p:ext uri="{BB962C8B-B14F-4D97-AF65-F5344CB8AC3E}">
        <p14:creationId xmlns:p14="http://schemas.microsoft.com/office/powerpoint/2010/main" val="564297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D8B98-3AC0-0767-48E0-A01CBE1C4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D9C30F62-6DA8-A436-E149-B40054674E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2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机器人的组成与结构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25E3CE-3222-00A6-86AF-3E5FA9A476CB}"/>
              </a:ext>
            </a:extLst>
          </p:cNvPr>
          <p:cNvSpPr txBox="1"/>
          <p:nvPr/>
        </p:nvSpPr>
        <p:spPr>
          <a:xfrm>
            <a:off x="4384813" y="893095"/>
            <a:ext cx="3641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机器人的软件与智能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0E3787-B30B-D77A-AE3F-1D5AA19D5242}"/>
              </a:ext>
            </a:extLst>
          </p:cNvPr>
          <p:cNvSpPr txBox="1"/>
          <p:nvPr/>
        </p:nvSpPr>
        <p:spPr>
          <a:xfrm>
            <a:off x="1997347" y="5839374"/>
            <a:ext cx="8539857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软件定义了机器人的行为，算法是其灵魂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88B834-DA40-7E79-8F0B-FD0F884BD505}"/>
              </a:ext>
            </a:extLst>
          </p:cNvPr>
          <p:cNvSpPr txBox="1"/>
          <p:nvPr/>
        </p:nvSpPr>
        <p:spPr>
          <a:xfrm>
            <a:off x="1844886" y="1547120"/>
            <a:ext cx="9143283" cy="369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dirty="0"/>
              <a:t>1 </a:t>
            </a:r>
            <a:r>
              <a:rPr lang="zh-CN" altLang="en-US" sz="2000" b="1" dirty="0"/>
              <a:t>操作系统：</a:t>
            </a:r>
            <a:r>
              <a:rPr lang="zh-CN" altLang="en-US" sz="2000" dirty="0"/>
              <a:t> 机器人操作系统（</a:t>
            </a:r>
            <a:r>
              <a:rPr lang="en-US" altLang="zh-CN" sz="2000" dirty="0">
                <a:solidFill>
                  <a:srgbClr val="FF0000"/>
                </a:solidFill>
              </a:rPr>
              <a:t>ROS</a:t>
            </a:r>
            <a:r>
              <a:rPr lang="zh-CN" altLang="en-US" sz="2000" dirty="0"/>
              <a:t>），它不是真正的操作系统，而是一个分布式通信框架，极大地简化了机器人软件开发。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/>
              <a:t>2 </a:t>
            </a:r>
            <a:r>
              <a:rPr lang="zh-CN" altLang="en-US" sz="2000" b="1" dirty="0"/>
              <a:t>算法层级：</a:t>
            </a:r>
            <a:endParaRPr lang="zh-CN" altLang="en-US" sz="2000" dirty="0"/>
          </a:p>
          <a:p>
            <a:pPr lvl="1">
              <a:lnSpc>
                <a:spcPct val="200000"/>
              </a:lnSpc>
            </a:pPr>
            <a:r>
              <a:rPr lang="zh-CN" altLang="en-US" sz="2000" b="1" dirty="0"/>
              <a:t>底层</a:t>
            </a:r>
            <a:r>
              <a:rPr lang="zh-CN" altLang="en-US" sz="2000" b="1" dirty="0">
                <a:solidFill>
                  <a:srgbClr val="FF0000"/>
                </a:solidFill>
              </a:rPr>
              <a:t>控制</a:t>
            </a:r>
            <a:r>
              <a:rPr lang="zh-CN" altLang="en-US" sz="2000" b="1" dirty="0"/>
              <a:t>：</a:t>
            </a:r>
            <a:r>
              <a:rPr lang="zh-CN" altLang="en-US" sz="2000" dirty="0"/>
              <a:t> </a:t>
            </a:r>
            <a:r>
              <a:rPr lang="en-US" altLang="zh-CN" sz="2000" dirty="0"/>
              <a:t>PID</a:t>
            </a:r>
            <a:r>
              <a:rPr lang="zh-CN" altLang="en-US" sz="2000" dirty="0"/>
              <a:t>、</a:t>
            </a:r>
            <a:r>
              <a:rPr lang="en-US" altLang="zh-CN" sz="2000" dirty="0"/>
              <a:t>MPC</a:t>
            </a:r>
            <a:r>
              <a:rPr lang="zh-CN" altLang="en-US" sz="2000" dirty="0"/>
              <a:t>等，让电机精确到达指定位置。</a:t>
            </a:r>
          </a:p>
          <a:p>
            <a:pPr lvl="1">
              <a:lnSpc>
                <a:spcPct val="200000"/>
              </a:lnSpc>
            </a:pPr>
            <a:r>
              <a:rPr lang="zh-CN" altLang="en-US" sz="2000" b="1" dirty="0"/>
              <a:t>中层</a:t>
            </a:r>
            <a:r>
              <a:rPr lang="zh-CN" altLang="en-US" sz="2000" b="1" dirty="0">
                <a:solidFill>
                  <a:srgbClr val="FF0000"/>
                </a:solidFill>
              </a:rPr>
              <a:t>感知</a:t>
            </a:r>
            <a:r>
              <a:rPr lang="zh-CN" altLang="en-US" sz="2000" b="1" dirty="0"/>
              <a:t>：</a:t>
            </a:r>
            <a:r>
              <a:rPr lang="zh-CN" altLang="en-US" sz="2000" dirty="0"/>
              <a:t> 计算机视觉（</a:t>
            </a:r>
            <a:r>
              <a:rPr lang="en-US" altLang="zh-CN" sz="2000" dirty="0"/>
              <a:t>CNN</a:t>
            </a:r>
            <a:r>
              <a:rPr lang="zh-CN" altLang="en-US" sz="2000" dirty="0"/>
              <a:t>），点云处理（</a:t>
            </a:r>
            <a:r>
              <a:rPr lang="en-US" altLang="zh-CN" sz="2000" dirty="0"/>
              <a:t>PCL</a:t>
            </a:r>
            <a:r>
              <a:rPr lang="zh-CN" altLang="en-US" sz="2000" dirty="0"/>
              <a:t>）。</a:t>
            </a:r>
          </a:p>
          <a:p>
            <a:pPr lvl="1">
              <a:lnSpc>
                <a:spcPct val="200000"/>
              </a:lnSpc>
            </a:pPr>
            <a:r>
              <a:rPr lang="zh-CN" altLang="en-US" sz="2000" b="1" dirty="0"/>
              <a:t>高层</a:t>
            </a:r>
            <a:r>
              <a:rPr lang="zh-CN" altLang="en-US" sz="2000" b="1" dirty="0">
                <a:solidFill>
                  <a:srgbClr val="FF0000"/>
                </a:solidFill>
              </a:rPr>
              <a:t>规划</a:t>
            </a:r>
            <a:r>
              <a:rPr lang="zh-CN" altLang="en-US" sz="2000" b="1" dirty="0"/>
              <a:t>：</a:t>
            </a:r>
            <a:r>
              <a:rPr lang="zh-CN" altLang="en-US" sz="2000" dirty="0"/>
              <a:t> 路径搜索（</a:t>
            </a:r>
            <a:r>
              <a:rPr lang="en-US" altLang="zh-CN" sz="2000" dirty="0"/>
              <a:t>A*</a:t>
            </a:r>
            <a:r>
              <a:rPr lang="zh-CN" altLang="en-US" sz="2000" dirty="0"/>
              <a:t>），强化学习（</a:t>
            </a:r>
            <a:r>
              <a:rPr lang="en-US" altLang="zh-CN" sz="2000" dirty="0"/>
              <a:t>RL</a:t>
            </a:r>
            <a:r>
              <a:rPr lang="zh-CN" altLang="en-US" sz="20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870163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F403-2ADC-5075-A1A9-ACB8AF07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7A0BF624-6F51-E9F4-622F-A36DA7299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3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机器人的分类与应用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2A5139-6BFF-464A-6FCD-3B0C7EC57C0B}"/>
              </a:ext>
            </a:extLst>
          </p:cNvPr>
          <p:cNvSpPr txBox="1"/>
          <p:nvPr/>
        </p:nvSpPr>
        <p:spPr>
          <a:xfrm>
            <a:off x="3223012" y="916423"/>
            <a:ext cx="6088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按机械结构分类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工业机器人的四大金刚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FB0855-C2EE-FB0F-32FC-DBD4F86A0163}"/>
              </a:ext>
            </a:extLst>
          </p:cNvPr>
          <p:cNvSpPr txBox="1"/>
          <p:nvPr/>
        </p:nvSpPr>
        <p:spPr>
          <a:xfrm>
            <a:off x="1882257" y="6191900"/>
            <a:ext cx="8539857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结构决定工作空间与适用场景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 descr="图示, 工程绘图&#10;&#10;AI 生成的内容可能不正确。">
            <a:extLst>
              <a:ext uri="{FF2B5EF4-FFF2-40B4-BE49-F238E27FC236}">
                <a16:creationId xmlns:a16="http://schemas.microsoft.com/office/drawing/2014/main" id="{8E63480B-C78B-B3B8-D25C-2ED97C32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21" y="2083401"/>
            <a:ext cx="2729513" cy="2179023"/>
          </a:xfrm>
          <a:prstGeom prst="rect">
            <a:avLst/>
          </a:prstGeom>
        </p:spPr>
      </p:pic>
      <p:pic>
        <p:nvPicPr>
          <p:cNvPr id="11" name="图片 10" descr="图片包含 器具, 游戏机&#10;&#10;AI 生成的内容可能不正确。">
            <a:extLst>
              <a:ext uri="{FF2B5EF4-FFF2-40B4-BE49-F238E27FC236}">
                <a16:creationId xmlns:a16="http://schemas.microsoft.com/office/drawing/2014/main" id="{AFB01381-E5DD-D793-3347-E37B467B2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358" y="2083401"/>
            <a:ext cx="2253983" cy="2253983"/>
          </a:xfrm>
          <a:prstGeom prst="rect">
            <a:avLst/>
          </a:prstGeom>
        </p:spPr>
      </p:pic>
      <p:pic>
        <p:nvPicPr>
          <p:cNvPr id="13" name="图片 12" descr="图片包含 游戏机, 滑雪&#10;&#10;AI 生成的内容可能不正确。">
            <a:extLst>
              <a:ext uri="{FF2B5EF4-FFF2-40B4-BE49-F238E27FC236}">
                <a16:creationId xmlns:a16="http://schemas.microsoft.com/office/drawing/2014/main" id="{B7B09C67-CC53-6DEF-C07A-5D234CC478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661" y="2045920"/>
            <a:ext cx="2253983" cy="2253983"/>
          </a:xfrm>
          <a:prstGeom prst="rect">
            <a:avLst/>
          </a:prstGeom>
        </p:spPr>
      </p:pic>
      <p:pic>
        <p:nvPicPr>
          <p:cNvPr id="17" name="图片 16" descr="图片包含 桌子, 水, 男人, 站&#10;&#10;AI 生成的内容可能不正确。">
            <a:extLst>
              <a:ext uri="{FF2B5EF4-FFF2-40B4-BE49-F238E27FC236}">
                <a16:creationId xmlns:a16="http://schemas.microsoft.com/office/drawing/2014/main" id="{5EA1A59B-1E71-B9CE-38ED-79C43C4E19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1965" y="1999111"/>
            <a:ext cx="2100298" cy="231484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CB4418E-3748-5500-7819-CE95BFFCDFBA}"/>
              </a:ext>
            </a:extLst>
          </p:cNvPr>
          <p:cNvSpPr txBox="1"/>
          <p:nvPr/>
        </p:nvSpPr>
        <p:spPr>
          <a:xfrm>
            <a:off x="509524" y="4553404"/>
            <a:ext cx="25607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quote-cjk-patch"/>
              </a:rPr>
              <a:t>直角坐标机器人（</a:t>
            </a:r>
            <a:r>
              <a:rPr lang="en-US" altLang="zh-CN" b="1" i="0" dirty="0">
                <a:effectLst/>
                <a:latin typeface="quote-cjk-patch"/>
              </a:rPr>
              <a:t>PPP</a:t>
            </a:r>
            <a:r>
              <a:rPr lang="zh-CN" altLang="en-US" b="1" i="0" dirty="0">
                <a:effectLst/>
                <a:latin typeface="quote-cjk-patch"/>
              </a:rPr>
              <a:t>）</a:t>
            </a:r>
            <a:endParaRPr lang="en-US" altLang="zh-CN" b="1" i="0" dirty="0">
              <a:effectLst/>
              <a:latin typeface="quote-cjk-patch"/>
            </a:endParaRPr>
          </a:p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quote-cjk-patch"/>
              </a:rPr>
              <a:t>直线轴组成</a:t>
            </a:r>
            <a:endParaRPr lang="en-US" altLang="zh-CN" b="1" dirty="0">
              <a:latin typeface="quote-cjk-patch"/>
            </a:endParaRPr>
          </a:p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quote-cjk-patch"/>
              </a:rPr>
              <a:t>刚度精度好，</a:t>
            </a:r>
            <a:r>
              <a:rPr lang="zh-CN" altLang="en-US" b="1" i="0" dirty="0">
                <a:effectLst/>
                <a:latin typeface="quote-cjk-patch"/>
              </a:rPr>
              <a:t>空间大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CBDFAD-19FD-97C0-CB54-1A9C88FE754E}"/>
              </a:ext>
            </a:extLst>
          </p:cNvPr>
          <p:cNvSpPr txBox="1"/>
          <p:nvPr/>
        </p:nvSpPr>
        <p:spPr>
          <a:xfrm>
            <a:off x="3347996" y="4553404"/>
            <a:ext cx="2560705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SCARA</a:t>
            </a:r>
            <a:r>
              <a:rPr lang="zh-CN" altLang="en-US" b="1" dirty="0"/>
              <a:t>机器人（</a:t>
            </a:r>
            <a:r>
              <a:rPr lang="en-US" altLang="zh-CN" b="1" dirty="0"/>
              <a:t>RRP</a:t>
            </a:r>
            <a:r>
              <a:rPr lang="zh-CN" altLang="en-US" b="1" dirty="0"/>
              <a:t>）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quote-cjk-patch"/>
              </a:rPr>
              <a:t>具有平行旋转轴</a:t>
            </a:r>
            <a:endParaRPr lang="en-US" altLang="zh-CN" b="1" dirty="0">
              <a:latin typeface="quote-cjk-patch"/>
            </a:endParaRPr>
          </a:p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quote-cjk-patch"/>
              </a:rPr>
              <a:t>高速高精度平面定位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291D7D-27F3-D0DA-99E6-196FA7F7EA04}"/>
              </a:ext>
            </a:extLst>
          </p:cNvPr>
          <p:cNvSpPr txBox="1"/>
          <p:nvPr/>
        </p:nvSpPr>
        <p:spPr>
          <a:xfrm>
            <a:off x="6283301" y="4553404"/>
            <a:ext cx="2560705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关节型机器人（</a:t>
            </a:r>
            <a:r>
              <a:rPr lang="en-US" altLang="zh-CN" b="1" dirty="0"/>
              <a:t>RRR</a:t>
            </a:r>
            <a:r>
              <a:rPr lang="zh-CN" altLang="en-US" b="1" dirty="0"/>
              <a:t>）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quote-cjk-patch"/>
              </a:rPr>
              <a:t>多旋转轴，模拟人臂</a:t>
            </a:r>
            <a:endParaRPr lang="en-US" altLang="zh-CN" b="1" dirty="0">
              <a:latin typeface="quote-cjk-patch"/>
            </a:endParaRPr>
          </a:p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quote-cjk-patch"/>
              </a:rPr>
              <a:t>极其灵活，可达空间大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5C6561-0EEA-8E1E-8B92-161F70F844FE}"/>
              </a:ext>
            </a:extLst>
          </p:cNvPr>
          <p:cNvSpPr txBox="1"/>
          <p:nvPr/>
        </p:nvSpPr>
        <p:spPr>
          <a:xfrm>
            <a:off x="9121773" y="4544258"/>
            <a:ext cx="2560705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并联机器人（</a:t>
            </a:r>
            <a:r>
              <a:rPr lang="en-US" altLang="zh-CN" b="1" dirty="0"/>
              <a:t>Delta</a:t>
            </a:r>
            <a:r>
              <a:rPr lang="zh-CN" altLang="en-US" b="1" dirty="0"/>
              <a:t>）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/>
              <a:t>三组并联臂，轻量化</a:t>
            </a:r>
            <a:endParaRPr lang="en-US" altLang="zh-CN" b="1" dirty="0"/>
          </a:p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/>
              <a:t>极高速、适合轻负载</a:t>
            </a:r>
            <a:endParaRPr lang="zh-CN" altLang="en-US" b="1" i="0" dirty="0">
              <a:effectLst/>
              <a:latin typeface="quote-cjk-patch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1A6FC05-03C9-9BDB-07EC-20347EF6AD08}"/>
              </a:ext>
            </a:extLst>
          </p:cNvPr>
          <p:cNvSpPr txBox="1"/>
          <p:nvPr/>
        </p:nvSpPr>
        <p:spPr>
          <a:xfrm>
            <a:off x="755265" y="1592500"/>
            <a:ext cx="2253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chemeClr val="accent3"/>
                </a:solidFill>
                <a:effectLst/>
                <a:latin typeface="quote-cjk-patch"/>
              </a:rPr>
              <a:t>龙门架上大力士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22C5FB8-7DFC-9297-9902-0C6C859894AD}"/>
              </a:ext>
            </a:extLst>
          </p:cNvPr>
          <p:cNvSpPr txBox="1"/>
          <p:nvPr/>
        </p:nvSpPr>
        <p:spPr>
          <a:xfrm>
            <a:off x="3501356" y="1590377"/>
            <a:ext cx="2253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200"/>
              </a:spcAft>
            </a:pPr>
            <a:r>
              <a:rPr lang="zh-CN" altLang="en-US" b="1" dirty="0">
                <a:solidFill>
                  <a:schemeClr val="accent3"/>
                </a:solidFill>
              </a:rPr>
              <a:t>电子车间的快手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93912E-7004-1409-B16F-5E9AA4FD9A99}"/>
              </a:ext>
            </a:extLst>
          </p:cNvPr>
          <p:cNvSpPr txBox="1"/>
          <p:nvPr/>
        </p:nvSpPr>
        <p:spPr>
          <a:xfrm>
            <a:off x="6706241" y="1590377"/>
            <a:ext cx="1700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ts val="2400"/>
              </a:spcBef>
              <a:spcAft>
                <a:spcPts val="1200"/>
              </a:spcAft>
              <a:defRPr b="1"/>
            </a:lvl1pPr>
          </a:lstStyle>
          <a:p>
            <a:r>
              <a:rPr lang="zh-CN" altLang="en-US" dirty="0">
                <a:solidFill>
                  <a:schemeClr val="accent3"/>
                </a:solidFill>
              </a:rPr>
              <a:t>全能型冠军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A1AAAE6-0AE3-5066-6B25-4706D0FE3FF8}"/>
              </a:ext>
            </a:extLst>
          </p:cNvPr>
          <p:cNvSpPr txBox="1"/>
          <p:nvPr/>
        </p:nvSpPr>
        <p:spPr>
          <a:xfrm>
            <a:off x="9187549" y="1559875"/>
            <a:ext cx="2430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ts val="2400"/>
              </a:spcBef>
              <a:spcAft>
                <a:spcPts val="1200"/>
              </a:spcAft>
              <a:defRPr b="1"/>
            </a:lvl1pPr>
          </a:lstStyle>
          <a:p>
            <a:r>
              <a:rPr lang="zh-CN" altLang="en-US" dirty="0">
                <a:solidFill>
                  <a:schemeClr val="accent3"/>
                </a:solidFill>
              </a:rPr>
              <a:t>分拣线上的飞毛腿</a:t>
            </a:r>
          </a:p>
        </p:txBody>
      </p:sp>
    </p:spTree>
    <p:extLst>
      <p:ext uri="{BB962C8B-B14F-4D97-AF65-F5344CB8AC3E}">
        <p14:creationId xmlns:p14="http://schemas.microsoft.com/office/powerpoint/2010/main" val="311201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87EE5-1263-01FE-5538-68293056F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85A173BD-C978-1F49-9865-571D3DD529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3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机器人的分类与应用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8D66E6-09B3-4A97-3920-ABA6BFC47CDC}"/>
              </a:ext>
            </a:extLst>
          </p:cNvPr>
          <p:cNvSpPr txBox="1"/>
          <p:nvPr/>
        </p:nvSpPr>
        <p:spPr>
          <a:xfrm>
            <a:off x="3223012" y="916423"/>
            <a:ext cx="6088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+mn-ea"/>
              </a:rPr>
              <a:t>按移动方式分类</a:t>
            </a:r>
            <a:r>
              <a:rPr lang="en-US" altLang="zh-CN" sz="2400" b="1" dirty="0">
                <a:latin typeface="+mn-ea"/>
              </a:rPr>
              <a:t>——</a:t>
            </a:r>
            <a:r>
              <a:rPr lang="zh-CN" altLang="en-US" sz="2400" b="1" dirty="0">
                <a:latin typeface="+mn-ea"/>
              </a:rPr>
              <a:t>打破基座的束缚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02548D-268E-120E-2199-6A2FB03906B8}"/>
              </a:ext>
            </a:extLst>
          </p:cNvPr>
          <p:cNvSpPr txBox="1"/>
          <p:nvPr/>
        </p:nvSpPr>
        <p:spPr>
          <a:xfrm>
            <a:off x="1882257" y="6191900"/>
            <a:ext cx="8539857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移动性赋予了机器人在非结构化环境中工作的能力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5" name="图片 4" descr="黑色的汽车&#10;&#10;AI 生成的内容可能不正确。">
            <a:extLst>
              <a:ext uri="{FF2B5EF4-FFF2-40B4-BE49-F238E27FC236}">
                <a16:creationId xmlns:a16="http://schemas.microsoft.com/office/drawing/2014/main" id="{F3DF05EA-BA86-BB13-E1C1-41D942BD6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53" y="1711540"/>
            <a:ext cx="2380130" cy="3173507"/>
          </a:xfrm>
          <a:prstGeom prst="rect">
            <a:avLst/>
          </a:prstGeom>
        </p:spPr>
      </p:pic>
      <p:pic>
        <p:nvPicPr>
          <p:cNvPr id="9" name="图片 8" descr="卡车停在路上&#10;&#10;AI 生成的内容可能不正确。">
            <a:extLst>
              <a:ext uri="{FF2B5EF4-FFF2-40B4-BE49-F238E27FC236}">
                <a16:creationId xmlns:a16="http://schemas.microsoft.com/office/drawing/2014/main" id="{57403D69-B3B3-CA5B-2F6A-29A526F28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952" y="1711540"/>
            <a:ext cx="2380130" cy="3173506"/>
          </a:xfrm>
          <a:prstGeom prst="rect">
            <a:avLst/>
          </a:prstGeom>
        </p:spPr>
      </p:pic>
      <p:pic>
        <p:nvPicPr>
          <p:cNvPr id="12" name="图片 11" descr="桌子上的照相机&#10;&#10;AI 生成的内容可能不正确。">
            <a:extLst>
              <a:ext uri="{FF2B5EF4-FFF2-40B4-BE49-F238E27FC236}">
                <a16:creationId xmlns:a16="http://schemas.microsoft.com/office/drawing/2014/main" id="{48F72CC8-09CA-E24C-2116-FC5D559E9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274" y="1711541"/>
            <a:ext cx="2380129" cy="3173506"/>
          </a:xfrm>
          <a:prstGeom prst="rect">
            <a:avLst/>
          </a:prstGeom>
        </p:spPr>
      </p:pic>
      <p:pic>
        <p:nvPicPr>
          <p:cNvPr id="15" name="图片 14" descr="摩托车停在地上&#10;&#10;AI 生成的内容可能不正确。">
            <a:extLst>
              <a:ext uri="{FF2B5EF4-FFF2-40B4-BE49-F238E27FC236}">
                <a16:creationId xmlns:a16="http://schemas.microsoft.com/office/drawing/2014/main" id="{E7BCBE35-9952-27CB-F994-1ACF1A48F7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273" y="1711541"/>
            <a:ext cx="2380130" cy="317350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13786CA-512C-C8DC-DFDE-98C94E359C9C}"/>
              </a:ext>
            </a:extLst>
          </p:cNvPr>
          <p:cNvSpPr txBox="1"/>
          <p:nvPr/>
        </p:nvSpPr>
        <p:spPr>
          <a:xfrm>
            <a:off x="274463" y="5091556"/>
            <a:ext cx="2560705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quote-cjk-patch"/>
              </a:rPr>
              <a:t>轮式机器人</a:t>
            </a:r>
            <a:endParaRPr lang="en-US" altLang="zh-CN" b="1" i="0" dirty="0">
              <a:effectLst/>
              <a:latin typeface="quote-cjk-patch"/>
            </a:endParaRPr>
          </a:p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quote-cjk-patch"/>
              </a:rPr>
              <a:t>效率高，控制简单</a:t>
            </a:r>
            <a:endParaRPr lang="zh-CN" altLang="en-US" b="1" i="0" dirty="0">
              <a:effectLst/>
              <a:latin typeface="quote-cjk-patch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BAB5AAF-27CA-A2B6-D32F-7F5DE3879EEF}"/>
              </a:ext>
            </a:extLst>
          </p:cNvPr>
          <p:cNvSpPr txBox="1"/>
          <p:nvPr/>
        </p:nvSpPr>
        <p:spPr>
          <a:xfrm>
            <a:off x="3207664" y="5064414"/>
            <a:ext cx="2560705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quote-cjk-patch"/>
              </a:rPr>
              <a:t>履带式机器人</a:t>
            </a:r>
            <a:endParaRPr lang="en-US" altLang="zh-CN" b="1" i="0" dirty="0">
              <a:effectLst/>
              <a:latin typeface="quote-cjk-patch"/>
            </a:endParaRPr>
          </a:p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quote-cjk-patch"/>
              </a:rPr>
              <a:t>越障能力强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0A34E0-3814-94FC-97B7-43FF4D95F793}"/>
              </a:ext>
            </a:extLst>
          </p:cNvPr>
          <p:cNvSpPr txBox="1"/>
          <p:nvPr/>
        </p:nvSpPr>
        <p:spPr>
          <a:xfrm>
            <a:off x="6228853" y="5064413"/>
            <a:ext cx="2560705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quote-cjk-patch"/>
              </a:rPr>
              <a:t>足式机器人（仿生）</a:t>
            </a:r>
            <a:endParaRPr lang="en-US" altLang="zh-CN" b="1" i="0" dirty="0">
              <a:effectLst/>
              <a:latin typeface="quote-cjk-patch"/>
            </a:endParaRPr>
          </a:p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quote-cjk-patch"/>
              </a:rPr>
              <a:t>通过性好，控制复杂</a:t>
            </a:r>
            <a:endParaRPr lang="zh-CN" altLang="en-US" b="1" i="0" dirty="0">
              <a:effectLst/>
              <a:latin typeface="quote-cjk-patch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0A5344A-4B63-99A5-F26F-9125B2BE4FE5}"/>
              </a:ext>
            </a:extLst>
          </p:cNvPr>
          <p:cNvSpPr txBox="1"/>
          <p:nvPr/>
        </p:nvSpPr>
        <p:spPr>
          <a:xfrm>
            <a:off x="9107985" y="5058547"/>
            <a:ext cx="2560705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quote-cjk-patch"/>
              </a:rPr>
              <a:t>轮足复合机器人（仿生）</a:t>
            </a:r>
            <a:endParaRPr lang="en-US" altLang="zh-CN" b="1" i="0" dirty="0">
              <a:effectLst/>
              <a:latin typeface="quote-cjk-patch"/>
            </a:endParaRPr>
          </a:p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quote-cjk-patch"/>
              </a:rPr>
              <a:t>轮式高效</a:t>
            </a:r>
            <a:r>
              <a:rPr lang="en-US" altLang="zh-CN" b="1" i="0" dirty="0">
                <a:effectLst/>
                <a:latin typeface="quote-cjk-patch"/>
              </a:rPr>
              <a:t>+</a:t>
            </a:r>
            <a:r>
              <a:rPr lang="zh-CN" altLang="en-US" b="1" i="0" dirty="0">
                <a:effectLst/>
                <a:latin typeface="quote-cjk-patch"/>
              </a:rPr>
              <a:t>足式灵活</a:t>
            </a:r>
          </a:p>
        </p:txBody>
      </p:sp>
    </p:spTree>
    <p:extLst>
      <p:ext uri="{BB962C8B-B14F-4D97-AF65-F5344CB8AC3E}">
        <p14:creationId xmlns:p14="http://schemas.microsoft.com/office/powerpoint/2010/main" val="2185223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30ABB-7D4D-3509-C18A-057108B19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0095EA7C-FFF9-22A2-32A3-0167EF91DD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3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机器人的分类与应用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B567C7-1665-8020-C064-0B225E5FD5A3}"/>
              </a:ext>
            </a:extLst>
          </p:cNvPr>
          <p:cNvSpPr txBox="1"/>
          <p:nvPr/>
        </p:nvSpPr>
        <p:spPr>
          <a:xfrm>
            <a:off x="3223012" y="916423"/>
            <a:ext cx="6088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+mn-ea"/>
              </a:rPr>
              <a:t>按应用领域分类</a:t>
            </a:r>
            <a:r>
              <a:rPr lang="en-US" altLang="zh-CN" sz="2400" b="1" dirty="0">
                <a:latin typeface="+mn-ea"/>
              </a:rPr>
              <a:t>——</a:t>
            </a:r>
            <a:r>
              <a:rPr lang="zh-CN" altLang="en-US" sz="2400" b="1" dirty="0">
                <a:latin typeface="+mn-ea"/>
              </a:rPr>
              <a:t>无处不在的机器人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5AC805-C981-A49F-C2C6-0067E4D08866}"/>
              </a:ext>
            </a:extLst>
          </p:cNvPr>
          <p:cNvSpPr txBox="1"/>
          <p:nvPr/>
        </p:nvSpPr>
        <p:spPr>
          <a:xfrm>
            <a:off x="1936045" y="5846119"/>
            <a:ext cx="8539857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机器人正从</a:t>
            </a:r>
            <a:r>
              <a:rPr lang="zh-CN" altLang="en-US" sz="2400" b="1" dirty="0">
                <a:solidFill>
                  <a:schemeClr val="accent3"/>
                </a:solidFill>
              </a:rPr>
              <a:t>工业围栏</a:t>
            </a:r>
            <a:r>
              <a:rPr lang="zh-CN" altLang="en-US" sz="2400" dirty="0"/>
              <a:t>走向</a:t>
            </a:r>
            <a:r>
              <a:rPr lang="zh-CN" altLang="en-US" sz="2400" b="1" dirty="0">
                <a:solidFill>
                  <a:schemeClr val="accent3"/>
                </a:solidFill>
              </a:rPr>
              <a:t>人类生活</a:t>
            </a:r>
            <a:r>
              <a:rPr lang="zh-CN" altLang="en-US" sz="2400" dirty="0"/>
              <a:t>的各个角落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00D229D-CD27-E0EE-8B57-4978579DD005}"/>
              </a:ext>
            </a:extLst>
          </p:cNvPr>
          <p:cNvSpPr txBox="1"/>
          <p:nvPr/>
        </p:nvSpPr>
        <p:spPr>
          <a:xfrm>
            <a:off x="328532" y="5058547"/>
            <a:ext cx="2560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quote-cjk-patch"/>
              </a:rPr>
              <a:t>工业制造</a:t>
            </a:r>
            <a:endParaRPr lang="zh-CN" altLang="en-US" b="1" i="0" dirty="0">
              <a:effectLst/>
              <a:latin typeface="quote-cjk-patch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A550C88-F288-7C0C-0354-84631EB898E4}"/>
              </a:ext>
            </a:extLst>
          </p:cNvPr>
          <p:cNvSpPr txBox="1"/>
          <p:nvPr/>
        </p:nvSpPr>
        <p:spPr>
          <a:xfrm>
            <a:off x="3223012" y="5006740"/>
            <a:ext cx="1979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quote-cjk-patch"/>
              </a:rPr>
              <a:t>医疗健康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360C93C-36A5-DBA2-60CA-662C477C3EE1}"/>
              </a:ext>
            </a:extLst>
          </p:cNvPr>
          <p:cNvSpPr txBox="1"/>
          <p:nvPr/>
        </p:nvSpPr>
        <p:spPr>
          <a:xfrm>
            <a:off x="5455737" y="5006740"/>
            <a:ext cx="1739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quote-cjk-patch"/>
              </a:rPr>
              <a:t>商业服务</a:t>
            </a:r>
            <a:endParaRPr lang="zh-CN" altLang="en-US" b="1" i="0" dirty="0">
              <a:effectLst/>
              <a:latin typeface="quote-cjk-patch"/>
            </a:endParaRPr>
          </a:p>
        </p:txBody>
      </p:sp>
      <p:pic>
        <p:nvPicPr>
          <p:cNvPr id="4" name="图片 3" descr="地图&#10;&#10;AI 生成的内容可能不正确。">
            <a:extLst>
              <a:ext uri="{FF2B5EF4-FFF2-40B4-BE49-F238E27FC236}">
                <a16:creationId xmlns:a16="http://schemas.microsoft.com/office/drawing/2014/main" id="{32539365-2F2E-959B-5C9C-E8D29C226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63" y="1969213"/>
            <a:ext cx="2739732" cy="2787203"/>
          </a:xfrm>
          <a:prstGeom prst="rect">
            <a:avLst/>
          </a:prstGeom>
        </p:spPr>
      </p:pic>
      <p:pic>
        <p:nvPicPr>
          <p:cNvPr id="10" name="图片 9" descr="图片包含 室内, 桌子, 电脑, 房间&#10;&#10;AI 生成的内容可能不正确。">
            <a:extLst>
              <a:ext uri="{FF2B5EF4-FFF2-40B4-BE49-F238E27FC236}">
                <a16:creationId xmlns:a16="http://schemas.microsoft.com/office/drawing/2014/main" id="{66DFE798-B28A-AD4D-3B7B-C3BD7AEAA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938" y="1969213"/>
            <a:ext cx="1896056" cy="2787203"/>
          </a:xfrm>
          <a:prstGeom prst="rect">
            <a:avLst/>
          </a:prstGeom>
        </p:spPr>
      </p:pic>
      <p:pic>
        <p:nvPicPr>
          <p:cNvPr id="13" name="图片 12" descr="图片包含 室内, 桌子, 物体, 办公室&#10;&#10;AI 生成的内容可能不正确。">
            <a:extLst>
              <a:ext uri="{FF2B5EF4-FFF2-40B4-BE49-F238E27FC236}">
                <a16:creationId xmlns:a16="http://schemas.microsoft.com/office/drawing/2014/main" id="{600E3E7D-2823-8989-8FE9-69FD315BB1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37" y="1969212"/>
            <a:ext cx="1929057" cy="2787203"/>
          </a:xfrm>
          <a:prstGeom prst="rect">
            <a:avLst/>
          </a:prstGeom>
        </p:spPr>
      </p:pic>
      <p:pic>
        <p:nvPicPr>
          <p:cNvPr id="17" name="图片 16" descr="房间的摆设布局&#10;&#10;AI 生成的内容可能不正确。">
            <a:extLst>
              <a:ext uri="{FF2B5EF4-FFF2-40B4-BE49-F238E27FC236}">
                <a16:creationId xmlns:a16="http://schemas.microsoft.com/office/drawing/2014/main" id="{26FBFF0C-30A6-C2C7-364A-30D7320524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950" y="1942280"/>
            <a:ext cx="1608077" cy="281413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0355DE8B-2C64-95C7-1289-D27983D2C684}"/>
              </a:ext>
            </a:extLst>
          </p:cNvPr>
          <p:cNvSpPr txBox="1"/>
          <p:nvPr/>
        </p:nvSpPr>
        <p:spPr>
          <a:xfrm>
            <a:off x="7723243" y="5006740"/>
            <a:ext cx="1739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quote-cjk-patch"/>
              </a:rPr>
              <a:t>家用服务</a:t>
            </a:r>
            <a:endParaRPr lang="zh-CN" altLang="en-US" b="1" i="0" dirty="0">
              <a:effectLst/>
              <a:latin typeface="quote-cjk-patch"/>
            </a:endParaRPr>
          </a:p>
        </p:txBody>
      </p:sp>
      <p:pic>
        <p:nvPicPr>
          <p:cNvPr id="21" name="图片 20" descr="图片包含 卡车, 桌子, 飞机, 小&#10;&#10;AI 生成的内容可能不正确。">
            <a:extLst>
              <a:ext uri="{FF2B5EF4-FFF2-40B4-BE49-F238E27FC236}">
                <a16:creationId xmlns:a16="http://schemas.microsoft.com/office/drawing/2014/main" id="{928CB533-A8F9-C753-3B2F-2AFA748F5B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6336" y="1871654"/>
            <a:ext cx="1996407" cy="288476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F400CA35-0F12-0630-9769-4411AB0BD120}"/>
              </a:ext>
            </a:extLst>
          </p:cNvPr>
          <p:cNvSpPr txBox="1"/>
          <p:nvPr/>
        </p:nvSpPr>
        <p:spPr>
          <a:xfrm>
            <a:off x="9882457" y="5006740"/>
            <a:ext cx="1739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quote-cjk-patch"/>
              </a:rPr>
              <a:t>特种作业</a:t>
            </a:r>
          </a:p>
        </p:txBody>
      </p:sp>
    </p:spTree>
    <p:extLst>
      <p:ext uri="{BB962C8B-B14F-4D97-AF65-F5344CB8AC3E}">
        <p14:creationId xmlns:p14="http://schemas.microsoft.com/office/powerpoint/2010/main" val="315521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03047-5673-50BB-6836-085BEC7B6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5284E2A4-74AB-2E5F-B6C0-11DB9BDB05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3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机器人的分类与应用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E38787-1300-4D41-417D-4BCCCB7373CF}"/>
              </a:ext>
            </a:extLst>
          </p:cNvPr>
          <p:cNvSpPr txBox="1"/>
          <p:nvPr/>
        </p:nvSpPr>
        <p:spPr>
          <a:xfrm>
            <a:off x="3051737" y="955540"/>
            <a:ext cx="6088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+mn-ea"/>
              </a:rPr>
              <a:t>人形机器人</a:t>
            </a:r>
            <a:r>
              <a:rPr lang="en-US" altLang="zh-CN" sz="2400" b="1" dirty="0">
                <a:latin typeface="+mn-ea"/>
              </a:rPr>
              <a:t>——</a:t>
            </a:r>
            <a:r>
              <a:rPr lang="zh-CN" altLang="en-US" sz="2400" b="1" dirty="0">
                <a:latin typeface="+mn-ea"/>
              </a:rPr>
              <a:t>跨越维度的终极挑战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C14001-8CA6-99B7-1D14-8391A2261579}"/>
              </a:ext>
            </a:extLst>
          </p:cNvPr>
          <p:cNvSpPr txBox="1"/>
          <p:nvPr/>
        </p:nvSpPr>
        <p:spPr>
          <a:xfrm>
            <a:off x="2055553" y="6217782"/>
            <a:ext cx="8539857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技术突破期，商业化试水，通用化瓶颈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7AE5CB-B27E-10D0-60F7-267379AF6BE9}"/>
              </a:ext>
            </a:extLst>
          </p:cNvPr>
          <p:cNvSpPr txBox="1"/>
          <p:nvPr/>
        </p:nvSpPr>
        <p:spPr>
          <a:xfrm>
            <a:off x="821304" y="5424174"/>
            <a:ext cx="2782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zh-CN" b="1" dirty="0"/>
              <a:t>Atlas</a:t>
            </a:r>
            <a:r>
              <a:rPr lang="zh-CN" altLang="en-US" b="1" dirty="0"/>
              <a:t>（波士顿动力）</a:t>
            </a:r>
            <a:endParaRPr lang="en-US" altLang="zh-CN" b="1" dirty="0"/>
          </a:p>
          <a:p>
            <a:pPr algn="ctr">
              <a:buNone/>
            </a:pPr>
            <a:r>
              <a:rPr lang="zh-CN" altLang="en-US" b="1" dirty="0"/>
              <a:t>探索物理极限</a:t>
            </a:r>
            <a:endParaRPr lang="zh-CN" altLang="en-US" b="1" i="0" dirty="0">
              <a:effectLst/>
              <a:latin typeface="quote-cjk-patch"/>
            </a:endParaRPr>
          </a:p>
        </p:txBody>
      </p:sp>
      <p:pic>
        <p:nvPicPr>
          <p:cNvPr id="12" name="图片 11" descr="人在路上走&#10;&#10;AI 生成的内容可能不正确。">
            <a:extLst>
              <a:ext uri="{FF2B5EF4-FFF2-40B4-BE49-F238E27FC236}">
                <a16:creationId xmlns:a16="http://schemas.microsoft.com/office/drawing/2014/main" id="{71575D35-930A-5625-4431-57178D29D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267" y="2169956"/>
            <a:ext cx="2311163" cy="3189406"/>
          </a:xfrm>
          <a:prstGeom prst="rect">
            <a:avLst/>
          </a:prstGeom>
        </p:spPr>
      </p:pic>
      <p:pic>
        <p:nvPicPr>
          <p:cNvPr id="15" name="图片 14" descr="银色的机械&#10;&#10;AI 生成的内容可能不正确。">
            <a:extLst>
              <a:ext uri="{FF2B5EF4-FFF2-40B4-BE49-F238E27FC236}">
                <a16:creationId xmlns:a16="http://schemas.microsoft.com/office/drawing/2014/main" id="{1FFE2B3E-4E63-BF47-A65A-977F5E1E7C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933" y="2216172"/>
            <a:ext cx="3190913" cy="3102277"/>
          </a:xfrm>
          <a:prstGeom prst="rect">
            <a:avLst/>
          </a:prstGeom>
        </p:spPr>
      </p:pic>
      <p:pic>
        <p:nvPicPr>
          <p:cNvPr id="24" name="图片 23" descr="图片包含 物体, 室内, 蓝色, 窗户&#10;&#10;AI 生成的内容可能不正确。">
            <a:extLst>
              <a:ext uri="{FF2B5EF4-FFF2-40B4-BE49-F238E27FC236}">
                <a16:creationId xmlns:a16="http://schemas.microsoft.com/office/drawing/2014/main" id="{A8F98A3D-DA3C-3C5E-0D7D-E08D22794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319" y="2216172"/>
            <a:ext cx="2972286" cy="318940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644D566A-8DF3-EE36-092B-0B60BB80C393}"/>
              </a:ext>
            </a:extLst>
          </p:cNvPr>
          <p:cNvSpPr txBox="1"/>
          <p:nvPr/>
        </p:nvSpPr>
        <p:spPr>
          <a:xfrm>
            <a:off x="4549350" y="5445903"/>
            <a:ext cx="2782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zh-CN" b="1" dirty="0"/>
              <a:t>Optimus</a:t>
            </a:r>
            <a:r>
              <a:rPr lang="zh-CN" altLang="en-US" b="1" dirty="0"/>
              <a:t>（特斯拉）</a:t>
            </a:r>
            <a:endParaRPr lang="en-US" altLang="zh-CN" b="1" dirty="0"/>
          </a:p>
          <a:p>
            <a:pPr algn="ctr">
              <a:buNone/>
            </a:pPr>
            <a:r>
              <a:rPr lang="zh-CN" altLang="en-US" b="1" dirty="0"/>
              <a:t>定义产业落地</a:t>
            </a:r>
            <a:endParaRPr lang="zh-CN" altLang="en-US" b="1" i="0" dirty="0">
              <a:effectLst/>
              <a:latin typeface="quote-cjk-patch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5428B52-2E81-5A95-2A6C-A3A65D1BD9CF}"/>
              </a:ext>
            </a:extLst>
          </p:cNvPr>
          <p:cNvSpPr txBox="1"/>
          <p:nvPr/>
        </p:nvSpPr>
        <p:spPr>
          <a:xfrm>
            <a:off x="8575699" y="5445903"/>
            <a:ext cx="25530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ts val="1200"/>
              </a:spcBef>
              <a:spcAft>
                <a:spcPts val="600"/>
              </a:spcAft>
              <a:buNone/>
              <a:defRPr b="1"/>
            </a:lvl1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宇树科技（</a:t>
            </a:r>
            <a:r>
              <a:rPr lang="en-US" altLang="zh-CN" dirty="0"/>
              <a:t>Unitree)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硬件极致及快速迭代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25BF6AC-DC4A-BB95-E540-F71FC3C90D0A}"/>
              </a:ext>
            </a:extLst>
          </p:cNvPr>
          <p:cNvSpPr txBox="1"/>
          <p:nvPr/>
        </p:nvSpPr>
        <p:spPr>
          <a:xfrm>
            <a:off x="592430" y="1612735"/>
            <a:ext cx="11007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000" b="1" i="0" dirty="0">
                <a:solidFill>
                  <a:schemeClr val="accent3"/>
                </a:solidFill>
                <a:effectLst/>
                <a:latin typeface="quote-cjk-patch"/>
              </a:rPr>
              <a:t>动态平衡（自适应与抗冲击）、关节驱动（高功密度电机）、具身智能（多模态感知与大模型）</a:t>
            </a:r>
          </a:p>
        </p:txBody>
      </p:sp>
    </p:spTree>
    <p:extLst>
      <p:ext uri="{BB962C8B-B14F-4D97-AF65-F5344CB8AC3E}">
        <p14:creationId xmlns:p14="http://schemas.microsoft.com/office/powerpoint/2010/main" val="2342818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78634-1AE5-CA1D-CD34-5B66867E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4B5D1ADD-6DE8-630A-0D3B-2BE58FA0C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4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机器人的关键技术链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5F21FA-7F9F-06ED-949F-11BF02005B0E}"/>
              </a:ext>
            </a:extLst>
          </p:cNvPr>
          <p:cNvSpPr txBox="1"/>
          <p:nvPr/>
        </p:nvSpPr>
        <p:spPr>
          <a:xfrm>
            <a:off x="3451303" y="787495"/>
            <a:ext cx="51932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核心技术链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从感知到执行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F2A487-C39B-1E09-8E5C-1A99BEEFD6A5}"/>
              </a:ext>
            </a:extLst>
          </p:cNvPr>
          <p:cNvSpPr txBox="1"/>
          <p:nvPr/>
        </p:nvSpPr>
        <p:spPr>
          <a:xfrm>
            <a:off x="1890203" y="6169082"/>
            <a:ext cx="8539857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 一个完整的机器人任务流是信息流与能量流的统一</a:t>
            </a: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16EB988D-E67F-56B8-FC29-59F54ED75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205" y="1499345"/>
            <a:ext cx="6720769" cy="441955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8BAC2F2-6EBB-3E73-F482-448A03080472}"/>
              </a:ext>
            </a:extLst>
          </p:cNvPr>
          <p:cNvSpPr txBox="1"/>
          <p:nvPr/>
        </p:nvSpPr>
        <p:spPr>
          <a:xfrm>
            <a:off x="8511990" y="1907269"/>
            <a:ext cx="3037114" cy="3043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000" b="1" i="0" dirty="0">
                <a:effectLst/>
                <a:latin typeface="quote-cjk-patch"/>
              </a:rPr>
              <a:t>信息流</a:t>
            </a:r>
            <a:endParaRPr lang="en-US" altLang="zh-CN" sz="2000" b="1" i="0" dirty="0">
              <a:effectLst/>
              <a:latin typeface="quote-cjk-patch"/>
            </a:endParaRPr>
          </a:p>
          <a:p>
            <a:pPr>
              <a:lnSpc>
                <a:spcPct val="250000"/>
              </a:lnSpc>
            </a:pPr>
            <a:r>
              <a:rPr lang="zh-CN" altLang="en-US" sz="2000" dirty="0">
                <a:latin typeface="quote-cjk-patch"/>
              </a:rPr>
              <a:t>        </a:t>
            </a:r>
            <a:r>
              <a:rPr lang="zh-CN" altLang="en-US" sz="2000" b="0" i="0" dirty="0">
                <a:effectLst/>
                <a:latin typeface="quote-cjk-patch"/>
              </a:rPr>
              <a:t>感知→规划→指令</a:t>
            </a:r>
            <a:endParaRPr lang="en-US" altLang="zh-CN" sz="2000" dirty="0">
              <a:latin typeface="quote-cjk-patch"/>
            </a:endParaRPr>
          </a:p>
          <a:p>
            <a:pPr>
              <a:lnSpc>
                <a:spcPct val="250000"/>
              </a:lnSpc>
            </a:pPr>
            <a:r>
              <a:rPr lang="zh-CN" altLang="en-US" sz="2000" b="1" i="0" dirty="0">
                <a:effectLst/>
                <a:latin typeface="quote-cjk-patch"/>
              </a:rPr>
              <a:t>能量流</a:t>
            </a:r>
            <a:endParaRPr lang="en-US" altLang="zh-CN" sz="2000" b="1" i="0" dirty="0">
              <a:effectLst/>
              <a:latin typeface="quote-cjk-patch"/>
            </a:endParaRPr>
          </a:p>
          <a:p>
            <a:pPr>
              <a:lnSpc>
                <a:spcPct val="250000"/>
              </a:lnSpc>
            </a:pPr>
            <a:r>
              <a:rPr lang="zh-CN" altLang="en-US" sz="2000" dirty="0">
                <a:latin typeface="quote-cjk-patch"/>
              </a:rPr>
              <a:t>        </a:t>
            </a:r>
            <a:r>
              <a:rPr lang="zh-CN" altLang="en-US" sz="2000" b="0" i="0" dirty="0">
                <a:effectLst/>
                <a:latin typeface="quote-cjk-patch"/>
              </a:rPr>
              <a:t>驱动力矩→机械运动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64791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92A9A-55F5-14D9-36C0-60BF17681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C8A8DAF3-F3A5-F70D-4DDF-BB023084F7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4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机器人的关键技术链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1058BF-48F8-F63D-457E-F8A6C89831FA}"/>
              </a:ext>
            </a:extLst>
          </p:cNvPr>
          <p:cNvSpPr txBox="1"/>
          <p:nvPr/>
        </p:nvSpPr>
        <p:spPr>
          <a:xfrm>
            <a:off x="3451303" y="787495"/>
            <a:ext cx="51932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机器人学中的数学基础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3F3DCD-442C-6389-58BF-6C79E2520E05}"/>
              </a:ext>
            </a:extLst>
          </p:cNvPr>
          <p:cNvSpPr txBox="1"/>
          <p:nvPr/>
        </p:nvSpPr>
        <p:spPr>
          <a:xfrm>
            <a:off x="1890203" y="6169082"/>
            <a:ext cx="8539857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 描述机器人的运动依赖严谨的数学工具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99580F-6DF3-4987-0DA9-1E0E864F7F3A}"/>
              </a:ext>
            </a:extLst>
          </p:cNvPr>
          <p:cNvSpPr txBox="1"/>
          <p:nvPr/>
        </p:nvSpPr>
        <p:spPr>
          <a:xfrm>
            <a:off x="2261307" y="1320329"/>
            <a:ext cx="7669386" cy="466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zh-CN" altLang="en-US" sz="2000" b="1" i="0" dirty="0">
                <a:effectLst/>
                <a:latin typeface="+mn-ea"/>
              </a:rPr>
              <a:t>空间描述：</a:t>
            </a:r>
            <a:r>
              <a:rPr lang="zh-CN" altLang="en-US" sz="2000" b="0" i="0" dirty="0">
                <a:effectLst/>
                <a:latin typeface="+mn-ea"/>
              </a:rPr>
              <a:t> 我在哪？</a:t>
            </a:r>
            <a:endParaRPr lang="en-US" altLang="zh-CN" sz="2000" b="0" i="0" dirty="0">
              <a:effectLst/>
              <a:latin typeface="+mn-ea"/>
            </a:endParaRPr>
          </a:p>
          <a:p>
            <a:pPr algn="l">
              <a:lnSpc>
                <a:spcPct val="200000"/>
              </a:lnSpc>
              <a:spcBef>
                <a:spcPts val="300"/>
              </a:spcBef>
            </a:pPr>
            <a:r>
              <a:rPr lang="en-US" altLang="zh-CN" sz="2000" dirty="0">
                <a:latin typeface="+mn-ea"/>
              </a:rPr>
              <a:t>         </a:t>
            </a:r>
            <a:r>
              <a:rPr lang="zh-CN" altLang="en-US" sz="2000" b="0" i="0" dirty="0">
                <a:effectLst/>
                <a:latin typeface="+mn-ea"/>
              </a:rPr>
              <a:t>齐次变换矩阵描述一个物体在三维空间中位置和姿态</a:t>
            </a:r>
          </a:p>
          <a:p>
            <a:pPr marL="342900" indent="-342900" algn="l">
              <a:lnSpc>
                <a:spcPct val="200000"/>
              </a:lnSpc>
              <a:spcBef>
                <a:spcPts val="450"/>
              </a:spcBef>
              <a:buFont typeface="Wingdings" panose="05000000000000000000" pitchFamily="2" charset="2"/>
              <a:buChar char="Ø"/>
            </a:pPr>
            <a:r>
              <a:rPr lang="zh-CN" altLang="en-US" sz="2000" b="1" i="0" dirty="0">
                <a:effectLst/>
                <a:latin typeface="+mn-ea"/>
              </a:rPr>
              <a:t>运动学：</a:t>
            </a:r>
            <a:r>
              <a:rPr lang="zh-CN" altLang="en-US" sz="2000" b="0" i="0" dirty="0">
                <a:effectLst/>
                <a:latin typeface="+mn-ea"/>
              </a:rPr>
              <a:t> 怎么动？</a:t>
            </a:r>
            <a:endParaRPr lang="en-US" altLang="zh-CN" sz="2000" b="0" i="0" dirty="0">
              <a:effectLst/>
              <a:latin typeface="+mn-ea"/>
            </a:endParaRPr>
          </a:p>
          <a:p>
            <a:pPr algn="l">
              <a:lnSpc>
                <a:spcPct val="200000"/>
              </a:lnSpc>
              <a:spcBef>
                <a:spcPts val="450"/>
              </a:spcBef>
            </a:pPr>
            <a:r>
              <a:rPr lang="en-US" altLang="zh-CN" sz="2000" b="0" i="0" dirty="0">
                <a:effectLst/>
                <a:latin typeface="+mn-ea"/>
              </a:rPr>
              <a:t>          </a:t>
            </a:r>
            <a:r>
              <a:rPr lang="zh-CN" altLang="en-US" sz="2000" b="0" i="0" dirty="0">
                <a:effectLst/>
                <a:latin typeface="+mn-ea"/>
              </a:rPr>
              <a:t>正解：已知关节角度求</a:t>
            </a:r>
            <a:r>
              <a:rPr lang="zh-CN" altLang="en-US" sz="2000" dirty="0">
                <a:latin typeface="+mn-ea"/>
              </a:rPr>
              <a:t>末端点</a:t>
            </a:r>
            <a:r>
              <a:rPr lang="zh-CN" altLang="en-US" sz="2000" b="0" i="0" dirty="0">
                <a:effectLst/>
                <a:latin typeface="+mn-ea"/>
              </a:rPr>
              <a:t>位置</a:t>
            </a:r>
            <a:endParaRPr lang="en-US" altLang="zh-CN" sz="2000" b="0" i="0" dirty="0">
              <a:effectLst/>
              <a:latin typeface="+mn-ea"/>
            </a:endParaRPr>
          </a:p>
          <a:p>
            <a:pPr algn="l">
              <a:lnSpc>
                <a:spcPct val="200000"/>
              </a:lnSpc>
              <a:spcBef>
                <a:spcPts val="450"/>
              </a:spcBef>
            </a:pPr>
            <a:r>
              <a:rPr lang="en-US" altLang="zh-CN" sz="2000" dirty="0">
                <a:latin typeface="+mn-ea"/>
              </a:rPr>
              <a:t>          </a:t>
            </a:r>
            <a:r>
              <a:rPr lang="zh-CN" altLang="en-US" sz="2000" b="0" i="0" dirty="0">
                <a:effectLst/>
                <a:latin typeface="+mn-ea"/>
              </a:rPr>
              <a:t>逆解：已知末端点位置求关节角度。</a:t>
            </a:r>
          </a:p>
          <a:p>
            <a:pPr marL="342900" indent="-342900" algn="l">
              <a:lnSpc>
                <a:spcPct val="200000"/>
              </a:lnSpc>
              <a:spcBef>
                <a:spcPts val="450"/>
              </a:spcBef>
              <a:buFont typeface="Wingdings" panose="05000000000000000000" pitchFamily="2" charset="2"/>
              <a:buChar char="Ø"/>
            </a:pPr>
            <a:r>
              <a:rPr lang="zh-CN" altLang="en-US" sz="2000" b="1" i="0" dirty="0">
                <a:effectLst/>
                <a:latin typeface="+mn-ea"/>
              </a:rPr>
              <a:t>动力学：</a:t>
            </a:r>
            <a:r>
              <a:rPr lang="zh-CN" altLang="en-US" sz="2000" b="0" i="0" dirty="0">
                <a:effectLst/>
                <a:latin typeface="+mn-ea"/>
              </a:rPr>
              <a:t> 多大力</a:t>
            </a:r>
            <a:endParaRPr lang="en-US" altLang="zh-CN" sz="2000" b="0" i="0" dirty="0">
              <a:effectLst/>
              <a:latin typeface="+mn-ea"/>
            </a:endParaRPr>
          </a:p>
          <a:p>
            <a:pPr algn="l">
              <a:lnSpc>
                <a:spcPct val="200000"/>
              </a:lnSpc>
              <a:spcBef>
                <a:spcPts val="450"/>
              </a:spcBef>
            </a:pPr>
            <a:r>
              <a:rPr lang="en-US" altLang="zh-CN" sz="2000" dirty="0">
                <a:latin typeface="+mn-ea"/>
              </a:rPr>
              <a:t>          </a:t>
            </a:r>
            <a:r>
              <a:rPr lang="zh-CN" altLang="en-US" sz="2000" b="0" i="0" dirty="0">
                <a:effectLst/>
                <a:latin typeface="+mn-ea"/>
              </a:rPr>
              <a:t>力与运动的关系，微分方程、牛顿</a:t>
            </a:r>
            <a:r>
              <a:rPr lang="en-US" altLang="zh-CN" sz="2000" b="0" i="0" dirty="0">
                <a:effectLst/>
                <a:latin typeface="+mn-ea"/>
              </a:rPr>
              <a:t>-</a:t>
            </a:r>
            <a:r>
              <a:rPr lang="zh-CN" altLang="en-US" sz="2000" b="0" i="0" dirty="0">
                <a:effectLst/>
                <a:latin typeface="+mn-ea"/>
              </a:rPr>
              <a:t>欧拉</a:t>
            </a:r>
            <a:r>
              <a:rPr lang="en-US" altLang="zh-CN" sz="2000" b="0" i="0" dirty="0">
                <a:effectLst/>
                <a:latin typeface="+mn-ea"/>
              </a:rPr>
              <a:t>/</a:t>
            </a:r>
            <a:r>
              <a:rPr lang="zh-CN" altLang="en-US" sz="2000" b="0" i="0" dirty="0">
                <a:effectLst/>
                <a:latin typeface="+mn-ea"/>
              </a:rPr>
              <a:t>拉格朗日方程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33BC11A-F063-AA87-E620-CD1D41E432F6}"/>
                  </a:ext>
                </a:extLst>
              </p:cNvPr>
              <p:cNvSpPr txBox="1"/>
              <p:nvPr/>
            </p:nvSpPr>
            <p:spPr>
              <a:xfrm>
                <a:off x="6791725" y="3090902"/>
                <a:ext cx="217586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br>
                  <a:rPr lang="ar-AE" altLang="zh-CN" sz="2400" b="0" i="0" dirty="0">
                    <a:solidFill>
                      <a:srgbClr val="0F1115"/>
                    </a:solidFill>
                    <a:effectLst/>
                    <a:latin typeface="KaTeX_Main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zh-C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ar-AE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ar-AE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33BC11A-F063-AA87-E620-CD1D41E43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725" y="3090902"/>
                <a:ext cx="2175862" cy="830997"/>
              </a:xfrm>
              <a:prstGeom prst="rect">
                <a:avLst/>
              </a:prstGeom>
              <a:blipFill>
                <a:blip r:embed="rId3"/>
                <a:stretch>
                  <a:fillRect b="-11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6E95BE2-0C31-06D2-D3EC-BD3159B151AE}"/>
                  </a:ext>
                </a:extLst>
              </p:cNvPr>
              <p:cNvSpPr txBox="1"/>
              <p:nvPr/>
            </p:nvSpPr>
            <p:spPr>
              <a:xfrm>
                <a:off x="7087239" y="4206759"/>
                <a:ext cx="21028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ar-AE" altLang="zh-CN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14:m>
                  <m:oMath xmlns:m="http://schemas.openxmlformats.org/officeDocument/2006/math">
                    <m:r>
                      <a:rPr lang="zh-CN" altLang="ar-AE" sz="2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ar-AE" altLang="zh-CN" sz="24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 altLang="zh-CN" sz="24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z="24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6E95BE2-0C31-06D2-D3EC-BD3159B15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239" y="4206759"/>
                <a:ext cx="2102864" cy="461665"/>
              </a:xfrm>
              <a:prstGeom prst="rect">
                <a:avLst/>
              </a:prstGeom>
              <a:blipFill>
                <a:blip r:embed="rId4"/>
                <a:stretch>
                  <a:fillRect l="-4928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038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F66FB-B9CF-0D5D-8C65-D58B4B712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18B22502-A8B6-BAF0-C047-650E02D60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5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建模与仿真的核心地位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AD0F22-9C6B-998A-7E3E-9E7168AAA008}"/>
              </a:ext>
            </a:extLst>
          </p:cNvPr>
          <p:cNvSpPr txBox="1"/>
          <p:nvPr/>
        </p:nvSpPr>
        <p:spPr>
          <a:xfrm>
            <a:off x="3563514" y="751840"/>
            <a:ext cx="5193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+mn-ea"/>
              </a:rPr>
              <a:t>机器人建模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E8FF799-FA21-C142-E79E-61AAED52F5B1}"/>
              </a:ext>
            </a:extLst>
          </p:cNvPr>
          <p:cNvSpPr txBox="1"/>
          <p:nvPr/>
        </p:nvSpPr>
        <p:spPr>
          <a:xfrm>
            <a:off x="1890203" y="6169082"/>
            <a:ext cx="8539857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 数学模型是机器人控制的基础，没有模型就没有精确控制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C9DB52-8FFC-A5DF-850A-16535E59076D}"/>
              </a:ext>
            </a:extLst>
          </p:cNvPr>
          <p:cNvSpPr txBox="1"/>
          <p:nvPr/>
        </p:nvSpPr>
        <p:spPr>
          <a:xfrm>
            <a:off x="1958433" y="1188624"/>
            <a:ext cx="9221836" cy="4714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spcBef>
                <a:spcPts val="300"/>
              </a:spcBef>
            </a:pPr>
            <a:r>
              <a:rPr lang="en-US" altLang="zh-CN" sz="2400" b="1" i="0" dirty="0">
                <a:effectLst/>
                <a:latin typeface="quote-cjk-patch"/>
              </a:rPr>
              <a:t>1 </a:t>
            </a:r>
            <a:r>
              <a:rPr lang="zh-CN" altLang="en-US" sz="2400" b="1" i="0" dirty="0">
                <a:effectLst/>
                <a:latin typeface="quote-cjk-patch"/>
              </a:rPr>
              <a:t>模型的定义</a:t>
            </a:r>
            <a:endParaRPr lang="en-US" altLang="zh-CN" sz="2400" b="1" i="0" dirty="0">
              <a:effectLst/>
              <a:latin typeface="quote-cjk-patch"/>
            </a:endParaRPr>
          </a:p>
          <a:p>
            <a:pPr algn="l">
              <a:lnSpc>
                <a:spcPct val="200000"/>
              </a:lnSpc>
              <a:spcBef>
                <a:spcPts val="300"/>
              </a:spcBef>
            </a:pPr>
            <a:r>
              <a:rPr lang="en-US" altLang="zh-CN" sz="2400" b="1" dirty="0">
                <a:latin typeface="quote-cjk-patch"/>
              </a:rPr>
              <a:t>       </a:t>
            </a:r>
            <a:r>
              <a:rPr lang="zh-CN" altLang="en-US" sz="2400" b="0" i="0" dirty="0">
                <a:effectLst/>
                <a:latin typeface="quote-cjk-patch"/>
              </a:rPr>
              <a:t> 用数学方程描述机器人物理特性（惯性、摩擦、刚度）</a:t>
            </a:r>
            <a:endParaRPr lang="en-US" altLang="zh-CN" sz="2400" b="0" i="0" dirty="0">
              <a:effectLst/>
              <a:latin typeface="quote-cjk-patch"/>
            </a:endParaRPr>
          </a:p>
          <a:p>
            <a:pPr algn="l">
              <a:lnSpc>
                <a:spcPct val="200000"/>
              </a:lnSpc>
              <a:spcBef>
                <a:spcPts val="450"/>
              </a:spcBef>
              <a:spcAft>
                <a:spcPts val="600"/>
              </a:spcAft>
            </a:pPr>
            <a:r>
              <a:rPr lang="en-US" altLang="zh-CN" sz="2400" b="1" i="0" dirty="0">
                <a:effectLst/>
                <a:latin typeface="quote-cjk-patch"/>
              </a:rPr>
              <a:t>2 </a:t>
            </a:r>
            <a:r>
              <a:rPr lang="zh-CN" altLang="en-US" sz="2400" b="1" i="0" dirty="0">
                <a:effectLst/>
                <a:latin typeface="quote-cjk-patch"/>
              </a:rPr>
              <a:t>模型的作用：</a:t>
            </a:r>
            <a:endParaRPr lang="zh-CN" altLang="en-US" sz="2400" b="0" i="0" dirty="0">
              <a:effectLst/>
              <a:latin typeface="quote-cjk-patch"/>
            </a:endParaRPr>
          </a:p>
          <a:p>
            <a:pPr marL="457200" lvl="2">
              <a:lnSpc>
                <a:spcPct val="200000"/>
              </a:lnSpc>
              <a:spcBef>
                <a:spcPts val="300"/>
              </a:spcBef>
            </a:pPr>
            <a:r>
              <a:rPr lang="zh-CN" altLang="en-US" sz="2400" dirty="0">
                <a:latin typeface="quote-cjk-patch"/>
              </a:rPr>
              <a:t>控制设计： 基于模型设计控制器（如</a:t>
            </a:r>
            <a:r>
              <a:rPr lang="en-US" altLang="zh-CN" sz="2400" dirty="0">
                <a:latin typeface="quote-cjk-patch"/>
              </a:rPr>
              <a:t>PID</a:t>
            </a:r>
            <a:r>
              <a:rPr lang="zh-CN" altLang="en-US" sz="2400" dirty="0">
                <a:latin typeface="quote-cjk-patch"/>
              </a:rPr>
              <a:t>整定）</a:t>
            </a:r>
          </a:p>
          <a:p>
            <a:pPr marL="457200" lvl="2">
              <a:lnSpc>
                <a:spcPct val="200000"/>
              </a:lnSpc>
              <a:spcBef>
                <a:spcPts val="300"/>
              </a:spcBef>
            </a:pPr>
            <a:r>
              <a:rPr lang="zh-CN" altLang="en-US" sz="2400" dirty="0">
                <a:latin typeface="quote-cjk-patch"/>
              </a:rPr>
              <a:t>状态估计： 使用模型（卡尔曼滤波器）预测系统状态</a:t>
            </a:r>
            <a:endParaRPr lang="en-US" altLang="zh-CN" sz="2400" dirty="0">
              <a:latin typeface="quote-cjk-patch"/>
            </a:endParaRPr>
          </a:p>
          <a:p>
            <a:pPr marL="0" lvl="1">
              <a:lnSpc>
                <a:spcPct val="200000"/>
              </a:lnSpc>
              <a:spcBef>
                <a:spcPts val="300"/>
              </a:spcBef>
            </a:pPr>
            <a:r>
              <a:rPr lang="en-US" altLang="zh-CN" sz="2400" b="1" dirty="0">
                <a:latin typeface="quote-cjk-patch"/>
              </a:rPr>
              <a:t>3 </a:t>
            </a:r>
            <a:r>
              <a:rPr lang="zh-CN" altLang="en-US" sz="2400" b="1" dirty="0">
                <a:latin typeface="quote-cjk-patch"/>
              </a:rPr>
              <a:t>建模方法：</a:t>
            </a:r>
            <a:r>
              <a:rPr lang="zh-CN" altLang="en-US" sz="2400" dirty="0">
                <a:latin typeface="quote-cjk-patch"/>
              </a:rPr>
              <a:t>机理建模、数据建模、微分方程、传递函数、大模型</a:t>
            </a:r>
            <a:endParaRPr lang="en-US" altLang="zh-CN" sz="2400" dirty="0"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358354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54A78-B6A5-17A3-F0D4-775B71DF5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93068561-FFED-0C5B-61B4-7F4F9376AD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5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建模与仿真的核心地位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546029-30EB-E429-6DFC-95BF7CFF82E6}"/>
              </a:ext>
            </a:extLst>
          </p:cNvPr>
          <p:cNvSpPr txBox="1"/>
          <p:nvPr/>
        </p:nvSpPr>
        <p:spPr>
          <a:xfrm>
            <a:off x="3563514" y="751840"/>
            <a:ext cx="5193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+mn-ea"/>
              </a:rPr>
              <a:t>机器人控制仿真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685597-7B70-CC0E-7269-D9D1518E9D7A}"/>
              </a:ext>
            </a:extLst>
          </p:cNvPr>
          <p:cNvSpPr txBox="1"/>
          <p:nvPr/>
        </p:nvSpPr>
        <p:spPr>
          <a:xfrm>
            <a:off x="2004538" y="6010777"/>
            <a:ext cx="8539857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 仿真是机器人算法开发和测试的“虚拟试验场”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B09D4-F23B-478A-49C1-FD4349B22C2D}"/>
              </a:ext>
            </a:extLst>
          </p:cNvPr>
          <p:cNvSpPr txBox="1"/>
          <p:nvPr/>
        </p:nvSpPr>
        <p:spPr>
          <a:xfrm>
            <a:off x="2004538" y="1757242"/>
            <a:ext cx="8683954" cy="377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3"/>
                </a:solidFill>
                <a:latin typeface="+mn-ea"/>
              </a:rPr>
              <a:t>1 </a:t>
            </a:r>
            <a:r>
              <a:rPr lang="zh-CN" altLang="en-US" sz="2000" b="1" dirty="0">
                <a:solidFill>
                  <a:schemeClr val="accent3"/>
                </a:solidFill>
                <a:latin typeface="+mn-ea"/>
              </a:rPr>
              <a:t>省钱：减少损耗，把错误留在虚拟世界</a:t>
            </a:r>
            <a:endParaRPr lang="en-US" altLang="zh-CN" sz="2000" b="1" dirty="0">
              <a:solidFill>
                <a:schemeClr val="accent3"/>
              </a:solidFill>
              <a:latin typeface="+mn-ea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r>
              <a:rPr lang="zh-CN" altLang="en-US" sz="2000" dirty="0"/>
              <a:t>   机器人的物理硬件成本高昂，直接在实体测试未经验证的算法风险极高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3"/>
                </a:solidFill>
                <a:latin typeface="+mn-ea"/>
              </a:rPr>
              <a:t>2 </a:t>
            </a:r>
            <a:r>
              <a:rPr lang="zh-CN" altLang="en-US" sz="2000" b="1" dirty="0">
                <a:solidFill>
                  <a:schemeClr val="accent3"/>
                </a:solidFill>
                <a:latin typeface="+mn-ea"/>
              </a:rPr>
              <a:t>安全：极限测试，探索现实难以触及的边缘</a:t>
            </a:r>
            <a:endParaRPr lang="en-US" altLang="zh-CN" sz="2000" b="1" dirty="0">
              <a:solidFill>
                <a:schemeClr val="accent3"/>
              </a:solidFill>
              <a:latin typeface="+mn-ea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r>
              <a:rPr lang="zh-CN" altLang="en-US" dirty="0"/>
              <a:t>   许多关键的故障场景在现实中极难、甚至无法安全地复现。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3"/>
                </a:solidFill>
                <a:latin typeface="+mn-ea"/>
              </a:rPr>
              <a:t>3 </a:t>
            </a:r>
            <a:r>
              <a:rPr lang="zh-CN" altLang="en-US" sz="2000" b="1" dirty="0">
                <a:solidFill>
                  <a:schemeClr val="accent3"/>
                </a:solidFill>
                <a:latin typeface="+mn-ea"/>
              </a:rPr>
              <a:t>高效：海量数据生成，提高研发进度</a:t>
            </a:r>
            <a:endParaRPr lang="en-US" altLang="zh-CN" sz="2000" b="1" dirty="0">
              <a:solidFill>
                <a:schemeClr val="accent3"/>
              </a:solidFill>
              <a:latin typeface="+mn-ea"/>
            </a:endParaRPr>
          </a:p>
          <a:p>
            <a:pPr>
              <a:lnSpc>
                <a:spcPct val="200000"/>
              </a:lnSpc>
              <a:spcBef>
                <a:spcPts val="300"/>
              </a:spcBef>
            </a:pPr>
            <a:r>
              <a:rPr lang="zh-CN" altLang="en-US" dirty="0"/>
              <a:t>   现代机器人高度依赖深度学习，而深度学习模型需要海量、高质量数据训练</a:t>
            </a:r>
            <a:endParaRPr lang="en-US" altLang="zh-CN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2509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9F0AD-99F5-2388-9D2B-97E650C3F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10AE3E8C-FFF3-890C-719D-0BC75FB32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5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建模与仿真的核心地位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4AFBDC-3469-83A0-23AD-3CDB7F9C248A}"/>
              </a:ext>
            </a:extLst>
          </p:cNvPr>
          <p:cNvSpPr txBox="1"/>
          <p:nvPr/>
        </p:nvSpPr>
        <p:spPr>
          <a:xfrm>
            <a:off x="3563514" y="751840"/>
            <a:ext cx="5193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+mn-ea"/>
              </a:rPr>
              <a:t>机器人仿真工具盘点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13C3DA-8E7C-FEC4-2421-25BB20D1258D}"/>
              </a:ext>
            </a:extLst>
          </p:cNvPr>
          <p:cNvSpPr txBox="1"/>
          <p:nvPr/>
        </p:nvSpPr>
        <p:spPr>
          <a:xfrm>
            <a:off x="1963155" y="6185162"/>
            <a:ext cx="8539857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 根据任务阶段和需求选择最合适的平台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BE6CE93-6391-87C7-6B54-74E403B49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051485"/>
              </p:ext>
            </p:extLst>
          </p:nvPr>
        </p:nvGraphicFramePr>
        <p:xfrm>
          <a:off x="603250" y="1409701"/>
          <a:ext cx="10909300" cy="4489451"/>
        </p:xfrm>
        <a:graphic>
          <a:graphicData uri="http://schemas.openxmlformats.org/drawingml/2006/table">
            <a:tbl>
              <a:tblPr/>
              <a:tblGrid>
                <a:gridCol w="2090100">
                  <a:extLst>
                    <a:ext uri="{9D8B030D-6E8A-4147-A177-3AD203B41FA5}">
                      <a16:colId xmlns:a16="http://schemas.microsoft.com/office/drawing/2014/main" val="2095872055"/>
                    </a:ext>
                  </a:extLst>
                </a:gridCol>
                <a:gridCol w="4364995">
                  <a:extLst>
                    <a:ext uri="{9D8B030D-6E8A-4147-A177-3AD203B41FA5}">
                      <a16:colId xmlns:a16="http://schemas.microsoft.com/office/drawing/2014/main" val="3262731271"/>
                    </a:ext>
                  </a:extLst>
                </a:gridCol>
                <a:gridCol w="4454205">
                  <a:extLst>
                    <a:ext uri="{9D8B030D-6E8A-4147-A177-3AD203B41FA5}">
                      <a16:colId xmlns:a16="http://schemas.microsoft.com/office/drawing/2014/main" val="315431588"/>
                    </a:ext>
                  </a:extLst>
                </a:gridCol>
              </a:tblGrid>
              <a:tr h="3719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700" b="1" dirty="0">
                          <a:solidFill>
                            <a:schemeClr val="accent3"/>
                          </a:solidFill>
                          <a:effectLst/>
                        </a:rPr>
                        <a:t>工具</a:t>
                      </a:r>
                      <a:endParaRPr lang="zh-CN" altLang="en-US" sz="17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7212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700" b="1">
                          <a:effectLst/>
                        </a:rPr>
                        <a:t>核心优势</a:t>
                      </a:r>
                      <a:endParaRPr lang="zh-CN" altLang="en-US" sz="1700">
                        <a:effectLst/>
                      </a:endParaRPr>
                    </a:p>
                  </a:txBody>
                  <a:tcPr marL="72677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700" b="1" dirty="0">
                          <a:effectLst/>
                        </a:rPr>
                        <a:t>适用场景</a:t>
                      </a:r>
                      <a:endParaRPr lang="zh-CN" altLang="en-US" sz="1700" dirty="0">
                        <a:effectLst/>
                      </a:endParaRPr>
                    </a:p>
                  </a:txBody>
                  <a:tcPr marL="72677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553255"/>
                  </a:ext>
                </a:extLst>
              </a:tr>
              <a:tr h="535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  <a:effectLst/>
                        </a:rPr>
                        <a:t>MATLAB/Simulink</a:t>
                      </a:r>
                      <a:endParaRPr lang="en-US" sz="17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7212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数学计算能力强；控制工具箱丰富</a:t>
                      </a:r>
                    </a:p>
                  </a:txBody>
                  <a:tcPr marL="72677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算法验证、控制逻辑设计（学术研究初期）</a:t>
                      </a:r>
                    </a:p>
                  </a:txBody>
                  <a:tcPr marL="72677" marR="87212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844689"/>
                  </a:ext>
                </a:extLst>
              </a:tr>
              <a:tr h="535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700" b="1" dirty="0" err="1">
                          <a:solidFill>
                            <a:schemeClr val="accent3"/>
                          </a:solidFill>
                          <a:effectLst/>
                        </a:rPr>
                        <a:t>ROS+</a:t>
                      </a:r>
                      <a:r>
                        <a:rPr lang="en-US" sz="1700" b="1" dirty="0" err="1">
                          <a:solidFill>
                            <a:schemeClr val="accent3"/>
                          </a:solidFill>
                          <a:effectLst/>
                        </a:rPr>
                        <a:t>Gazebo</a:t>
                      </a:r>
                      <a:endParaRPr lang="en-US" sz="17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7212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与</a:t>
                      </a:r>
                      <a:r>
                        <a:rPr lang="en-US" altLang="zh-CN" sz="1700" dirty="0">
                          <a:effectLst/>
                        </a:rPr>
                        <a:t>ROS</a:t>
                      </a:r>
                      <a:r>
                        <a:rPr lang="zh-CN" altLang="en-US" sz="1700" dirty="0">
                          <a:effectLst/>
                        </a:rPr>
                        <a:t>原生集成；开源；传感器仿真丰富</a:t>
                      </a:r>
                    </a:p>
                  </a:txBody>
                  <a:tcPr marL="72677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>
                          <a:effectLst/>
                        </a:rPr>
                        <a:t>SLAM</a:t>
                      </a:r>
                      <a:r>
                        <a:rPr lang="zh-CN" altLang="en-US" sz="1700">
                          <a:effectLst/>
                        </a:rPr>
                        <a:t>测试、多机器人协作、科研教学</a:t>
                      </a:r>
                    </a:p>
                  </a:txBody>
                  <a:tcPr marL="72677" marR="87212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587989"/>
                  </a:ext>
                </a:extLst>
              </a:tr>
              <a:tr h="535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 err="1">
                          <a:solidFill>
                            <a:schemeClr val="accent3"/>
                          </a:solidFill>
                          <a:effectLst/>
                        </a:rPr>
                        <a:t>CoppeliaSim</a:t>
                      </a:r>
                      <a:endParaRPr lang="en-US" sz="17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7212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内置丰富模型库；支持多语言</a:t>
                      </a:r>
                      <a:r>
                        <a:rPr lang="en-US" altLang="zh-CN" sz="1700" dirty="0">
                          <a:effectLst/>
                        </a:rPr>
                        <a:t>API</a:t>
                      </a:r>
                    </a:p>
                  </a:txBody>
                  <a:tcPr marL="72677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复杂机械臂操作、快速原型验证</a:t>
                      </a:r>
                    </a:p>
                  </a:txBody>
                  <a:tcPr marL="72677" marR="87212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964439"/>
                  </a:ext>
                </a:extLst>
              </a:tr>
              <a:tr h="3719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 err="1">
                          <a:solidFill>
                            <a:schemeClr val="accent3"/>
                          </a:solidFill>
                          <a:effectLst/>
                        </a:rPr>
                        <a:t>Webots</a:t>
                      </a:r>
                      <a:endParaRPr lang="en-US" sz="17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7212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物理引擎精度高；跨平台</a:t>
                      </a:r>
                    </a:p>
                  </a:txBody>
                  <a:tcPr marL="72677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移动机器人运动学验证、竞赛准备</a:t>
                      </a:r>
                    </a:p>
                  </a:txBody>
                  <a:tcPr marL="72677" marR="87212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623218"/>
                  </a:ext>
                </a:extLst>
              </a:tr>
              <a:tr h="535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  <a:effectLst/>
                        </a:rPr>
                        <a:t>SolidWorks</a:t>
                      </a:r>
                      <a:endParaRPr lang="en-US" sz="17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7212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机械设计工业标准；可导出</a:t>
                      </a:r>
                      <a:r>
                        <a:rPr lang="en-US" altLang="zh-CN" sz="1700" dirty="0">
                          <a:effectLst/>
                        </a:rPr>
                        <a:t>URDF</a:t>
                      </a:r>
                    </a:p>
                  </a:txBody>
                  <a:tcPr marL="72677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机器人本体结构设计、静力学分析</a:t>
                      </a:r>
                    </a:p>
                  </a:txBody>
                  <a:tcPr marL="72677" marR="87212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17885"/>
                  </a:ext>
                </a:extLst>
              </a:tr>
              <a:tr h="535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  <a:effectLst/>
                        </a:rPr>
                        <a:t>Adams</a:t>
                      </a:r>
                      <a:endParaRPr lang="en-US" sz="17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7212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多体动力学黄金标准；受力分析精准</a:t>
                      </a:r>
                    </a:p>
                  </a:txBody>
                  <a:tcPr marL="72677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高速重载场景分析、机械性能优化</a:t>
                      </a:r>
                    </a:p>
                  </a:txBody>
                  <a:tcPr marL="72677" marR="87212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824953"/>
                  </a:ext>
                </a:extLst>
              </a:tr>
              <a:tr h="535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  <a:effectLst/>
                        </a:rPr>
                        <a:t>CARLA</a:t>
                      </a:r>
                      <a:endParaRPr lang="en-US" sz="17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7212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专为自动驾驶打造；支持城市道路场景</a:t>
                      </a:r>
                    </a:p>
                  </a:txBody>
                  <a:tcPr marL="72677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自动驾驶算法开发、强化学习训练</a:t>
                      </a:r>
                    </a:p>
                  </a:txBody>
                  <a:tcPr marL="72677" marR="87212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09423"/>
                  </a:ext>
                </a:extLst>
              </a:tr>
              <a:tr h="535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  <a:effectLst/>
                        </a:rPr>
                        <a:t>Unity/Unreal</a:t>
                      </a:r>
                      <a:endParaRPr lang="en-US" sz="17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7212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>
                          <a:effectLst/>
                        </a:rPr>
                        <a:t>照片级渲染；粒子系统强大</a:t>
                      </a:r>
                    </a:p>
                  </a:txBody>
                  <a:tcPr marL="72677" marR="72677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 dirty="0">
                          <a:effectLst/>
                        </a:rPr>
                        <a:t>视觉数据生成、数字孪生、人机交互</a:t>
                      </a:r>
                    </a:p>
                  </a:txBody>
                  <a:tcPr marL="72677" marR="87212" marT="45423" marB="45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323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442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EAC89-5A20-538A-8B52-99A031969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BD900F73-6477-4E90-DA79-0C4096185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5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建模与仿真的核心地位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279421-F8DF-5739-E4D1-72646E8B0004}"/>
              </a:ext>
            </a:extLst>
          </p:cNvPr>
          <p:cNvSpPr txBox="1"/>
          <p:nvPr/>
        </p:nvSpPr>
        <p:spPr>
          <a:xfrm>
            <a:off x="3499382" y="1157155"/>
            <a:ext cx="51932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+mn-ea"/>
              </a:rPr>
              <a:t>课程定位</a:t>
            </a:r>
            <a:r>
              <a:rPr lang="en-US" altLang="zh-CN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+mn-ea"/>
              </a:rPr>
              <a:t>——</a:t>
            </a:r>
            <a:r>
              <a:rPr lang="zh-CN" alt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+mn-ea"/>
              </a:rPr>
              <a:t>从建模到仿真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420693-F7A8-999B-529C-E99BFE1D61E4}"/>
              </a:ext>
            </a:extLst>
          </p:cNvPr>
          <p:cNvSpPr txBox="1"/>
          <p:nvPr/>
        </p:nvSpPr>
        <p:spPr>
          <a:xfrm>
            <a:off x="1171173" y="5834291"/>
            <a:ext cx="10092212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 将带领大家走完“理论建模→仿真验证”的全流程，</a:t>
            </a:r>
            <a:r>
              <a:rPr lang="en-US" altLang="zh-CN" sz="2000" b="1" dirty="0">
                <a:latin typeface="+mj-ea"/>
              </a:rPr>
              <a:t>1</a:t>
            </a:r>
            <a:r>
              <a:rPr lang="zh-CN" altLang="en-US" sz="2000" b="1" dirty="0">
                <a:latin typeface="+mj-ea"/>
              </a:rPr>
              <a:t>门语言</a:t>
            </a:r>
            <a:r>
              <a:rPr lang="en-US" altLang="zh-CN" sz="2000" b="1" dirty="0">
                <a:latin typeface="+mj-ea"/>
              </a:rPr>
              <a:t>+ 1</a:t>
            </a:r>
            <a:r>
              <a:rPr lang="zh-CN" altLang="en-US" sz="2000" b="1" dirty="0">
                <a:latin typeface="+mj-ea"/>
              </a:rPr>
              <a:t>套软件</a:t>
            </a:r>
            <a:r>
              <a:rPr lang="en-US" altLang="zh-CN" sz="2000" b="1" dirty="0">
                <a:latin typeface="+mj-ea"/>
              </a:rPr>
              <a:t>+1</a:t>
            </a:r>
            <a:r>
              <a:rPr lang="zh-CN" altLang="en-US" sz="2000" b="1" dirty="0">
                <a:latin typeface="+mj-ea"/>
              </a:rPr>
              <a:t>种能力</a:t>
            </a:r>
            <a:endParaRPr lang="zh-CN" altLang="en-US" sz="20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F1BE69-25A9-2696-FF38-C6767AEF7D55}"/>
              </a:ext>
            </a:extLst>
          </p:cNvPr>
          <p:cNvSpPr txBox="1"/>
          <p:nvPr/>
        </p:nvSpPr>
        <p:spPr>
          <a:xfrm>
            <a:off x="2902620" y="2059650"/>
            <a:ext cx="6386759" cy="3000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3"/>
                </a:solidFill>
                <a:latin typeface="+mn-ea"/>
              </a:rPr>
              <a:t>1</a:t>
            </a:r>
            <a:r>
              <a:rPr lang="zh-CN" altLang="en-US" sz="2000" b="1" dirty="0">
                <a:solidFill>
                  <a:schemeClr val="accent3"/>
                </a:solidFill>
                <a:latin typeface="+mn-ea"/>
              </a:rPr>
              <a:t> 理论建模：不枯燥</a:t>
            </a:r>
            <a:endParaRPr lang="en-US" altLang="zh-CN" sz="2000" b="1" dirty="0">
              <a:solidFill>
                <a:schemeClr val="accent3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3"/>
                </a:solidFill>
                <a:latin typeface="+mn-ea"/>
              </a:rPr>
              <a:t>	</a:t>
            </a:r>
            <a:r>
              <a:rPr lang="zh-CN" altLang="en-US" sz="2000" dirty="0"/>
              <a:t>用数学语言精确描述机器人的位姿与运动</a:t>
            </a:r>
            <a:endParaRPr lang="en-US" altLang="zh-CN" sz="2000" b="1" dirty="0">
              <a:solidFill>
                <a:schemeClr val="accent3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3"/>
                </a:solidFill>
                <a:latin typeface="+mn-ea"/>
              </a:rPr>
              <a:t>2 </a:t>
            </a:r>
            <a:r>
              <a:rPr lang="zh-CN" altLang="en-US" sz="2000" b="1" dirty="0">
                <a:solidFill>
                  <a:schemeClr val="accent3"/>
                </a:solidFill>
                <a:latin typeface="+mn-ea"/>
              </a:rPr>
              <a:t>工具学习：不孤立</a:t>
            </a:r>
            <a:endParaRPr lang="en-US" altLang="zh-CN" sz="2000" b="1" dirty="0">
              <a:solidFill>
                <a:schemeClr val="accent3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sz="2000" dirty="0">
                <a:latin typeface="+mn-ea"/>
              </a:rPr>
              <a:t>	</a:t>
            </a:r>
            <a:r>
              <a:rPr lang="zh-CN" altLang="en-US" sz="2000" dirty="0">
                <a:latin typeface="+mn-ea"/>
              </a:rPr>
              <a:t>掌握编程语言、仿真软件和完整工具链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3"/>
                </a:solidFill>
                <a:latin typeface="+mn-ea"/>
              </a:rPr>
              <a:t>3 </a:t>
            </a:r>
            <a:r>
              <a:rPr lang="zh-CN" altLang="en-US" sz="2000" b="1" dirty="0">
                <a:solidFill>
                  <a:schemeClr val="accent3"/>
                </a:solidFill>
                <a:latin typeface="+mn-ea"/>
              </a:rPr>
              <a:t>仿真验证：出真知</a:t>
            </a:r>
            <a:endParaRPr lang="en-US" altLang="zh-CN" sz="2000" b="1" dirty="0">
              <a:solidFill>
                <a:schemeClr val="accent3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3"/>
                </a:solidFill>
                <a:latin typeface="+mn-ea"/>
              </a:rPr>
              <a:t>	</a:t>
            </a:r>
            <a:r>
              <a:rPr lang="zh-CN" altLang="en-US" sz="2000" dirty="0"/>
              <a:t>亲手搭建虚拟机器人，编写程序让它动起来</a:t>
            </a:r>
            <a:endParaRPr lang="en-US" altLang="zh-CN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32063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9034-47B3-3D27-68F2-10840041F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41BBABA7-E6A0-6749-0EF5-5E91249AC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463" y="79513"/>
            <a:ext cx="4712474" cy="63681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+mn-ea"/>
              </a:rPr>
              <a:t>6 </a:t>
            </a:r>
            <a:r>
              <a:rPr lang="zh-CN" altLang="en-US" dirty="0">
                <a:solidFill>
                  <a:srgbClr val="FFFF00"/>
                </a:solidFill>
                <a:latin typeface="+mn-ea"/>
              </a:rPr>
              <a:t>总结与思考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9FB711-7E57-5EDC-82DD-C15E100B264A}"/>
              </a:ext>
            </a:extLst>
          </p:cNvPr>
          <p:cNvSpPr txBox="1"/>
          <p:nvPr/>
        </p:nvSpPr>
        <p:spPr>
          <a:xfrm>
            <a:off x="1854870" y="1589750"/>
            <a:ext cx="8667080" cy="3923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3"/>
                </a:solidFill>
                <a:latin typeface="+mn-ea"/>
              </a:rPr>
              <a:t>1</a:t>
            </a:r>
            <a:r>
              <a:rPr lang="zh-CN" altLang="en-US" sz="2000" b="1" dirty="0">
                <a:solidFill>
                  <a:schemeClr val="accent3"/>
                </a:solidFill>
                <a:latin typeface="+mn-ea"/>
              </a:rPr>
              <a:t> 知识地图：</a:t>
            </a:r>
            <a:endParaRPr lang="en-US" altLang="zh-CN" sz="2000" b="1" dirty="0">
              <a:solidFill>
                <a:schemeClr val="accent3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sz="2000" b="1" dirty="0">
                <a:latin typeface="+mn-ea"/>
              </a:rPr>
              <a:t>        </a:t>
            </a:r>
            <a:r>
              <a:rPr lang="zh-CN" altLang="en-US" sz="2000" b="1" dirty="0">
                <a:latin typeface="+mn-ea"/>
              </a:rPr>
              <a:t>围绕机器人概念，定义（是什么）、构成（有什么）、分类（用在哪）、仿真（为什么学）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3"/>
                </a:solidFill>
                <a:latin typeface="+mn-ea"/>
              </a:rPr>
              <a:t>	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3"/>
                </a:solidFill>
                <a:latin typeface="+mn-ea"/>
              </a:rPr>
              <a:t>2 </a:t>
            </a:r>
            <a:r>
              <a:rPr lang="zh-CN" altLang="en-US" sz="2000" b="1" dirty="0">
                <a:solidFill>
                  <a:schemeClr val="accent3"/>
                </a:solidFill>
                <a:latin typeface="+mn-ea"/>
              </a:rPr>
              <a:t>思考题</a:t>
            </a:r>
            <a:endParaRPr lang="en-US" altLang="zh-CN" sz="2000" b="1" dirty="0">
              <a:solidFill>
                <a:schemeClr val="accent3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dirty="0"/>
              <a:t>        </a:t>
            </a:r>
            <a:r>
              <a:rPr lang="zh-CN" altLang="en-US" sz="2000" b="1" dirty="0">
                <a:latin typeface="+mn-ea"/>
              </a:rPr>
              <a:t>开发一款“羽毛球陪练机器人”，它应该具备哪些硬件？它的感知</a:t>
            </a:r>
            <a:r>
              <a:rPr lang="en-US" altLang="zh-CN" sz="2000" b="1" dirty="0">
                <a:latin typeface="+mn-ea"/>
              </a:rPr>
              <a:t>-</a:t>
            </a:r>
            <a:r>
              <a:rPr lang="zh-CN" altLang="en-US" sz="2000" b="1" dirty="0">
                <a:latin typeface="+mn-ea"/>
              </a:rPr>
              <a:t>规划</a:t>
            </a:r>
            <a:r>
              <a:rPr lang="en-US" altLang="zh-CN" sz="2000" b="1" dirty="0">
                <a:latin typeface="+mn-ea"/>
              </a:rPr>
              <a:t>-</a:t>
            </a:r>
            <a:r>
              <a:rPr lang="zh-CN" altLang="en-US" sz="2000" b="1" dirty="0">
                <a:latin typeface="+mn-ea"/>
              </a:rPr>
              <a:t>行动闭环如何运作？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endParaRPr lang="en-US" altLang="zh-CN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92958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2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A5478"/>
      </a:accent1>
      <a:accent2>
        <a:srgbClr val="0F69A2"/>
      </a:accent2>
      <a:accent3>
        <a:srgbClr val="EE892D"/>
      </a:accent3>
      <a:accent4>
        <a:srgbClr val="F1C337"/>
      </a:accent4>
      <a:accent5>
        <a:srgbClr val="590800"/>
      </a:accent5>
      <a:accent6>
        <a:srgbClr val="02325F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3141</TotalTime>
  <Words>3264</Words>
  <Application>Microsoft Office PowerPoint</Application>
  <PresentationFormat>宽屏</PresentationFormat>
  <Paragraphs>269</Paragraphs>
  <Slides>21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KaTeX_Main</vt:lpstr>
      <vt:lpstr>quote-cjk-patch</vt:lpstr>
      <vt:lpstr>等线</vt:lpstr>
      <vt:lpstr>微软雅黑</vt:lpstr>
      <vt:lpstr>Arial</vt:lpstr>
      <vt:lpstr>Cambria Math</vt:lpstr>
      <vt:lpstr>Wingdings</vt:lpstr>
      <vt:lpstr>Designed by iSlide</vt:lpstr>
      <vt:lpstr>机器人建模与控制仿真</vt:lpstr>
      <vt:lpstr>本章目录</vt:lpstr>
      <vt:lpstr>1“机器人”的定义与起源</vt:lpstr>
      <vt:lpstr>1“机器人”的定义与起源</vt:lpstr>
      <vt:lpstr>1“机器人”的定义与起源</vt:lpstr>
      <vt:lpstr>1“机器人”的定义与起源</vt:lpstr>
      <vt:lpstr>2 机器人的组成与结构</vt:lpstr>
      <vt:lpstr>2 机器人的组成与结构</vt:lpstr>
      <vt:lpstr>2 机器人的组成与结构</vt:lpstr>
      <vt:lpstr>2 机器人的组成与结构</vt:lpstr>
      <vt:lpstr>3 机器人的分类与应用</vt:lpstr>
      <vt:lpstr>3 机器人的分类与应用</vt:lpstr>
      <vt:lpstr>3 机器人的分类与应用</vt:lpstr>
      <vt:lpstr>3 机器人的分类与应用</vt:lpstr>
      <vt:lpstr>4 机器人的关键技术链</vt:lpstr>
      <vt:lpstr>4 机器人的关键技术链</vt:lpstr>
      <vt:lpstr>5 建模与仿真的核心地位</vt:lpstr>
      <vt:lpstr>5 建模与仿真的核心地位</vt:lpstr>
      <vt:lpstr>5 建模与仿真的核心地位</vt:lpstr>
      <vt:lpstr>5 建模与仿真的核心地位</vt:lpstr>
      <vt:lpstr>6 总结与思考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机器人建模与控制仿真</dc:title>
  <dc:creator>iSlide</dc:creator>
  <cp:lastModifiedBy>bitwsk@163.com</cp:lastModifiedBy>
  <cp:revision>45</cp:revision>
  <cp:lastPrinted>2024-01-29T00:00:00Z</cp:lastPrinted>
  <dcterms:created xsi:type="dcterms:W3CDTF">2024-01-29T00:00:00Z</dcterms:created>
  <dcterms:modified xsi:type="dcterms:W3CDTF">2026-03-07T00:19:55Z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5ab2b3fa-008a-4e66-9396-7501592bd7d7</vt:lpwstr>
  </property>
</Properties>
</file>